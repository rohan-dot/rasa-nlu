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coupled systems: (1) an extraction pipeline that turns the Foreign Clearance Guide and three ancillary sources into a structured, auditable checklist CSV, and (2) an agentic route planner that consumes that CSV plus live feeds to produce constraint-aware routes. The design principle running through both: the LLM handles language and estimation; code owns facts and constraints.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CSV is the contract between the two systems. Extraction produces it; the planner consumes it. Keeping that boundary explicit lets each side be tested and re-run independently.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distillation argument: pay frontier-model prices only to learn the document structure, then run the local model everywhere with that knowledge. LEARNINGS.md is a plain markdown file, so the transfer step is inspectable by a human before it is trusted.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Anticipated objection: "you lose recall when the source phrases things indirectly." Answer: yes, deliberately. In clearance work a false positive (inventing a permission) is far more costly than a false negative that a human then resolves. NA cells are also where a human reviewer should look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 matters: the LLM is a shared A100 node. Resume correctness is what makes long batch runs affordable, and the hashing is what makes resume trustworthy.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 invocation: CUDA_VISIBLE_DEVICES=1 python country_route_planner.py "&lt;query&gt;" --date YYYY-MM-DD --risk --wx --traffic --verbose. Emphasize step 6: the judge proposes, code decides.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Anticipated question: "why not give the judge every column?" Because the judge is a gate, not a briefing. Extra fields cost tokens on every country judged in every replan pass and raise the chance the model anchors on something irrelevant. Advisory columns belong in the crew output, which is the planned next increment. If a reviewer believes a specific advisory column should gate routes, it is a one-line move into FEASIBILITY_COLS.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Anticipated objection: "why not let the agent reason about feasibility end to end?" Because a lead-time violation is a diplomatic incident, not a UX bug. Rules that can be written as code are written as code; the LLM reduces the reading burden, not the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stepping-stone version was fine for demos and wrong for operations. Moving to Dijkstra over the full country set removed the depth parameter; the remaining knobs (max hop, backtrack allowance, detour factor) only prune the search, they do not cap the path length.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explicit about data coverage prevents false confidence. A planner seeing "no NOTAMs" for a country outside US/DE should read that as "not covered," and the output says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principle: agentic where language is the bottleneck, deterministic where accountability is. That is the design, and every component on the previous slides is an instance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38"/>
        </a:solidFill>
      </p:bgPr>
    </p:bg>
    <p:spTree>
      <p:nvGrpSpPr>
        <p:cNvPr id="1" name=""/>
        <p:cNvGrpSpPr/>
        <p:nvPr/>
      </p:nvGrpSpPr>
      <p:grpSpPr>
        <a:xfrm>
          <a:off x="0" y="0"/>
          <a:ext cx="0" cy="0"/>
          <a:chOff x="0" y="0"/>
          <a:chExt cx="0" cy="0"/>
        </a:xfrm>
      </p:grpSpPr>
      <p:sp>
        <p:nvSpPr>
          <p:cNvPr id="2" name="Shape 0"/>
          <p:cNvSpPr/>
          <p:nvPr/>
        </p:nvSpPr>
        <p:spPr>
          <a:xfrm>
            <a:off x="457200" y="1051560"/>
            <a:ext cx="640080" cy="640080"/>
          </a:xfrm>
          <a:prstGeom prst="ellipse">
            <a:avLst/>
          </a:prstGeom>
          <a:solidFill>
            <a:srgbClr val="E39B2B"/>
          </a:solidFill>
          <a:ln w="12700">
            <a:solidFill>
              <a:srgbClr val="E39B2B"/>
            </a:solidFill>
            <a:prstDash val="solid"/>
          </a:ln>
        </p:spPr>
      </p:sp>
      <p:pic>
        <p:nvPicPr>
          <p:cNvPr id="3" name="Image 0" descr="preencoded.png">    </p:cNvPr>
          <p:cNvPicPr>
            <a:picLocks noChangeAspect="1"/>
          </p:cNvPicPr>
          <p:nvPr/>
        </p:nvPicPr>
        <p:blipFill>
          <a:blip r:embed="rId1"/>
          <a:stretch>
            <a:fillRect/>
          </a:stretch>
        </p:blipFill>
        <p:spPr>
          <a:xfrm>
            <a:off x="610819" y="1205179"/>
            <a:ext cx="332842" cy="332842"/>
          </a:xfrm>
          <a:prstGeom prst="rect">
            <a:avLst/>
          </a:prstGeom>
        </p:spPr>
      </p:pic>
      <p:sp>
        <p:nvSpPr>
          <p:cNvPr id="4" name="Text 1"/>
          <p:cNvSpPr txBox="1"/>
          <p:nvPr/>
        </p:nvSpPr>
        <p:spPr>
          <a:xfrm>
            <a:off x="457200" y="1828800"/>
            <a:ext cx="822960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Agentic Foreign Clearance Planning</a:t>
            </a:r>
            <a:endParaRPr lang="en-US" sz="3800" dirty="0"/>
          </a:p>
        </p:txBody>
      </p:sp>
      <p:sp>
        <p:nvSpPr>
          <p:cNvPr id="5" name="Text 2"/>
          <p:cNvSpPr txBox="1"/>
          <p:nvPr/>
        </p:nvSpPr>
        <p:spPr>
          <a:xfrm>
            <a:off x="457200" y="2651760"/>
            <a:ext cx="8229600" cy="457200"/>
          </a:xfrm>
          <a:prstGeom prst="rect">
            <a:avLst/>
          </a:prstGeom>
          <a:noFill/>
          <a:ln/>
        </p:spPr>
        <p:txBody>
          <a:bodyPr wrap="square" lIns="0" tIns="0" rIns="0" bIns="0" rtlCol="0" anchor="ctr"/>
          <a:lstStyle/>
          <a:p>
            <a:pPr indent="0" marL="0">
              <a:buNone/>
            </a:pPr>
            <a:r>
              <a:rPr lang="en-US" sz="2000" dirty="0">
                <a:solidFill>
                  <a:srgbClr val="E39B2B"/>
                </a:solidFill>
                <a:latin typeface="Calibri" pitchFamily="34" charset="0"/>
                <a:ea typeface="Calibri" pitchFamily="34" charset="-122"/>
                <a:cs typeface="Calibri" pitchFamily="34" charset="-120"/>
              </a:rPr>
              <a:t>FCG Extraction Pipeline  +  Country Route Planner</a:t>
            </a:r>
            <a:endParaRPr lang="en-US" sz="2000" dirty="0"/>
          </a:p>
        </p:txBody>
      </p:sp>
      <p:sp>
        <p:nvSpPr>
          <p:cNvPr id="6" name="Text 3"/>
          <p:cNvSpPr txBox="1"/>
          <p:nvPr/>
        </p:nvSpPr>
        <p:spPr>
          <a:xfrm>
            <a:off x="457200" y="3154680"/>
            <a:ext cx="8229600" cy="365760"/>
          </a:xfrm>
          <a:prstGeom prst="rect">
            <a:avLst/>
          </a:prstGeom>
          <a:noFill/>
          <a:ln/>
        </p:spPr>
        <p:txBody>
          <a:bodyPr wrap="square" lIns="0" tIns="0" rIns="0" bIns="0" rtlCol="0" anchor="ctr"/>
          <a:lstStyle/>
          <a:p>
            <a:pPr indent="0" marL="0">
              <a:buNone/>
            </a:pPr>
            <a:r>
              <a:rPr lang="en-US" sz="1400" i="1" dirty="0">
                <a:solidFill>
                  <a:srgbClr val="C9D3DC"/>
                </a:solidFill>
                <a:latin typeface="Calibri" pitchFamily="34" charset="0"/>
                <a:ea typeface="Calibri" pitchFamily="34" charset="-122"/>
                <a:cs typeface="Calibri" pitchFamily="34" charset="-120"/>
              </a:rPr>
              <a:t>Methodology and design rationale</a:t>
            </a:r>
            <a:endParaRPr lang="en-US" sz="1400" dirty="0"/>
          </a:p>
        </p:txBody>
      </p:sp>
      <p:sp>
        <p:nvSpPr>
          <p:cNvPr id="7" name="Text 4"/>
          <p:cNvSpPr txBox="1"/>
          <p:nvPr/>
        </p:nvSpPr>
        <p:spPr>
          <a:xfrm>
            <a:off x="457200" y="4297680"/>
            <a:ext cx="8229600" cy="274320"/>
          </a:xfrm>
          <a:prstGeom prst="rect">
            <a:avLst/>
          </a:prstGeom>
          <a:noFill/>
          <a:ln/>
        </p:spPr>
        <p:txBody>
          <a:bodyPr wrap="square" lIns="0" tIns="0" rIns="0" bIns="0" rtlCol="0" anchor="ctr"/>
          <a:lstStyle/>
          <a:p>
            <a:pPr indent="0" marL="0">
              <a:buNone/>
            </a:pPr>
            <a:r>
              <a:rPr lang="en-US" sz="1100" dirty="0">
                <a:solidFill>
                  <a:srgbClr val="9AA8B5"/>
                </a:solidFill>
                <a:latin typeface="Calibri" pitchFamily="34" charset="0"/>
                <a:ea typeface="Calibri" pitchFamily="34" charset="-122"/>
                <a:cs typeface="Calibri" pitchFamily="34" charset="-120"/>
              </a:rPr>
              <a:t>CAITT  ·  FY26  ·  August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rgbClr val="1B2A38"/>
                </a:solidFill>
                <a:latin typeface="Cambria" pitchFamily="34" charset="0"/>
                <a:ea typeface="Cambria" pitchFamily="34" charset="-122"/>
                <a:cs typeface="Cambria" pitchFamily="34" charset="-120"/>
              </a:rPr>
              <a:t>The problem, and the two-part answer</a:t>
            </a:r>
            <a:endParaRPr lang="en-US" sz="2600" dirty="0"/>
          </a:p>
        </p:txBody>
      </p:sp>
      <p:sp>
        <p:nvSpPr>
          <p:cNvPr id="3" name="Text 1"/>
          <p:cNvSpPr txBox="1"/>
          <p:nvPr/>
        </p:nvSpPr>
        <p:spPr>
          <a:xfrm>
            <a:off x="457200" y="868680"/>
            <a:ext cx="8229600" cy="320040"/>
          </a:xfrm>
          <a:prstGeom prst="rect">
            <a:avLst/>
          </a:prstGeom>
          <a:noFill/>
          <a:ln/>
        </p:spPr>
        <p:txBody>
          <a:bodyPr wrap="square" lIns="0" tIns="0" rIns="0" bIns="0" rtlCol="0" anchor="ctr"/>
          <a:lstStyle/>
          <a:p>
            <a:pPr indent="0" marL="0">
              <a:buNone/>
            </a:pPr>
            <a:r>
              <a:rPr lang="en-US" sz="1300" i="1" dirty="0">
                <a:solidFill>
                  <a:srgbClr val="6B7A88"/>
                </a:solidFill>
                <a:latin typeface="Calibri" pitchFamily="34" charset="0"/>
                <a:ea typeface="Calibri" pitchFamily="34" charset="-122"/>
                <a:cs typeface="Calibri" pitchFamily="34" charset="-120"/>
              </a:rPr>
              <a:t>Clearance knowledge is prose scattered across sources; planners need routes that respect it.</a:t>
            </a:r>
            <a:endParaRPr lang="en-US" sz="1300" dirty="0"/>
          </a:p>
        </p:txBody>
      </p:sp>
      <p:sp>
        <p:nvSpPr>
          <p:cNvPr id="4" name="Shape 2"/>
          <p:cNvSpPr/>
          <p:nvPr/>
        </p:nvSpPr>
        <p:spPr>
          <a:xfrm>
            <a:off x="457200" y="1371600"/>
            <a:ext cx="411480" cy="411480"/>
          </a:xfrm>
          <a:prstGeom prst="ellipse">
            <a:avLst/>
          </a:prstGeom>
          <a:solidFill>
            <a:srgbClr val="E39B2B"/>
          </a:solidFill>
          <a:ln w="12700">
            <a:solidFill>
              <a:srgbClr val="E39B2B"/>
            </a:solidFill>
            <a:prstDash val="solid"/>
          </a:ln>
        </p:spPr>
      </p:sp>
      <p:pic>
        <p:nvPicPr>
          <p:cNvPr id="5" name="Image 0" descr="preencoded.png">    </p:cNvPr>
          <p:cNvPicPr>
            <a:picLocks noChangeAspect="1"/>
          </p:cNvPicPr>
          <p:nvPr/>
        </p:nvPicPr>
        <p:blipFill>
          <a:blip r:embed="rId1"/>
          <a:stretch>
            <a:fillRect/>
          </a:stretch>
        </p:blipFill>
        <p:spPr>
          <a:xfrm>
            <a:off x="555955" y="1470355"/>
            <a:ext cx="213970" cy="213970"/>
          </a:xfrm>
          <a:prstGeom prst="rect">
            <a:avLst/>
          </a:prstGeom>
        </p:spPr>
      </p:pic>
      <p:sp>
        <p:nvSpPr>
          <p:cNvPr id="6" name="Text 3"/>
          <p:cNvSpPr txBox="1"/>
          <p:nvPr/>
        </p:nvSpPr>
        <p:spPr>
          <a:xfrm>
            <a:off x="1005840" y="1371600"/>
            <a:ext cx="3291840" cy="411480"/>
          </a:xfrm>
          <a:prstGeom prst="rect">
            <a:avLst/>
          </a:prstGeom>
          <a:noFill/>
          <a:ln/>
        </p:spPr>
        <p:txBody>
          <a:bodyPr wrap="square" lIns="0" tIns="0" rIns="0" bIns="0" rtlCol="0" anchor="ctr"/>
          <a:lstStyle/>
          <a:p>
            <a:pPr indent="0" marL="0">
              <a:buNone/>
            </a:pPr>
            <a:r>
              <a:rPr lang="en-US" sz="1500" b="1" dirty="0">
                <a:solidFill>
                  <a:srgbClr val="1B2A38"/>
                </a:solidFill>
                <a:latin typeface="Calibri" pitchFamily="34" charset="0"/>
                <a:ea typeface="Calibri" pitchFamily="34" charset="-122"/>
                <a:cs typeface="Calibri" pitchFamily="34" charset="-120"/>
              </a:rPr>
              <a:t>What planners face today</a:t>
            </a:r>
            <a:endParaRPr lang="en-US" sz="1500" dirty="0"/>
          </a:p>
        </p:txBody>
      </p:sp>
      <p:sp>
        <p:nvSpPr>
          <p:cNvPr id="7" name="Text 4"/>
          <p:cNvSpPr txBox="1"/>
          <p:nvPr/>
        </p:nvSpPr>
        <p:spPr>
          <a:xfrm>
            <a:off x="457200" y="1874520"/>
            <a:ext cx="3931920" cy="274320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FCG entries are per-country prose: overflight permissions, diplomatic lead times, customs, HAZMAT, airfield restrictions.</a:t>
            </a:r>
            <a:endParaRPr lang="en-US" sz="1250" dirty="0"/>
          </a:p>
          <a:p>
            <a:pPr marL="342900" indent="-342900">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Supporting detail lives elsewhere: MEIS airfield JSON (~227 MB), SVC_RMK enroute remarks, NOTAM blocks.</a:t>
            </a:r>
            <a:endParaRPr lang="en-US" sz="1250" dirty="0"/>
          </a:p>
          <a:p>
            <a:pPr marL="342900" indent="-342900">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Route choices interact with lead times: a "shortest" route can be infeasible for the mission date.</a:t>
            </a:r>
            <a:endParaRPr lang="en-US" sz="1250" dirty="0"/>
          </a:p>
          <a:p>
            <a:pPr marL="342900" indent="-342900">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Manual cross-referencing is slow and unauditable at scale.</a:t>
            </a:r>
            <a:endParaRPr lang="en-US" sz="1250" dirty="0"/>
          </a:p>
        </p:txBody>
      </p:sp>
      <p:sp>
        <p:nvSpPr>
          <p:cNvPr id="8" name="Shape 5"/>
          <p:cNvSpPr/>
          <p:nvPr/>
        </p:nvSpPr>
        <p:spPr>
          <a:xfrm>
            <a:off x="5120640" y="1371600"/>
            <a:ext cx="3566160" cy="502920"/>
          </a:xfrm>
          <a:prstGeom prst="roundRect">
            <a:avLst>
              <a:gd name="adj" fmla="val 14545"/>
            </a:avLst>
          </a:prstGeom>
          <a:solidFill>
            <a:srgbClr val="EEF2F5"/>
          </a:solidFill>
          <a:ln w="12700">
            <a:solidFill>
              <a:srgbClr val="EEF2F5"/>
            </a:solidFill>
            <a:prstDash val="solid"/>
          </a:ln>
        </p:spPr>
      </p:sp>
      <p:sp>
        <p:nvSpPr>
          <p:cNvPr id="9" name="Text 6"/>
          <p:cNvSpPr txBox="1"/>
          <p:nvPr/>
        </p:nvSpPr>
        <p:spPr>
          <a:xfrm>
            <a:off x="5257800" y="1371600"/>
            <a:ext cx="3291840" cy="502920"/>
          </a:xfrm>
          <a:prstGeom prst="rect">
            <a:avLst/>
          </a:prstGeom>
          <a:noFill/>
          <a:ln/>
        </p:spPr>
        <p:txBody>
          <a:bodyPr wrap="square" lIns="0" tIns="0" rIns="0" bIns="0" rtlCol="0" anchor="ctr"/>
          <a:lstStyle/>
          <a:p>
            <a:pPr indent="0" marL="0">
              <a:buNone/>
            </a:pPr>
            <a:r>
              <a:rPr lang="en-US" sz="1250" b="1" dirty="0">
                <a:solidFill>
                  <a:srgbClr val="1B2A38"/>
                </a:solidFill>
                <a:latin typeface="Calibri" pitchFamily="34" charset="0"/>
                <a:ea typeface="Calibri" pitchFamily="34" charset="-122"/>
                <a:cs typeface="Calibri" pitchFamily="34" charset="-120"/>
              </a:rPr>
              <a:t>Sources</a:t>
            </a:r>
            <a:endParaRPr lang="en-US" sz="1250" dirty="0"/>
          </a:p>
          <a:p>
            <a:pPr indent="0" marL="0">
              <a:buNone/>
            </a:pPr>
            <a:r>
              <a:rPr lang="en-US" sz="1000" dirty="0">
                <a:solidFill>
                  <a:srgbClr val="6B7A88"/>
                </a:solidFill>
                <a:latin typeface="Calibri" pitchFamily="34" charset="0"/>
                <a:ea typeface="Calibri" pitchFamily="34" charset="-122"/>
                <a:cs typeface="Calibri" pitchFamily="34" charset="-120"/>
              </a:rPr>
              <a:t>FCG JSON · MEIS · SVC_RMK · NOTAMs</a:t>
            </a:r>
            <a:endParaRPr lang="en-US" sz="1250" dirty="0"/>
          </a:p>
        </p:txBody>
      </p:sp>
      <p:sp>
        <p:nvSpPr>
          <p:cNvPr id="10" name="Shape 7"/>
          <p:cNvSpPr/>
          <p:nvPr/>
        </p:nvSpPr>
        <p:spPr>
          <a:xfrm>
            <a:off x="6903720" y="1874520"/>
            <a:ext cx="0" cy="192024"/>
          </a:xfrm>
          <a:prstGeom prst="line">
            <a:avLst/>
          </a:prstGeom>
          <a:noFill/>
          <a:ln w="19050">
            <a:solidFill>
              <a:srgbClr val="4A6B82"/>
            </a:solidFill>
            <a:prstDash val="solid"/>
            <a:tailEnd type="triangle"/>
          </a:ln>
        </p:spPr>
      </p:sp>
      <p:sp>
        <p:nvSpPr>
          <p:cNvPr id="11" name="Shape 8"/>
          <p:cNvSpPr/>
          <p:nvPr/>
        </p:nvSpPr>
        <p:spPr>
          <a:xfrm>
            <a:off x="5120640" y="2066544"/>
            <a:ext cx="3566160" cy="502920"/>
          </a:xfrm>
          <a:prstGeom prst="roundRect">
            <a:avLst>
              <a:gd name="adj" fmla="val 14545"/>
            </a:avLst>
          </a:prstGeom>
          <a:solidFill>
            <a:srgbClr val="1B2A38"/>
          </a:solidFill>
          <a:ln w="12700">
            <a:solidFill>
              <a:srgbClr val="1B2A38"/>
            </a:solidFill>
            <a:prstDash val="solid"/>
          </a:ln>
        </p:spPr>
      </p:sp>
      <p:sp>
        <p:nvSpPr>
          <p:cNvPr id="12" name="Text 9"/>
          <p:cNvSpPr txBox="1"/>
          <p:nvPr/>
        </p:nvSpPr>
        <p:spPr>
          <a:xfrm>
            <a:off x="5257800" y="2066544"/>
            <a:ext cx="3291840" cy="5029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FCG Extraction Pipeline</a:t>
            </a:r>
            <a:endParaRPr lang="en-US" sz="1250" dirty="0"/>
          </a:p>
          <a:p>
            <a:pPr indent="0" marL="0">
              <a:buNone/>
            </a:pPr>
            <a:r>
              <a:rPr lang="en-US" sz="1000" dirty="0">
                <a:solidFill>
                  <a:srgbClr val="C9D3DC"/>
                </a:solidFill>
                <a:latin typeface="Calibri" pitchFamily="34" charset="0"/>
                <a:ea typeface="Calibri" pitchFamily="34" charset="-122"/>
                <a:cs typeface="Calibri" pitchFamily="34" charset="-120"/>
              </a:rPr>
              <a:t>teacher/student, closed-world, provenance-tagged</a:t>
            </a:r>
            <a:endParaRPr lang="en-US" sz="1250" dirty="0"/>
          </a:p>
        </p:txBody>
      </p:sp>
      <p:sp>
        <p:nvSpPr>
          <p:cNvPr id="13" name="Shape 10"/>
          <p:cNvSpPr/>
          <p:nvPr/>
        </p:nvSpPr>
        <p:spPr>
          <a:xfrm>
            <a:off x="6903720" y="2569464"/>
            <a:ext cx="0" cy="192024"/>
          </a:xfrm>
          <a:prstGeom prst="line">
            <a:avLst/>
          </a:prstGeom>
          <a:noFill/>
          <a:ln w="19050">
            <a:solidFill>
              <a:srgbClr val="4A6B82"/>
            </a:solidFill>
            <a:prstDash val="solid"/>
            <a:tailEnd type="triangle"/>
          </a:ln>
        </p:spPr>
      </p:sp>
      <p:sp>
        <p:nvSpPr>
          <p:cNvPr id="14" name="Shape 11"/>
          <p:cNvSpPr/>
          <p:nvPr/>
        </p:nvSpPr>
        <p:spPr>
          <a:xfrm>
            <a:off x="5120640" y="2761488"/>
            <a:ext cx="3566160" cy="502920"/>
          </a:xfrm>
          <a:prstGeom prst="roundRect">
            <a:avLst>
              <a:gd name="adj" fmla="val 14545"/>
            </a:avLst>
          </a:prstGeom>
          <a:solidFill>
            <a:srgbClr val="FBF1DE"/>
          </a:solidFill>
          <a:ln w="12700">
            <a:solidFill>
              <a:srgbClr val="FBF1DE"/>
            </a:solidFill>
            <a:prstDash val="solid"/>
          </a:ln>
        </p:spPr>
      </p:sp>
      <p:sp>
        <p:nvSpPr>
          <p:cNvPr id="15" name="Text 12"/>
          <p:cNvSpPr txBox="1"/>
          <p:nvPr/>
        </p:nvSpPr>
        <p:spPr>
          <a:xfrm>
            <a:off x="5257800" y="2761488"/>
            <a:ext cx="3291840" cy="502920"/>
          </a:xfrm>
          <a:prstGeom prst="rect">
            <a:avLst/>
          </a:prstGeom>
          <a:noFill/>
          <a:ln/>
        </p:spPr>
        <p:txBody>
          <a:bodyPr wrap="square" lIns="0" tIns="0" rIns="0" bIns="0" rtlCol="0" anchor="ctr"/>
          <a:lstStyle/>
          <a:p>
            <a:pPr indent="0" marL="0">
              <a:buNone/>
            </a:pPr>
            <a:r>
              <a:rPr lang="en-US" sz="1250" b="1" dirty="0">
                <a:solidFill>
                  <a:srgbClr val="1B2A38"/>
                </a:solidFill>
                <a:latin typeface="Calibri" pitchFamily="34" charset="0"/>
                <a:ea typeface="Calibri" pitchFamily="34" charset="-122"/>
                <a:cs typeface="Calibri" pitchFamily="34" charset="-120"/>
              </a:rPr>
              <a:t>Checklist CSV</a:t>
            </a:r>
            <a:endParaRPr lang="en-US" sz="1250" dirty="0"/>
          </a:p>
          <a:p>
            <a:pPr indent="0" marL="0">
              <a:buNone/>
            </a:pPr>
            <a:r>
              <a:rPr lang="en-US" sz="1000" dirty="0">
                <a:solidFill>
                  <a:srgbClr val="6B7A88"/>
                </a:solidFill>
                <a:latin typeface="Calibri" pitchFamily="34" charset="0"/>
                <a:ea typeface="Calibri" pitchFamily="34" charset="-122"/>
                <a:cs typeface="Calibri" pitchFamily="34" charset="-120"/>
              </a:rPr>
              <a:t>one row per country × 94 checklist items</a:t>
            </a:r>
            <a:endParaRPr lang="en-US" sz="1250" dirty="0"/>
          </a:p>
        </p:txBody>
      </p:sp>
      <p:sp>
        <p:nvSpPr>
          <p:cNvPr id="16" name="Shape 13"/>
          <p:cNvSpPr/>
          <p:nvPr/>
        </p:nvSpPr>
        <p:spPr>
          <a:xfrm>
            <a:off x="6903720" y="3264408"/>
            <a:ext cx="0" cy="192024"/>
          </a:xfrm>
          <a:prstGeom prst="line">
            <a:avLst/>
          </a:prstGeom>
          <a:noFill/>
          <a:ln w="19050">
            <a:solidFill>
              <a:srgbClr val="4A6B82"/>
            </a:solidFill>
            <a:prstDash val="solid"/>
            <a:tailEnd type="triangle"/>
          </a:ln>
        </p:spPr>
      </p:sp>
      <p:sp>
        <p:nvSpPr>
          <p:cNvPr id="17" name="Shape 14"/>
          <p:cNvSpPr/>
          <p:nvPr/>
        </p:nvSpPr>
        <p:spPr>
          <a:xfrm>
            <a:off x="5120640" y="3456432"/>
            <a:ext cx="3566160" cy="502920"/>
          </a:xfrm>
          <a:prstGeom prst="roundRect">
            <a:avLst>
              <a:gd name="adj" fmla="val 14545"/>
            </a:avLst>
          </a:prstGeom>
          <a:solidFill>
            <a:srgbClr val="1B2A38"/>
          </a:solidFill>
          <a:ln w="12700">
            <a:solidFill>
              <a:srgbClr val="1B2A38"/>
            </a:solidFill>
            <a:prstDash val="solid"/>
          </a:ln>
        </p:spPr>
      </p:sp>
      <p:sp>
        <p:nvSpPr>
          <p:cNvPr id="18" name="Text 15"/>
          <p:cNvSpPr txBox="1"/>
          <p:nvPr/>
        </p:nvSpPr>
        <p:spPr>
          <a:xfrm>
            <a:off x="5257800" y="3456432"/>
            <a:ext cx="3291840" cy="5029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Country Route Planner</a:t>
            </a:r>
            <a:endParaRPr lang="en-US" sz="1250" dirty="0"/>
          </a:p>
          <a:p>
            <a:pPr indent="0" marL="0">
              <a:buNone/>
            </a:pPr>
            <a:r>
              <a:rPr lang="en-US" sz="1000" dirty="0">
                <a:solidFill>
                  <a:srgbClr val="C9D3DC"/>
                </a:solidFill>
                <a:latin typeface="Calibri" pitchFamily="34" charset="0"/>
                <a:ea typeface="Calibri" pitchFamily="34" charset="-122"/>
                <a:cs typeface="Calibri" pitchFamily="34" charset="-120"/>
              </a:rPr>
              <a:t>graph search + live overlays + judge</a:t>
            </a:r>
            <a:endParaRPr lang="en-US" sz="1250" dirty="0"/>
          </a:p>
        </p:txBody>
      </p:sp>
      <p:sp>
        <p:nvSpPr>
          <p:cNvPr id="19" name="Shape 16"/>
          <p:cNvSpPr/>
          <p:nvPr/>
        </p:nvSpPr>
        <p:spPr>
          <a:xfrm>
            <a:off x="6903720" y="3959352"/>
            <a:ext cx="0" cy="192024"/>
          </a:xfrm>
          <a:prstGeom prst="line">
            <a:avLst/>
          </a:prstGeom>
          <a:noFill/>
          <a:ln w="19050">
            <a:solidFill>
              <a:srgbClr val="4A6B82"/>
            </a:solidFill>
            <a:prstDash val="solid"/>
            <a:tailEnd type="triangle"/>
          </a:ln>
        </p:spPr>
      </p:sp>
      <p:sp>
        <p:nvSpPr>
          <p:cNvPr id="20" name="Shape 17"/>
          <p:cNvSpPr/>
          <p:nvPr/>
        </p:nvSpPr>
        <p:spPr>
          <a:xfrm>
            <a:off x="5120640" y="4151376"/>
            <a:ext cx="3566160" cy="502920"/>
          </a:xfrm>
          <a:prstGeom prst="roundRect">
            <a:avLst>
              <a:gd name="adj" fmla="val 14545"/>
            </a:avLst>
          </a:prstGeom>
          <a:solidFill>
            <a:srgbClr val="FBF1DE"/>
          </a:solidFill>
          <a:ln w="12700">
            <a:solidFill>
              <a:srgbClr val="FBF1DE"/>
            </a:solidFill>
            <a:prstDash val="solid"/>
          </a:ln>
        </p:spPr>
      </p:sp>
      <p:sp>
        <p:nvSpPr>
          <p:cNvPr id="21" name="Text 18"/>
          <p:cNvSpPr txBox="1"/>
          <p:nvPr/>
        </p:nvSpPr>
        <p:spPr>
          <a:xfrm>
            <a:off x="5257800" y="4151376"/>
            <a:ext cx="3291840" cy="502920"/>
          </a:xfrm>
          <a:prstGeom prst="rect">
            <a:avLst/>
          </a:prstGeom>
          <a:noFill/>
          <a:ln/>
        </p:spPr>
        <p:txBody>
          <a:bodyPr wrap="square" lIns="0" tIns="0" rIns="0" bIns="0" rtlCol="0" anchor="ctr"/>
          <a:lstStyle/>
          <a:p>
            <a:pPr indent="0" marL="0">
              <a:buNone/>
            </a:pPr>
            <a:r>
              <a:rPr lang="en-US" sz="1250" b="1" dirty="0">
                <a:solidFill>
                  <a:srgbClr val="1B2A38"/>
                </a:solidFill>
                <a:latin typeface="Calibri" pitchFamily="34" charset="0"/>
                <a:ea typeface="Calibri" pitchFamily="34" charset="-122"/>
                <a:cs typeface="Calibri" pitchFamily="34" charset="-120"/>
              </a:rPr>
              <a:t>Route + clearance dossier</a:t>
            </a:r>
            <a:endParaRPr lang="en-US" sz="1250" dirty="0"/>
          </a:p>
          <a:p>
            <a:pPr indent="0" marL="0">
              <a:buNone/>
            </a:pPr>
            <a:r>
              <a:rPr lang="en-US" sz="1000" dirty="0">
                <a:solidFill>
                  <a:srgbClr val="6B7A88"/>
                </a:solidFill>
                <a:latin typeface="Calibri" pitchFamily="34" charset="0"/>
                <a:ea typeface="Calibri" pitchFamily="34" charset="-122"/>
                <a:cs typeface="Calibri" pitchFamily="34" charset="-120"/>
              </a:rPr>
              <a:t>stops, corridor order, lead-time verdicts</a:t>
            </a:r>
            <a:endParaRPr lang="en-US" sz="1250" dirty="0"/>
          </a:p>
        </p:txBody>
      </p:sp>
      <p:sp>
        <p:nvSpPr>
          <p:cNvPr id="22" name="Text 19"/>
          <p:cNvSpPr txBox="1"/>
          <p:nvPr/>
        </p:nvSpPr>
        <p:spPr>
          <a:xfrm>
            <a:off x="457200" y="4800600"/>
            <a:ext cx="8229600" cy="22860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CAITT · FCG Agentic Pipeline ·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rgbClr val="1B2A38"/>
                </a:solidFill>
                <a:latin typeface="Cambria" pitchFamily="34" charset="0"/>
                <a:ea typeface="Cambria" pitchFamily="34" charset="-122"/>
                <a:cs typeface="Cambria" pitchFamily="34" charset="-120"/>
              </a:rPr>
              <a:t>Extraction: a strong teacher, a local student</a:t>
            </a:r>
            <a:endParaRPr lang="en-US" sz="2600" dirty="0"/>
          </a:p>
        </p:txBody>
      </p:sp>
      <p:sp>
        <p:nvSpPr>
          <p:cNvPr id="3" name="Text 1"/>
          <p:cNvSpPr txBox="1"/>
          <p:nvPr/>
        </p:nvSpPr>
        <p:spPr>
          <a:xfrm>
            <a:off x="457200" y="868680"/>
            <a:ext cx="8229600" cy="320040"/>
          </a:xfrm>
          <a:prstGeom prst="rect">
            <a:avLst/>
          </a:prstGeom>
          <a:noFill/>
          <a:ln/>
        </p:spPr>
        <p:txBody>
          <a:bodyPr wrap="square" lIns="0" tIns="0" rIns="0" bIns="0" rtlCol="0" anchor="ctr"/>
          <a:lstStyle/>
          <a:p>
            <a:pPr indent="0" marL="0">
              <a:buNone/>
            </a:pPr>
            <a:r>
              <a:rPr lang="en-US" sz="1300" i="1" dirty="0">
                <a:solidFill>
                  <a:srgbClr val="6B7A88"/>
                </a:solidFill>
                <a:latin typeface="Calibri" pitchFamily="34" charset="0"/>
                <a:ea typeface="Calibri" pitchFamily="34" charset="-122"/>
                <a:cs typeface="Calibri" pitchFamily="34" charset="-120"/>
              </a:rPr>
              <a:t>Stage 1 (opus_learn.py) writes the playbook; Stage 2 (local_extract.py) runs it at scale on the cluster.</a:t>
            </a:r>
            <a:endParaRPr lang="en-US" sz="1300" dirty="0"/>
          </a:p>
        </p:txBody>
      </p:sp>
      <p:sp>
        <p:nvSpPr>
          <p:cNvPr id="4" name="Shape 2"/>
          <p:cNvSpPr/>
          <p:nvPr/>
        </p:nvSpPr>
        <p:spPr>
          <a:xfrm>
            <a:off x="457200" y="1371600"/>
            <a:ext cx="2606040" cy="2331720"/>
          </a:xfrm>
          <a:prstGeom prst="roundRect">
            <a:avLst>
              <a:gd name="adj" fmla="val 3137"/>
            </a:avLst>
          </a:prstGeom>
          <a:solidFill>
            <a:srgbClr val="EEF2F5"/>
          </a:solidFill>
          <a:ln w="12700">
            <a:solidFill>
              <a:srgbClr val="EEF2F5"/>
            </a:solidFill>
            <a:prstDash val="solid"/>
          </a:ln>
        </p:spPr>
      </p:sp>
      <p:sp>
        <p:nvSpPr>
          <p:cNvPr id="5" name="Shape 3"/>
          <p:cNvSpPr/>
          <p:nvPr/>
        </p:nvSpPr>
        <p:spPr>
          <a:xfrm>
            <a:off x="594360" y="1508760"/>
            <a:ext cx="411480" cy="411480"/>
          </a:xfrm>
          <a:prstGeom prst="ellipse">
            <a:avLst/>
          </a:prstGeom>
          <a:solidFill>
            <a:srgbClr val="E39B2B"/>
          </a:solidFill>
          <a:ln w="12700">
            <a:solidFill>
              <a:srgbClr val="E39B2B"/>
            </a:solidFill>
            <a:prstDash val="solid"/>
          </a:ln>
        </p:spPr>
      </p:sp>
      <p:pic>
        <p:nvPicPr>
          <p:cNvPr id="6" name="Image 0" descr="preencoded.png">    </p:cNvPr>
          <p:cNvPicPr>
            <a:picLocks noChangeAspect="1"/>
          </p:cNvPicPr>
          <p:nvPr/>
        </p:nvPicPr>
        <p:blipFill>
          <a:blip r:embed="rId1"/>
          <a:stretch>
            <a:fillRect/>
          </a:stretch>
        </p:blipFill>
        <p:spPr>
          <a:xfrm>
            <a:off x="693115" y="1607515"/>
            <a:ext cx="213970" cy="213970"/>
          </a:xfrm>
          <a:prstGeom prst="rect">
            <a:avLst/>
          </a:prstGeom>
        </p:spPr>
      </p:pic>
      <p:sp>
        <p:nvSpPr>
          <p:cNvPr id="7" name="Text 4"/>
          <p:cNvSpPr txBox="1"/>
          <p:nvPr/>
        </p:nvSpPr>
        <p:spPr>
          <a:xfrm>
            <a:off x="1097280" y="1463040"/>
            <a:ext cx="1874520" cy="548640"/>
          </a:xfrm>
          <a:prstGeom prst="rect">
            <a:avLst/>
          </a:prstGeom>
          <a:noFill/>
          <a:ln/>
        </p:spPr>
        <p:txBody>
          <a:bodyPr wrap="square" lIns="0" tIns="0" rIns="0" bIns="0" rtlCol="0" anchor="ctr"/>
          <a:lstStyle/>
          <a:p>
            <a:pPr indent="0" marL="0">
              <a:buNone/>
            </a:pPr>
            <a:r>
              <a:rPr lang="en-US" sz="1250" b="1" dirty="0">
                <a:solidFill>
                  <a:srgbClr val="1B2A38"/>
                </a:solidFill>
                <a:latin typeface="Calibri" pitchFamily="34" charset="0"/>
                <a:ea typeface="Calibri" pitchFamily="34" charset="-122"/>
                <a:cs typeface="Calibri" pitchFamily="34" charset="-120"/>
              </a:rPr>
              <a:t>Stage 1 · Teacher</a:t>
            </a:r>
            <a:endParaRPr lang="en-US" sz="1250" dirty="0"/>
          </a:p>
          <a:p>
            <a:pPr indent="0" marL="0">
              <a:buNone/>
            </a:pPr>
            <a:r>
              <a:rPr lang="en-US" sz="950" dirty="0">
                <a:solidFill>
                  <a:srgbClr val="6B7A88"/>
                </a:solidFill>
                <a:latin typeface="Calibri" pitchFamily="34" charset="0"/>
                <a:ea typeface="Calibri" pitchFamily="34" charset="-122"/>
                <a:cs typeface="Calibri" pitchFamily="34" charset="-120"/>
              </a:rPr>
              <a:t>Frontier model via LiteLLM gateway</a:t>
            </a:r>
            <a:endParaRPr lang="en-US" sz="1250" dirty="0"/>
          </a:p>
        </p:txBody>
      </p:sp>
      <p:sp>
        <p:nvSpPr>
          <p:cNvPr id="8" name="Text 5"/>
          <p:cNvSpPr txBox="1"/>
          <p:nvPr/>
        </p:nvSpPr>
        <p:spPr>
          <a:xfrm>
            <a:off x="594360" y="2103120"/>
            <a:ext cx="2331720" cy="155448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1F2933"/>
                </a:solidFill>
                <a:latin typeface="Calibri" pitchFamily="34" charset="0"/>
                <a:ea typeface="Calibri" pitchFamily="34" charset="-122"/>
                <a:cs typeface="Calibri" pitchFamily="34" charset="-120"/>
              </a:rPr>
              <a:t>Reads all sources for a handful of countries</a:t>
            </a:r>
            <a:endParaRPr lang="en-US" sz="1050" dirty="0"/>
          </a:p>
          <a:p>
            <a:pPr marL="342900" indent="-342900">
              <a:spcAft>
                <a:spcPts val="600"/>
              </a:spcAft>
              <a:buSzPct val="100000"/>
              <a:buChar char="•"/>
            </a:pPr>
            <a:r>
              <a:rPr lang="en-US" sz="1050" dirty="0">
                <a:solidFill>
                  <a:srgbClr val="1F2933"/>
                </a:solidFill>
                <a:latin typeface="Calibri" pitchFamily="34" charset="0"/>
                <a:ea typeface="Calibri" pitchFamily="34" charset="-122"/>
                <a:cs typeface="Calibri" pitchFamily="34" charset="-120"/>
              </a:rPr>
              <a:t>Answers every extract-type checklist item</a:t>
            </a:r>
            <a:endParaRPr lang="en-US" sz="1050" dirty="0"/>
          </a:p>
          <a:p>
            <a:pPr marL="342900" indent="-342900">
              <a:spcAft>
                <a:spcPts val="600"/>
              </a:spcAft>
              <a:buSzPct val="100000"/>
              <a:buChar char="•"/>
            </a:pPr>
            <a:r>
              <a:rPr lang="en-US" sz="1050" dirty="0">
                <a:solidFill>
                  <a:srgbClr val="1F2933"/>
                </a:solidFill>
                <a:latin typeface="Calibri" pitchFamily="34" charset="0"/>
                <a:ea typeface="Calibri" pitchFamily="34" charset="-122"/>
                <a:cs typeface="Calibri" pitchFamily="34" charset="-120"/>
              </a:rPr>
              <a:t>Reflects once and writes LEARNINGS.md: where each field lives, phrasing to look for, pitfalls</a:t>
            </a:r>
            <a:endParaRPr lang="en-US" sz="1050" dirty="0"/>
          </a:p>
        </p:txBody>
      </p:sp>
      <p:sp>
        <p:nvSpPr>
          <p:cNvPr id="9" name="Shape 6"/>
          <p:cNvSpPr/>
          <p:nvPr/>
        </p:nvSpPr>
        <p:spPr>
          <a:xfrm>
            <a:off x="3063240" y="2514600"/>
            <a:ext cx="182880" cy="0"/>
          </a:xfrm>
          <a:prstGeom prst="line">
            <a:avLst/>
          </a:prstGeom>
          <a:noFill/>
          <a:ln w="19050">
            <a:solidFill>
              <a:srgbClr val="E39B2B"/>
            </a:solidFill>
            <a:prstDash val="solid"/>
            <a:tailEnd type="triangle"/>
          </a:ln>
        </p:spPr>
      </p:sp>
      <p:sp>
        <p:nvSpPr>
          <p:cNvPr id="10" name="Shape 7"/>
          <p:cNvSpPr/>
          <p:nvPr/>
        </p:nvSpPr>
        <p:spPr>
          <a:xfrm>
            <a:off x="3246120" y="1371600"/>
            <a:ext cx="2606040" cy="2331720"/>
          </a:xfrm>
          <a:prstGeom prst="roundRect">
            <a:avLst>
              <a:gd name="adj" fmla="val 3137"/>
            </a:avLst>
          </a:prstGeom>
          <a:solidFill>
            <a:srgbClr val="FBF1DE"/>
          </a:solidFill>
          <a:ln w="12700">
            <a:solidFill>
              <a:srgbClr val="FBF1DE"/>
            </a:solidFill>
            <a:prstDash val="solid"/>
          </a:ln>
        </p:spPr>
      </p:sp>
      <p:sp>
        <p:nvSpPr>
          <p:cNvPr id="11" name="Shape 8"/>
          <p:cNvSpPr/>
          <p:nvPr/>
        </p:nvSpPr>
        <p:spPr>
          <a:xfrm>
            <a:off x="3383280" y="1508760"/>
            <a:ext cx="411480" cy="411480"/>
          </a:xfrm>
          <a:prstGeom prst="ellipse">
            <a:avLst/>
          </a:prstGeom>
          <a:solidFill>
            <a:srgbClr val="E39B2B"/>
          </a:solidFill>
          <a:ln w="12700">
            <a:solidFill>
              <a:srgbClr val="E39B2B"/>
            </a:solidFill>
            <a:prstDash val="solid"/>
          </a:ln>
        </p:spPr>
      </p:sp>
      <p:pic>
        <p:nvPicPr>
          <p:cNvPr id="12" name="Image 1" descr="preencoded.png">    </p:cNvPr>
          <p:cNvPicPr>
            <a:picLocks noChangeAspect="1"/>
          </p:cNvPicPr>
          <p:nvPr/>
        </p:nvPicPr>
        <p:blipFill>
          <a:blip r:embed="rId2"/>
          <a:stretch>
            <a:fillRect/>
          </a:stretch>
        </p:blipFill>
        <p:spPr>
          <a:xfrm>
            <a:off x="3482035" y="1607515"/>
            <a:ext cx="213970" cy="213970"/>
          </a:xfrm>
          <a:prstGeom prst="rect">
            <a:avLst/>
          </a:prstGeom>
        </p:spPr>
      </p:pic>
      <p:sp>
        <p:nvSpPr>
          <p:cNvPr id="13" name="Text 9"/>
          <p:cNvSpPr txBox="1"/>
          <p:nvPr/>
        </p:nvSpPr>
        <p:spPr>
          <a:xfrm>
            <a:off x="3886200" y="1463040"/>
            <a:ext cx="1874520" cy="548640"/>
          </a:xfrm>
          <a:prstGeom prst="rect">
            <a:avLst/>
          </a:prstGeom>
          <a:noFill/>
          <a:ln/>
        </p:spPr>
        <p:txBody>
          <a:bodyPr wrap="square" lIns="0" tIns="0" rIns="0" bIns="0" rtlCol="0" anchor="ctr"/>
          <a:lstStyle/>
          <a:p>
            <a:pPr indent="0" marL="0">
              <a:buNone/>
            </a:pPr>
            <a:r>
              <a:rPr lang="en-US" sz="1250" b="1" dirty="0">
                <a:solidFill>
                  <a:srgbClr val="1B2A38"/>
                </a:solidFill>
                <a:latin typeface="Calibri" pitchFamily="34" charset="0"/>
                <a:ea typeface="Calibri" pitchFamily="34" charset="-122"/>
                <a:cs typeface="Calibri" pitchFamily="34" charset="-120"/>
              </a:rPr>
              <a:t>LEARNINGS.md</a:t>
            </a:r>
            <a:endParaRPr lang="en-US" sz="1250" dirty="0"/>
          </a:p>
          <a:p>
            <a:pPr indent="0" marL="0">
              <a:buNone/>
            </a:pPr>
            <a:r>
              <a:rPr lang="en-US" sz="950" dirty="0">
                <a:solidFill>
                  <a:srgbClr val="6B7A88"/>
                </a:solidFill>
                <a:latin typeface="Calibri" pitchFamily="34" charset="0"/>
                <a:ea typeface="Calibri" pitchFamily="34" charset="-122"/>
                <a:cs typeface="Calibri" pitchFamily="34" charset="-120"/>
              </a:rPr>
              <a:t>The transferable artifact</a:t>
            </a:r>
            <a:endParaRPr lang="en-US" sz="1250" dirty="0"/>
          </a:p>
        </p:txBody>
      </p:sp>
      <p:sp>
        <p:nvSpPr>
          <p:cNvPr id="14" name="Text 10"/>
          <p:cNvSpPr txBox="1"/>
          <p:nvPr/>
        </p:nvSpPr>
        <p:spPr>
          <a:xfrm>
            <a:off x="3383280" y="2103120"/>
            <a:ext cx="2331720" cy="155448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1F2933"/>
                </a:solidFill>
                <a:latin typeface="Calibri" pitchFamily="34" charset="0"/>
                <a:ea typeface="Calibri" pitchFamily="34" charset="-122"/>
                <a:cs typeface="Calibri" pitchFamily="34" charset="-120"/>
              </a:rPr>
              <a:t>Field-by-field location hints</a:t>
            </a:r>
            <a:endParaRPr lang="en-US" sz="1050" dirty="0"/>
          </a:p>
          <a:p>
            <a:pPr marL="342900" indent="-342900">
              <a:spcAft>
                <a:spcPts val="600"/>
              </a:spcAft>
              <a:buSzPct val="100000"/>
              <a:buChar char="•"/>
            </a:pPr>
            <a:r>
              <a:rPr lang="en-US" sz="1050" dirty="0">
                <a:solidFill>
                  <a:srgbClr val="1F2933"/>
                </a:solidFill>
                <a:latin typeface="Calibri" pitchFamily="34" charset="0"/>
                <a:ea typeface="Calibri" pitchFamily="34" charset="-122"/>
                <a:cs typeface="Calibri" pitchFamily="34" charset="-120"/>
              </a:rPr>
              <a:t>General strategies: quote verbatim, NA only when absent, answer compound fields partially</a:t>
            </a:r>
            <a:endParaRPr lang="en-US" sz="1050" dirty="0"/>
          </a:p>
          <a:p>
            <a:pPr marL="342900" indent="-342900">
              <a:spcAft>
                <a:spcPts val="600"/>
              </a:spcAft>
              <a:buSzPct val="100000"/>
              <a:buChar char="•"/>
            </a:pPr>
            <a:r>
              <a:rPr lang="en-US" sz="1050" dirty="0">
                <a:solidFill>
                  <a:srgbClr val="1F2933"/>
                </a:solidFill>
                <a:latin typeface="Calibri" pitchFamily="34" charset="0"/>
                <a:ea typeface="Calibri" pitchFamily="34" charset="-122"/>
                <a:cs typeface="Calibri" pitchFamily="34" charset="-120"/>
              </a:rPr>
              <a:t>Human-readable; reviewable before use</a:t>
            </a:r>
            <a:endParaRPr lang="en-US" sz="1050" dirty="0"/>
          </a:p>
        </p:txBody>
      </p:sp>
      <p:sp>
        <p:nvSpPr>
          <p:cNvPr id="15" name="Shape 11"/>
          <p:cNvSpPr/>
          <p:nvPr/>
        </p:nvSpPr>
        <p:spPr>
          <a:xfrm>
            <a:off x="5852160" y="2514600"/>
            <a:ext cx="182880" cy="0"/>
          </a:xfrm>
          <a:prstGeom prst="line">
            <a:avLst/>
          </a:prstGeom>
          <a:noFill/>
          <a:ln w="19050">
            <a:solidFill>
              <a:srgbClr val="E39B2B"/>
            </a:solidFill>
            <a:prstDash val="solid"/>
            <a:tailEnd type="triangle"/>
          </a:ln>
        </p:spPr>
      </p:sp>
      <p:sp>
        <p:nvSpPr>
          <p:cNvPr id="16" name="Shape 12"/>
          <p:cNvSpPr/>
          <p:nvPr/>
        </p:nvSpPr>
        <p:spPr>
          <a:xfrm>
            <a:off x="6035040" y="1371600"/>
            <a:ext cx="2606040" cy="2331720"/>
          </a:xfrm>
          <a:prstGeom prst="roundRect">
            <a:avLst>
              <a:gd name="adj" fmla="val 3137"/>
            </a:avLst>
          </a:prstGeom>
          <a:solidFill>
            <a:srgbClr val="1B2A38"/>
          </a:solidFill>
          <a:ln w="12700">
            <a:solidFill>
              <a:srgbClr val="1B2A38"/>
            </a:solidFill>
            <a:prstDash val="solid"/>
          </a:ln>
        </p:spPr>
      </p:sp>
      <p:sp>
        <p:nvSpPr>
          <p:cNvPr id="17" name="Shape 13"/>
          <p:cNvSpPr/>
          <p:nvPr/>
        </p:nvSpPr>
        <p:spPr>
          <a:xfrm>
            <a:off x="6172200" y="1508760"/>
            <a:ext cx="411480" cy="411480"/>
          </a:xfrm>
          <a:prstGeom prst="ellipse">
            <a:avLst/>
          </a:prstGeom>
          <a:solidFill>
            <a:srgbClr val="E39B2B"/>
          </a:solidFill>
          <a:ln w="12700">
            <a:solidFill>
              <a:srgbClr val="E39B2B"/>
            </a:solidFill>
            <a:prstDash val="solid"/>
          </a:ln>
        </p:spPr>
      </p:sp>
      <p:pic>
        <p:nvPicPr>
          <p:cNvPr id="18" name="Image 2" descr="preencoded.png">    </p:cNvPr>
          <p:cNvPicPr>
            <a:picLocks noChangeAspect="1"/>
          </p:cNvPicPr>
          <p:nvPr/>
        </p:nvPicPr>
        <p:blipFill>
          <a:blip r:embed="rId3"/>
          <a:stretch>
            <a:fillRect/>
          </a:stretch>
        </p:blipFill>
        <p:spPr>
          <a:xfrm>
            <a:off x="6270955" y="1607515"/>
            <a:ext cx="213970" cy="213970"/>
          </a:xfrm>
          <a:prstGeom prst="rect">
            <a:avLst/>
          </a:prstGeom>
        </p:spPr>
      </p:pic>
      <p:sp>
        <p:nvSpPr>
          <p:cNvPr id="19" name="Text 14"/>
          <p:cNvSpPr txBox="1"/>
          <p:nvPr/>
        </p:nvSpPr>
        <p:spPr>
          <a:xfrm>
            <a:off x="6675120" y="1463040"/>
            <a:ext cx="1874520" cy="54864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Stage 2 · Student</a:t>
            </a:r>
            <a:endParaRPr lang="en-US" sz="1250" dirty="0"/>
          </a:p>
          <a:p>
            <a:pPr indent="0" marL="0">
              <a:buNone/>
            </a:pPr>
            <a:r>
              <a:rPr lang="en-US" sz="950" dirty="0">
                <a:solidFill>
                  <a:srgbClr val="C9D3DC"/>
                </a:solidFill>
                <a:latin typeface="Calibri" pitchFamily="34" charset="0"/>
                <a:ea typeface="Calibri" pitchFamily="34" charset="-122"/>
                <a:cs typeface="Calibri" pitchFamily="34" charset="-120"/>
              </a:rPr>
              <a:t>Gemma 4-31B on local vLLM</a:t>
            </a:r>
            <a:endParaRPr lang="en-US" sz="1250" dirty="0"/>
          </a:p>
        </p:txBody>
      </p:sp>
      <p:sp>
        <p:nvSpPr>
          <p:cNvPr id="20" name="Text 15"/>
          <p:cNvSpPr txBox="1"/>
          <p:nvPr/>
        </p:nvSpPr>
        <p:spPr>
          <a:xfrm>
            <a:off x="6172200" y="2103120"/>
            <a:ext cx="2331720" cy="155448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E6ECF1"/>
                </a:solidFill>
                <a:latin typeface="Calibri" pitchFamily="34" charset="0"/>
                <a:ea typeface="Calibri" pitchFamily="34" charset="-122"/>
                <a:cs typeface="Calibri" pitchFamily="34" charset="-120"/>
              </a:rPr>
              <a:t>Same loaders, same closed-world rule</a:t>
            </a:r>
            <a:endParaRPr lang="en-US" sz="1050" dirty="0"/>
          </a:p>
          <a:p>
            <a:pPr marL="342900" indent="-342900">
              <a:spcAft>
                <a:spcPts val="600"/>
              </a:spcAft>
              <a:buSzPct val="100000"/>
              <a:buChar char="•"/>
            </a:pPr>
            <a:r>
              <a:rPr lang="en-US" sz="1050" dirty="0">
                <a:solidFill>
                  <a:srgbClr val="E6ECF1"/>
                </a:solidFill>
                <a:latin typeface="Calibri" pitchFamily="34" charset="0"/>
                <a:ea typeface="Calibri" pitchFamily="34" charset="-122"/>
                <a:cs typeface="Calibri" pitchFamily="34" charset="-120"/>
              </a:rPr>
              <a:t>Playbook injected as expert hints</a:t>
            </a:r>
            <a:endParaRPr lang="en-US" sz="1050" dirty="0"/>
          </a:p>
          <a:p>
            <a:pPr marL="342900" indent="-342900">
              <a:spcAft>
                <a:spcPts val="600"/>
              </a:spcAft>
              <a:buSzPct val="100000"/>
              <a:buChar char="•"/>
            </a:pPr>
            <a:r>
              <a:rPr lang="en-US" sz="1050" dirty="0">
                <a:solidFill>
                  <a:srgbClr val="E6ECF1"/>
                </a:solidFill>
                <a:latin typeface="Calibri" pitchFamily="34" charset="0"/>
                <a:ea typeface="Calibri" pitchFamily="34" charset="-122"/>
                <a:cs typeface="Calibri" pitchFamily="34" charset="-120"/>
              </a:rPr>
              <a:t>Runs across all countries at cluster cost, not API cost</a:t>
            </a:r>
            <a:endParaRPr lang="en-US" sz="1050" dirty="0"/>
          </a:p>
        </p:txBody>
      </p:sp>
      <p:sp>
        <p:nvSpPr>
          <p:cNvPr id="21" name="Text 16"/>
          <p:cNvSpPr txBox="1"/>
          <p:nvPr/>
        </p:nvSpPr>
        <p:spPr>
          <a:xfrm>
            <a:off x="457200" y="3840480"/>
            <a:ext cx="1920240" cy="502920"/>
          </a:xfrm>
          <a:prstGeom prst="rect">
            <a:avLst/>
          </a:prstGeom>
          <a:noFill/>
          <a:ln/>
        </p:spPr>
        <p:txBody>
          <a:bodyPr wrap="square" lIns="0" tIns="0" rIns="0" bIns="0" rtlCol="0" anchor="b"/>
          <a:lstStyle/>
          <a:p>
            <a:pPr indent="0" marL="0">
              <a:buNone/>
            </a:pPr>
            <a:r>
              <a:rPr lang="en-US" sz="2800" b="1" dirty="0">
                <a:solidFill>
                  <a:srgbClr val="E39B2B"/>
                </a:solidFill>
                <a:latin typeface="Cambria" pitchFamily="34" charset="0"/>
                <a:ea typeface="Cambria" pitchFamily="34" charset="-122"/>
                <a:cs typeface="Cambria" pitchFamily="34" charset="-120"/>
              </a:rPr>
              <a:t>4</a:t>
            </a:r>
            <a:endParaRPr lang="en-US" sz="2800" dirty="0"/>
          </a:p>
        </p:txBody>
      </p:sp>
      <p:sp>
        <p:nvSpPr>
          <p:cNvPr id="22" name="Text 17"/>
          <p:cNvSpPr txBox="1"/>
          <p:nvPr/>
        </p:nvSpPr>
        <p:spPr>
          <a:xfrm>
            <a:off x="457200" y="4343400"/>
            <a:ext cx="1920240" cy="365760"/>
          </a:xfrm>
          <a:prstGeom prst="rect">
            <a:avLst/>
          </a:prstGeom>
          <a:noFill/>
          <a:ln/>
        </p:spPr>
        <p:txBody>
          <a:bodyPr wrap="square" lIns="0" tIns="0" rIns="0" bIns="0" rtlCol="0" anchor="t"/>
          <a:lstStyle/>
          <a:p>
            <a:pPr indent="0" marL="0">
              <a:buNone/>
            </a:pPr>
            <a:r>
              <a:rPr lang="en-US" sz="1000" dirty="0">
                <a:solidFill>
                  <a:srgbClr val="6B7A88"/>
                </a:solidFill>
                <a:latin typeface="Calibri" pitchFamily="34" charset="0"/>
                <a:ea typeface="Calibri" pitchFamily="34" charset="-122"/>
                <a:cs typeface="Calibri" pitchFamily="34" charset="-120"/>
              </a:rPr>
              <a:t>sources: FCG JSON · MEIS · SVC_RMK · NOTAMs</a:t>
            </a:r>
            <a:endParaRPr lang="en-US" sz="1000" dirty="0"/>
          </a:p>
        </p:txBody>
      </p:sp>
      <p:sp>
        <p:nvSpPr>
          <p:cNvPr id="23" name="Text 18"/>
          <p:cNvSpPr txBox="1"/>
          <p:nvPr/>
        </p:nvSpPr>
        <p:spPr>
          <a:xfrm>
            <a:off x="2560320" y="3840480"/>
            <a:ext cx="1920240" cy="502920"/>
          </a:xfrm>
          <a:prstGeom prst="rect">
            <a:avLst/>
          </a:prstGeom>
          <a:noFill/>
          <a:ln/>
        </p:spPr>
        <p:txBody>
          <a:bodyPr wrap="square" lIns="0" tIns="0" rIns="0" bIns="0" rtlCol="0" anchor="b"/>
          <a:lstStyle/>
          <a:p>
            <a:pPr indent="0" marL="0">
              <a:buNone/>
            </a:pPr>
            <a:r>
              <a:rPr lang="en-US" sz="2800" b="1" dirty="0">
                <a:solidFill>
                  <a:srgbClr val="E39B2B"/>
                </a:solidFill>
                <a:latin typeface="Cambria" pitchFamily="34" charset="0"/>
                <a:ea typeface="Cambria" pitchFamily="34" charset="-122"/>
                <a:cs typeface="Cambria" pitchFamily="34" charset="-120"/>
              </a:rPr>
              <a:t>1</a:t>
            </a:r>
            <a:endParaRPr lang="en-US" sz="2800" dirty="0"/>
          </a:p>
        </p:txBody>
      </p:sp>
      <p:sp>
        <p:nvSpPr>
          <p:cNvPr id="24" name="Text 19"/>
          <p:cNvSpPr txBox="1"/>
          <p:nvPr/>
        </p:nvSpPr>
        <p:spPr>
          <a:xfrm>
            <a:off x="2560320" y="4343400"/>
            <a:ext cx="1920240" cy="365760"/>
          </a:xfrm>
          <a:prstGeom prst="rect">
            <a:avLst/>
          </a:prstGeom>
          <a:noFill/>
          <a:ln/>
        </p:spPr>
        <p:txBody>
          <a:bodyPr wrap="square" lIns="0" tIns="0" rIns="0" bIns="0" rtlCol="0" anchor="t"/>
          <a:lstStyle/>
          <a:p>
            <a:pPr indent="0" marL="0">
              <a:buNone/>
            </a:pPr>
            <a:r>
              <a:rPr lang="en-US" sz="1000" dirty="0">
                <a:solidFill>
                  <a:srgbClr val="6B7A88"/>
                </a:solidFill>
                <a:latin typeface="Calibri" pitchFamily="34" charset="0"/>
                <a:ea typeface="Calibri" pitchFamily="34" charset="-122"/>
                <a:cs typeface="Calibri" pitchFamily="34" charset="-120"/>
              </a:rPr>
              <a:t>row per country in the checklist CSV</a:t>
            </a:r>
            <a:endParaRPr lang="en-US" sz="1000" dirty="0"/>
          </a:p>
        </p:txBody>
      </p:sp>
      <p:sp>
        <p:nvSpPr>
          <p:cNvPr id="25" name="Text 20"/>
          <p:cNvSpPr txBox="1"/>
          <p:nvPr/>
        </p:nvSpPr>
        <p:spPr>
          <a:xfrm>
            <a:off x="4663440" y="3840480"/>
            <a:ext cx="1920240" cy="502920"/>
          </a:xfrm>
          <a:prstGeom prst="rect">
            <a:avLst/>
          </a:prstGeom>
          <a:noFill/>
          <a:ln/>
        </p:spPr>
        <p:txBody>
          <a:bodyPr wrap="square" lIns="0" tIns="0" rIns="0" bIns="0" rtlCol="0" anchor="b"/>
          <a:lstStyle/>
          <a:p>
            <a:pPr indent="0" marL="0">
              <a:buNone/>
            </a:pPr>
            <a:r>
              <a:rPr lang="en-US" sz="2800" b="1" dirty="0">
                <a:solidFill>
                  <a:srgbClr val="E39B2B"/>
                </a:solidFill>
                <a:latin typeface="Cambria" pitchFamily="34" charset="0"/>
                <a:ea typeface="Cambria" pitchFamily="34" charset="-122"/>
                <a:cs typeface="Cambria" pitchFamily="34" charset="-120"/>
              </a:rPr>
              <a:t>2</a:t>
            </a:r>
            <a:endParaRPr lang="en-US" sz="2800" dirty="0"/>
          </a:p>
        </p:txBody>
      </p:sp>
      <p:sp>
        <p:nvSpPr>
          <p:cNvPr id="26" name="Text 21"/>
          <p:cNvSpPr txBox="1"/>
          <p:nvPr/>
        </p:nvSpPr>
        <p:spPr>
          <a:xfrm>
            <a:off x="4663440" y="4343400"/>
            <a:ext cx="1920240" cy="365760"/>
          </a:xfrm>
          <a:prstGeom prst="rect">
            <a:avLst/>
          </a:prstGeom>
          <a:noFill/>
          <a:ln/>
        </p:spPr>
        <p:txBody>
          <a:bodyPr wrap="square" lIns="0" tIns="0" rIns="0" bIns="0" rtlCol="0" anchor="t"/>
          <a:lstStyle/>
          <a:p>
            <a:pPr indent="0" marL="0">
              <a:buNone/>
            </a:pPr>
            <a:r>
              <a:rPr lang="en-US" sz="1000" dirty="0">
                <a:solidFill>
                  <a:srgbClr val="6B7A88"/>
                </a:solidFill>
                <a:latin typeface="Calibri" pitchFamily="34" charset="0"/>
                <a:ea typeface="Calibri" pitchFamily="34" charset="-122"/>
                <a:cs typeface="Calibri" pitchFamily="34" charset="-120"/>
              </a:rPr>
              <a:t>columns per field: value + __src provenance</a:t>
            </a:r>
            <a:endParaRPr lang="en-US" sz="1000" dirty="0"/>
          </a:p>
        </p:txBody>
      </p:sp>
      <p:sp>
        <p:nvSpPr>
          <p:cNvPr id="27" name="Text 22"/>
          <p:cNvSpPr txBox="1"/>
          <p:nvPr/>
        </p:nvSpPr>
        <p:spPr>
          <a:xfrm>
            <a:off x="6766560" y="3840480"/>
            <a:ext cx="1920240" cy="502920"/>
          </a:xfrm>
          <a:prstGeom prst="rect">
            <a:avLst/>
          </a:prstGeom>
          <a:noFill/>
          <a:ln/>
        </p:spPr>
        <p:txBody>
          <a:bodyPr wrap="square" lIns="0" tIns="0" rIns="0" bIns="0" rtlCol="0" anchor="b"/>
          <a:lstStyle/>
          <a:p>
            <a:pPr indent="0" marL="0">
              <a:buNone/>
            </a:pPr>
            <a:r>
              <a:rPr lang="en-US" sz="2800" b="1" dirty="0">
                <a:solidFill>
                  <a:srgbClr val="E39B2B"/>
                </a:solidFill>
                <a:latin typeface="Cambria" pitchFamily="34" charset="0"/>
                <a:ea typeface="Cambria" pitchFamily="34" charset="-122"/>
                <a:cs typeface="Cambria" pitchFamily="34" charset="-120"/>
              </a:rPr>
              <a:t>NA</a:t>
            </a:r>
            <a:endParaRPr lang="en-US" sz="2800" dirty="0"/>
          </a:p>
        </p:txBody>
      </p:sp>
      <p:sp>
        <p:nvSpPr>
          <p:cNvPr id="28" name="Text 23"/>
          <p:cNvSpPr txBox="1"/>
          <p:nvPr/>
        </p:nvSpPr>
        <p:spPr>
          <a:xfrm>
            <a:off x="6766560" y="4343400"/>
            <a:ext cx="1920240" cy="365760"/>
          </a:xfrm>
          <a:prstGeom prst="rect">
            <a:avLst/>
          </a:prstGeom>
          <a:noFill/>
          <a:ln/>
        </p:spPr>
        <p:txBody>
          <a:bodyPr wrap="square" lIns="0" tIns="0" rIns="0" bIns="0" rtlCol="0" anchor="t"/>
          <a:lstStyle/>
          <a:p>
            <a:pPr indent="0" marL="0">
              <a:buNone/>
            </a:pPr>
            <a:r>
              <a:rPr lang="en-US" sz="1000" dirty="0">
                <a:solidFill>
                  <a:srgbClr val="6B7A88"/>
                </a:solidFill>
                <a:latin typeface="Calibri" pitchFamily="34" charset="0"/>
                <a:ea typeface="Calibri" pitchFamily="34" charset="-122"/>
                <a:cs typeface="Calibri" pitchFamily="34" charset="-120"/>
              </a:rPr>
              <a:t>explicit signal for absent data</a:t>
            </a:r>
            <a:endParaRPr lang="en-US" sz="1000" dirty="0"/>
          </a:p>
        </p:txBody>
      </p:sp>
      <p:sp>
        <p:nvSpPr>
          <p:cNvPr id="29" name="Text 24"/>
          <p:cNvSpPr txBox="1"/>
          <p:nvPr/>
        </p:nvSpPr>
        <p:spPr>
          <a:xfrm>
            <a:off x="457200" y="4800600"/>
            <a:ext cx="8229600" cy="22860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CAITT · FCG Agentic Pipeline ·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rgbClr val="1B2A38"/>
                </a:solidFill>
                <a:latin typeface="Cambria" pitchFamily="34" charset="0"/>
                <a:ea typeface="Cambria" pitchFamily="34" charset="-122"/>
                <a:cs typeface="Cambria" pitchFamily="34" charset="-120"/>
              </a:rPr>
              <a:t>Design defense 1: closed-world extraction</a:t>
            </a:r>
            <a:endParaRPr lang="en-US" sz="2600" dirty="0"/>
          </a:p>
        </p:txBody>
      </p:sp>
      <p:sp>
        <p:nvSpPr>
          <p:cNvPr id="3" name="Text 1"/>
          <p:cNvSpPr txBox="1"/>
          <p:nvPr/>
        </p:nvSpPr>
        <p:spPr>
          <a:xfrm>
            <a:off x="457200" y="868680"/>
            <a:ext cx="8229600" cy="320040"/>
          </a:xfrm>
          <a:prstGeom prst="rect">
            <a:avLst/>
          </a:prstGeom>
          <a:noFill/>
          <a:ln/>
        </p:spPr>
        <p:txBody>
          <a:bodyPr wrap="square" lIns="0" tIns="0" rIns="0" bIns="0" rtlCol="0" anchor="ctr"/>
          <a:lstStyle/>
          <a:p>
            <a:pPr indent="0" marL="0">
              <a:buNone/>
            </a:pPr>
            <a:r>
              <a:rPr lang="en-US" sz="1300" i="1" dirty="0">
                <a:solidFill>
                  <a:srgbClr val="6B7A88"/>
                </a:solidFill>
                <a:latin typeface="Calibri" pitchFamily="34" charset="0"/>
                <a:ea typeface="Calibri" pitchFamily="34" charset="-122"/>
                <a:cs typeface="Calibri" pitchFamily="34" charset="-120"/>
              </a:rPr>
              <a:t>The model may only quote the source text verbatim, or return "NA". It never paraphrases or infers.</a:t>
            </a:r>
            <a:endParaRPr lang="en-US" sz="1300" dirty="0"/>
          </a:p>
        </p:txBody>
      </p:sp>
      <p:sp>
        <p:nvSpPr>
          <p:cNvPr id="4" name="Shape 2"/>
          <p:cNvSpPr/>
          <p:nvPr/>
        </p:nvSpPr>
        <p:spPr>
          <a:xfrm>
            <a:off x="457200" y="1371600"/>
            <a:ext cx="3931920" cy="1920240"/>
          </a:xfrm>
          <a:prstGeom prst="roundRect">
            <a:avLst>
              <a:gd name="adj" fmla="val 3810"/>
            </a:avLst>
          </a:prstGeom>
          <a:solidFill>
            <a:srgbClr val="F4F5F6"/>
          </a:solidFill>
          <a:ln w="12700">
            <a:solidFill>
              <a:srgbClr val="F4F5F6"/>
            </a:solidFill>
            <a:prstDash val="solid"/>
          </a:ln>
        </p:spPr>
      </p:sp>
      <p:sp>
        <p:nvSpPr>
          <p:cNvPr id="5" name="Text 3"/>
          <p:cNvSpPr txBox="1"/>
          <p:nvPr/>
        </p:nvSpPr>
        <p:spPr>
          <a:xfrm>
            <a:off x="640080" y="1463040"/>
            <a:ext cx="3566160" cy="365760"/>
          </a:xfrm>
          <a:prstGeom prst="rect">
            <a:avLst/>
          </a:prstGeom>
          <a:noFill/>
          <a:ln/>
        </p:spPr>
        <p:txBody>
          <a:bodyPr wrap="square" lIns="0" tIns="0" rIns="0" bIns="0" rtlCol="0" anchor="ctr"/>
          <a:lstStyle/>
          <a:p>
            <a:pPr indent="0" marL="0">
              <a:buNone/>
            </a:pPr>
            <a:r>
              <a:rPr lang="en-US" sz="1400" b="1" dirty="0">
                <a:solidFill>
                  <a:srgbClr val="B5473C"/>
                </a:solidFill>
                <a:latin typeface="Calibri" pitchFamily="34" charset="0"/>
                <a:ea typeface="Calibri" pitchFamily="34" charset="-122"/>
                <a:cs typeface="Calibri" pitchFamily="34" charset="-120"/>
              </a:rPr>
              <a:t>Rejected: free-form summarization</a:t>
            </a:r>
            <a:endParaRPr lang="en-US" sz="1400" dirty="0"/>
          </a:p>
        </p:txBody>
      </p:sp>
      <p:sp>
        <p:nvSpPr>
          <p:cNvPr id="6" name="Text 4"/>
          <p:cNvSpPr txBox="1"/>
          <p:nvPr/>
        </p:nvSpPr>
        <p:spPr>
          <a:xfrm>
            <a:off x="640080" y="1874520"/>
            <a:ext cx="3566160" cy="13716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Plausible-sounding hallucinations are indistinguishable from real requirements.</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No way to trace a cell back to its source.</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Empty output is ambiguous: missing data, or model gave up?</a:t>
            </a:r>
            <a:endParaRPr lang="en-US" sz="1200" dirty="0"/>
          </a:p>
        </p:txBody>
      </p:sp>
      <p:sp>
        <p:nvSpPr>
          <p:cNvPr id="7" name="Shape 5"/>
          <p:cNvSpPr/>
          <p:nvPr/>
        </p:nvSpPr>
        <p:spPr>
          <a:xfrm>
            <a:off x="4754880" y="1371600"/>
            <a:ext cx="3931920" cy="1920240"/>
          </a:xfrm>
          <a:prstGeom prst="roundRect">
            <a:avLst>
              <a:gd name="adj" fmla="val 3810"/>
            </a:avLst>
          </a:prstGeom>
          <a:solidFill>
            <a:srgbClr val="FBF1DE"/>
          </a:solidFill>
          <a:ln w="12700">
            <a:solidFill>
              <a:srgbClr val="FBF1DE"/>
            </a:solidFill>
            <a:prstDash val="solid"/>
          </a:ln>
        </p:spPr>
      </p:sp>
      <p:sp>
        <p:nvSpPr>
          <p:cNvPr id="8" name="Text 6"/>
          <p:cNvSpPr txBox="1"/>
          <p:nvPr/>
        </p:nvSpPr>
        <p:spPr>
          <a:xfrm>
            <a:off x="4937760" y="1463040"/>
            <a:ext cx="3566160" cy="365760"/>
          </a:xfrm>
          <a:prstGeom prst="rect">
            <a:avLst/>
          </a:prstGeom>
          <a:noFill/>
          <a:ln/>
        </p:spPr>
        <p:txBody>
          <a:bodyPr wrap="square" lIns="0" tIns="0" rIns="0" bIns="0" rtlCol="0" anchor="ctr"/>
          <a:lstStyle/>
          <a:p>
            <a:pPr indent="0" marL="0">
              <a:buNone/>
            </a:pPr>
            <a:r>
              <a:rPr lang="en-US" sz="1400" b="1" dirty="0">
                <a:solidFill>
                  <a:srgbClr val="1B2A38"/>
                </a:solidFill>
                <a:latin typeface="Calibri" pitchFamily="34" charset="0"/>
                <a:ea typeface="Calibri" pitchFamily="34" charset="-122"/>
                <a:cs typeface="Calibri" pitchFamily="34" charset="-120"/>
              </a:rPr>
              <a:t>Chosen: verbatim quote or "NA"</a:t>
            </a:r>
            <a:endParaRPr lang="en-US" sz="1400" dirty="0"/>
          </a:p>
        </p:txBody>
      </p:sp>
      <p:sp>
        <p:nvSpPr>
          <p:cNvPr id="9" name="Text 7"/>
          <p:cNvSpPr txBox="1"/>
          <p:nvPr/>
        </p:nvSpPr>
        <p:spPr>
          <a:xfrm>
            <a:off x="4937760" y="1874520"/>
            <a:ext cx="3566160" cy="13716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Every non-NA cell is a substring of the dossier and can be checked mechanically.</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"NA" is a deliberate, machine-readable signal, not a gap.</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Downstream code can trust the CSV as fact, not opinion.</a:t>
            </a:r>
            <a:endParaRPr lang="en-US" sz="1200" dirty="0"/>
          </a:p>
        </p:txBody>
      </p:sp>
      <p:sp>
        <p:nvSpPr>
          <p:cNvPr id="10" name="Shape 8"/>
          <p:cNvSpPr/>
          <p:nvPr/>
        </p:nvSpPr>
        <p:spPr>
          <a:xfrm>
            <a:off x="457200" y="3566160"/>
            <a:ext cx="411480" cy="411480"/>
          </a:xfrm>
          <a:prstGeom prst="ellipse">
            <a:avLst/>
          </a:prstGeom>
          <a:solidFill>
            <a:srgbClr val="E39B2B"/>
          </a:solidFill>
          <a:ln w="12700">
            <a:solidFill>
              <a:srgbClr val="E39B2B"/>
            </a:solidFill>
            <a:prstDash val="solid"/>
          </a:ln>
        </p:spPr>
      </p:sp>
      <p:pic>
        <p:nvPicPr>
          <p:cNvPr id="11" name="Image 0" descr="preencoded.png">    </p:cNvPr>
          <p:cNvPicPr>
            <a:picLocks noChangeAspect="1"/>
          </p:cNvPicPr>
          <p:nvPr/>
        </p:nvPicPr>
        <p:blipFill>
          <a:blip r:embed="rId1"/>
          <a:stretch>
            <a:fillRect/>
          </a:stretch>
        </p:blipFill>
        <p:spPr>
          <a:xfrm>
            <a:off x="555955" y="3664915"/>
            <a:ext cx="213970" cy="213970"/>
          </a:xfrm>
          <a:prstGeom prst="rect">
            <a:avLst/>
          </a:prstGeom>
        </p:spPr>
      </p:pic>
      <p:sp>
        <p:nvSpPr>
          <p:cNvPr id="12" name="Text 9"/>
          <p:cNvSpPr txBox="1"/>
          <p:nvPr/>
        </p:nvSpPr>
        <p:spPr>
          <a:xfrm>
            <a:off x="960120" y="3566160"/>
            <a:ext cx="2194560" cy="411480"/>
          </a:xfrm>
          <a:prstGeom prst="rect">
            <a:avLst/>
          </a:prstGeom>
          <a:noFill/>
          <a:ln/>
        </p:spPr>
        <p:txBody>
          <a:bodyPr wrap="square" lIns="0" tIns="0" rIns="0" bIns="0" rtlCol="0" anchor="ctr"/>
          <a:lstStyle/>
          <a:p>
            <a:pPr indent="0" marL="0">
              <a:buNone/>
            </a:pPr>
            <a:r>
              <a:rPr lang="en-US" sz="1250" b="1" dirty="0">
                <a:solidFill>
                  <a:srgbClr val="1B2A38"/>
                </a:solidFill>
                <a:latin typeface="Calibri" pitchFamily="34" charset="0"/>
                <a:ea typeface="Calibri" pitchFamily="34" charset="-122"/>
                <a:cs typeface="Calibri" pitchFamily="34" charset="-120"/>
              </a:rPr>
              <a:t>Hallucination guard</a:t>
            </a:r>
            <a:endParaRPr lang="en-US" sz="1250" dirty="0"/>
          </a:p>
        </p:txBody>
      </p:sp>
      <p:sp>
        <p:nvSpPr>
          <p:cNvPr id="13" name="Text 10"/>
          <p:cNvSpPr txBox="1"/>
          <p:nvPr/>
        </p:nvSpPr>
        <p:spPr>
          <a:xfrm>
            <a:off x="457200" y="4041648"/>
            <a:ext cx="2606040" cy="640080"/>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The output space is constrained to text that already exists.</a:t>
            </a:r>
            <a:endParaRPr lang="en-US" sz="1100" dirty="0"/>
          </a:p>
        </p:txBody>
      </p:sp>
      <p:sp>
        <p:nvSpPr>
          <p:cNvPr id="14" name="Shape 11"/>
          <p:cNvSpPr/>
          <p:nvPr/>
        </p:nvSpPr>
        <p:spPr>
          <a:xfrm>
            <a:off x="3246120" y="3566160"/>
            <a:ext cx="411480" cy="411480"/>
          </a:xfrm>
          <a:prstGeom prst="ellipse">
            <a:avLst/>
          </a:prstGeom>
          <a:solidFill>
            <a:srgbClr val="E39B2B"/>
          </a:solidFill>
          <a:ln w="12700">
            <a:solidFill>
              <a:srgbClr val="E39B2B"/>
            </a:solidFill>
            <a:prstDash val="solid"/>
          </a:ln>
        </p:spPr>
      </p:sp>
      <p:pic>
        <p:nvPicPr>
          <p:cNvPr id="15" name="Image 1" descr="preencoded.png">    </p:cNvPr>
          <p:cNvPicPr>
            <a:picLocks noChangeAspect="1"/>
          </p:cNvPicPr>
          <p:nvPr/>
        </p:nvPicPr>
        <p:blipFill>
          <a:blip r:embed="rId2"/>
          <a:stretch>
            <a:fillRect/>
          </a:stretch>
        </p:blipFill>
        <p:spPr>
          <a:xfrm>
            <a:off x="3344875" y="3664915"/>
            <a:ext cx="213970" cy="213970"/>
          </a:xfrm>
          <a:prstGeom prst="rect">
            <a:avLst/>
          </a:prstGeom>
        </p:spPr>
      </p:pic>
      <p:sp>
        <p:nvSpPr>
          <p:cNvPr id="16" name="Text 12"/>
          <p:cNvSpPr txBox="1"/>
          <p:nvPr/>
        </p:nvSpPr>
        <p:spPr>
          <a:xfrm>
            <a:off x="3749040" y="3566160"/>
            <a:ext cx="2194560" cy="411480"/>
          </a:xfrm>
          <a:prstGeom prst="rect">
            <a:avLst/>
          </a:prstGeom>
          <a:noFill/>
          <a:ln/>
        </p:spPr>
        <p:txBody>
          <a:bodyPr wrap="square" lIns="0" tIns="0" rIns="0" bIns="0" rtlCol="0" anchor="ctr"/>
          <a:lstStyle/>
          <a:p>
            <a:pPr indent="0" marL="0">
              <a:buNone/>
            </a:pPr>
            <a:r>
              <a:rPr lang="en-US" sz="1250" b="1" dirty="0">
                <a:solidFill>
                  <a:srgbClr val="1B2A38"/>
                </a:solidFill>
                <a:latin typeface="Calibri" pitchFamily="34" charset="0"/>
                <a:ea typeface="Calibri" pitchFamily="34" charset="-122"/>
                <a:cs typeface="Calibri" pitchFamily="34" charset="-120"/>
              </a:rPr>
              <a:t>Auditability</a:t>
            </a:r>
            <a:endParaRPr lang="en-US" sz="1250" dirty="0"/>
          </a:p>
        </p:txBody>
      </p:sp>
      <p:sp>
        <p:nvSpPr>
          <p:cNvPr id="17" name="Text 13"/>
          <p:cNvSpPr txBox="1"/>
          <p:nvPr/>
        </p:nvSpPr>
        <p:spPr>
          <a:xfrm>
            <a:off x="3246120" y="4041648"/>
            <a:ext cx="2606040" cy="640080"/>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Every field carries a __src tag (FCG, ANCILLARY, NA); reviewers verify by search, not judgment.</a:t>
            </a:r>
            <a:endParaRPr lang="en-US" sz="1100" dirty="0"/>
          </a:p>
        </p:txBody>
      </p:sp>
      <p:sp>
        <p:nvSpPr>
          <p:cNvPr id="18" name="Shape 14"/>
          <p:cNvSpPr/>
          <p:nvPr/>
        </p:nvSpPr>
        <p:spPr>
          <a:xfrm>
            <a:off x="6035040" y="3566160"/>
            <a:ext cx="411480" cy="411480"/>
          </a:xfrm>
          <a:prstGeom prst="ellipse">
            <a:avLst/>
          </a:prstGeom>
          <a:solidFill>
            <a:srgbClr val="E39B2B"/>
          </a:solidFill>
          <a:ln w="12700">
            <a:solidFill>
              <a:srgbClr val="E39B2B"/>
            </a:solidFill>
            <a:prstDash val="solid"/>
          </a:ln>
        </p:spPr>
      </p:sp>
      <p:pic>
        <p:nvPicPr>
          <p:cNvPr id="19" name="Image 2" descr="preencoded.png">    </p:cNvPr>
          <p:cNvPicPr>
            <a:picLocks noChangeAspect="1"/>
          </p:cNvPicPr>
          <p:nvPr/>
        </p:nvPicPr>
        <p:blipFill>
          <a:blip r:embed="rId3"/>
          <a:stretch>
            <a:fillRect/>
          </a:stretch>
        </p:blipFill>
        <p:spPr>
          <a:xfrm>
            <a:off x="6133795" y="3664915"/>
            <a:ext cx="213970" cy="213970"/>
          </a:xfrm>
          <a:prstGeom prst="rect">
            <a:avLst/>
          </a:prstGeom>
        </p:spPr>
      </p:pic>
      <p:sp>
        <p:nvSpPr>
          <p:cNvPr id="20" name="Text 15"/>
          <p:cNvSpPr txBox="1"/>
          <p:nvPr/>
        </p:nvSpPr>
        <p:spPr>
          <a:xfrm>
            <a:off x="6537960" y="3566160"/>
            <a:ext cx="2194560" cy="411480"/>
          </a:xfrm>
          <a:prstGeom prst="rect">
            <a:avLst/>
          </a:prstGeom>
          <a:noFill/>
          <a:ln/>
        </p:spPr>
        <p:txBody>
          <a:bodyPr wrap="square" lIns="0" tIns="0" rIns="0" bIns="0" rtlCol="0" anchor="ctr"/>
          <a:lstStyle/>
          <a:p>
            <a:pPr indent="0" marL="0">
              <a:buNone/>
            </a:pPr>
            <a:r>
              <a:rPr lang="en-US" sz="1250" b="1" dirty="0">
                <a:solidFill>
                  <a:srgbClr val="1B2A38"/>
                </a:solidFill>
                <a:latin typeface="Calibri" pitchFamily="34" charset="0"/>
                <a:ea typeface="Calibri" pitchFamily="34" charset="-122"/>
                <a:cs typeface="Calibri" pitchFamily="34" charset="-120"/>
              </a:rPr>
              <a:t>Composability</a:t>
            </a:r>
            <a:endParaRPr lang="en-US" sz="1250" dirty="0"/>
          </a:p>
        </p:txBody>
      </p:sp>
      <p:sp>
        <p:nvSpPr>
          <p:cNvPr id="21" name="Text 16"/>
          <p:cNvSpPr txBox="1"/>
          <p:nvPr/>
        </p:nvSpPr>
        <p:spPr>
          <a:xfrm>
            <a:off x="6035040" y="4041648"/>
            <a:ext cx="2606040" cy="640080"/>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The planner can apply hard rules to the CSV because its contents are provenance-backed.</a:t>
            </a:r>
            <a:endParaRPr lang="en-US" sz="1100" dirty="0"/>
          </a:p>
        </p:txBody>
      </p:sp>
      <p:sp>
        <p:nvSpPr>
          <p:cNvPr id="22" name="Text 17"/>
          <p:cNvSpPr txBox="1"/>
          <p:nvPr/>
        </p:nvSpPr>
        <p:spPr>
          <a:xfrm>
            <a:off x="457200" y="4800600"/>
            <a:ext cx="8229600" cy="22860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CAITT · FCG Agentic Pipeline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rgbClr val="1B2A38"/>
                </a:solidFill>
                <a:latin typeface="Cambria" pitchFamily="34" charset="0"/>
                <a:ea typeface="Cambria" pitchFamily="34" charset="-122"/>
                <a:cs typeface="Cambria" pitchFamily="34" charset="-120"/>
              </a:rPr>
              <a:t>Design defense 2: cascade, batching, resume</a:t>
            </a:r>
            <a:endParaRPr lang="en-US" sz="2600" dirty="0"/>
          </a:p>
        </p:txBody>
      </p:sp>
      <p:sp>
        <p:nvSpPr>
          <p:cNvPr id="3" name="Text 1"/>
          <p:cNvSpPr txBox="1"/>
          <p:nvPr/>
        </p:nvSpPr>
        <p:spPr>
          <a:xfrm>
            <a:off x="457200" y="868680"/>
            <a:ext cx="8229600" cy="320040"/>
          </a:xfrm>
          <a:prstGeom prst="rect">
            <a:avLst/>
          </a:prstGeom>
          <a:noFill/>
          <a:ln/>
        </p:spPr>
        <p:txBody>
          <a:bodyPr wrap="square" lIns="0" tIns="0" rIns="0" bIns="0" rtlCol="0" anchor="ctr"/>
          <a:lstStyle/>
          <a:p>
            <a:pPr indent="0" marL="0">
              <a:buNone/>
            </a:pPr>
            <a:r>
              <a:rPr lang="en-US" sz="1300" i="1" dirty="0">
                <a:solidFill>
                  <a:srgbClr val="6B7A88"/>
                </a:solidFill>
                <a:latin typeface="Calibri" pitchFamily="34" charset="0"/>
                <a:ea typeface="Calibri" pitchFamily="34" charset="-122"/>
                <a:cs typeface="Calibri" pitchFamily="34" charset="-120"/>
              </a:rPr>
              <a:t>Three engineering choices that protect extraction quality and compute on a shared cluster.</a:t>
            </a:r>
            <a:endParaRPr lang="en-US" sz="1300" dirty="0"/>
          </a:p>
        </p:txBody>
      </p:sp>
      <p:sp>
        <p:nvSpPr>
          <p:cNvPr id="4" name="Shape 2"/>
          <p:cNvSpPr/>
          <p:nvPr/>
        </p:nvSpPr>
        <p:spPr>
          <a:xfrm>
            <a:off x="457200" y="1371600"/>
            <a:ext cx="2606040" cy="2331720"/>
          </a:xfrm>
          <a:prstGeom prst="roundRect">
            <a:avLst>
              <a:gd name="adj" fmla="val 3137"/>
            </a:avLst>
          </a:prstGeom>
          <a:solidFill>
            <a:srgbClr val="EEF2F5"/>
          </a:solidFill>
          <a:ln w="12700">
            <a:solidFill>
              <a:srgbClr val="EEF2F5"/>
            </a:solidFill>
            <a:prstDash val="solid"/>
          </a:ln>
        </p:spPr>
      </p:sp>
      <p:sp>
        <p:nvSpPr>
          <p:cNvPr id="5" name="Shape 3"/>
          <p:cNvSpPr/>
          <p:nvPr/>
        </p:nvSpPr>
        <p:spPr>
          <a:xfrm>
            <a:off x="594360" y="1508760"/>
            <a:ext cx="411480" cy="411480"/>
          </a:xfrm>
          <a:prstGeom prst="ellipse">
            <a:avLst/>
          </a:prstGeom>
          <a:solidFill>
            <a:srgbClr val="E39B2B"/>
          </a:solidFill>
          <a:ln w="12700">
            <a:solidFill>
              <a:srgbClr val="E39B2B"/>
            </a:solidFill>
            <a:prstDash val="solid"/>
          </a:ln>
        </p:spPr>
      </p:sp>
      <p:pic>
        <p:nvPicPr>
          <p:cNvPr id="6" name="Image 0" descr="preencoded.png">    </p:cNvPr>
          <p:cNvPicPr>
            <a:picLocks noChangeAspect="1"/>
          </p:cNvPicPr>
          <p:nvPr/>
        </p:nvPicPr>
        <p:blipFill>
          <a:blip r:embed="rId1"/>
          <a:stretch>
            <a:fillRect/>
          </a:stretch>
        </p:blipFill>
        <p:spPr>
          <a:xfrm>
            <a:off x="693115" y="1607515"/>
            <a:ext cx="213970" cy="213970"/>
          </a:xfrm>
          <a:prstGeom prst="rect">
            <a:avLst/>
          </a:prstGeom>
        </p:spPr>
      </p:pic>
      <p:sp>
        <p:nvSpPr>
          <p:cNvPr id="7" name="Text 4"/>
          <p:cNvSpPr txBox="1"/>
          <p:nvPr/>
        </p:nvSpPr>
        <p:spPr>
          <a:xfrm>
            <a:off x="1097280" y="1508760"/>
            <a:ext cx="1874520" cy="411480"/>
          </a:xfrm>
          <a:prstGeom prst="rect">
            <a:avLst/>
          </a:prstGeom>
          <a:noFill/>
          <a:ln/>
        </p:spPr>
        <p:txBody>
          <a:bodyPr wrap="square" lIns="0" tIns="0" rIns="0" bIns="0" rtlCol="0" anchor="ctr"/>
          <a:lstStyle/>
          <a:p>
            <a:pPr indent="0" marL="0">
              <a:buNone/>
            </a:pPr>
            <a:r>
              <a:rPr lang="en-US" sz="1250" b="1" dirty="0">
                <a:solidFill>
                  <a:srgbClr val="1B2A38"/>
                </a:solidFill>
                <a:latin typeface="Calibri" pitchFamily="34" charset="0"/>
                <a:ea typeface="Calibri" pitchFamily="34" charset="-122"/>
                <a:cs typeface="Calibri" pitchFamily="34" charset="-120"/>
              </a:rPr>
              <a:t>FCG-first cascade</a:t>
            </a:r>
            <a:endParaRPr lang="en-US" sz="1250" dirty="0"/>
          </a:p>
        </p:txBody>
      </p:sp>
      <p:sp>
        <p:nvSpPr>
          <p:cNvPr id="8" name="Text 5"/>
          <p:cNvSpPr txBox="1"/>
          <p:nvPr/>
        </p:nvSpPr>
        <p:spPr>
          <a:xfrm>
            <a:off x="594360" y="2011680"/>
            <a:ext cx="2331720" cy="640080"/>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Phase 1 scans only the FCG text, chunked under its own budget. Phase 2 opens MEIS + SVC_RMK only for fields still NA.</a:t>
            </a:r>
            <a:endParaRPr lang="en-US" sz="1100" dirty="0"/>
          </a:p>
        </p:txBody>
      </p:sp>
      <p:sp>
        <p:nvSpPr>
          <p:cNvPr id="9" name="Text 6"/>
          <p:cNvSpPr txBox="1"/>
          <p:nvPr/>
        </p:nvSpPr>
        <p:spPr>
          <a:xfrm>
            <a:off x="594360" y="2697480"/>
            <a:ext cx="2331720" cy="914400"/>
          </a:xfrm>
          <a:prstGeom prst="rect">
            <a:avLst/>
          </a:prstGeom>
          <a:noFill/>
          <a:ln/>
        </p:spPr>
        <p:txBody>
          <a:bodyPr wrap="square" lIns="0" tIns="0" rIns="0" bIns="0" rtlCol="0" anchor="ctr"/>
          <a:lstStyle/>
          <a:p>
            <a:pPr indent="0" marL="0">
              <a:buNone/>
            </a:pPr>
            <a:r>
              <a:rPr lang="en-US" sz="1050" b="1" dirty="0">
                <a:solidFill>
                  <a:srgbClr val="E39B2B"/>
                </a:solidFill>
                <a:latin typeface="Calibri" pitchFamily="34" charset="0"/>
                <a:ea typeface="Calibri" pitchFamily="34" charset="-122"/>
                <a:cs typeface="Calibri" pitchFamily="34" charset="-120"/>
              </a:rPr>
              <a:t>Risk it prevents  </a:t>
            </a:r>
            <a:pPr indent="0" marL="0">
              <a:buNone/>
            </a:pPr>
            <a:r>
              <a:rPr lang="en-US" sz="1050" dirty="0">
                <a:solidFill>
                  <a:srgbClr val="1F2933"/>
                </a:solidFill>
                <a:latin typeface="Calibri" pitchFamily="34" charset="0"/>
                <a:ea typeface="Calibri" pitchFamily="34" charset="-122"/>
                <a:cs typeface="Calibri" pitchFamily="34" charset="-120"/>
              </a:rPr>
              <a:t>A 227 MB MEIS section can never crowd the authoritative FCG text out of the context window, and ancillary data never overrides an FCG answer.</a:t>
            </a:r>
            <a:endParaRPr lang="en-US" sz="1050" dirty="0"/>
          </a:p>
        </p:txBody>
      </p:sp>
      <p:sp>
        <p:nvSpPr>
          <p:cNvPr id="10" name="Shape 7"/>
          <p:cNvSpPr/>
          <p:nvPr/>
        </p:nvSpPr>
        <p:spPr>
          <a:xfrm>
            <a:off x="3246120" y="1371600"/>
            <a:ext cx="2606040" cy="2331720"/>
          </a:xfrm>
          <a:prstGeom prst="roundRect">
            <a:avLst>
              <a:gd name="adj" fmla="val 3137"/>
            </a:avLst>
          </a:prstGeom>
          <a:solidFill>
            <a:srgbClr val="EEF2F5"/>
          </a:solidFill>
          <a:ln w="12700">
            <a:solidFill>
              <a:srgbClr val="EEF2F5"/>
            </a:solidFill>
            <a:prstDash val="solid"/>
          </a:ln>
        </p:spPr>
      </p:sp>
      <p:sp>
        <p:nvSpPr>
          <p:cNvPr id="11" name="Shape 8"/>
          <p:cNvSpPr/>
          <p:nvPr/>
        </p:nvSpPr>
        <p:spPr>
          <a:xfrm>
            <a:off x="3383280" y="1508760"/>
            <a:ext cx="411480" cy="411480"/>
          </a:xfrm>
          <a:prstGeom prst="ellipse">
            <a:avLst/>
          </a:prstGeom>
          <a:solidFill>
            <a:srgbClr val="E39B2B"/>
          </a:solidFill>
          <a:ln w="12700">
            <a:solidFill>
              <a:srgbClr val="E39B2B"/>
            </a:solidFill>
            <a:prstDash val="solid"/>
          </a:ln>
        </p:spPr>
      </p:sp>
      <p:pic>
        <p:nvPicPr>
          <p:cNvPr id="12" name="Image 1" descr="preencoded.png">    </p:cNvPr>
          <p:cNvPicPr>
            <a:picLocks noChangeAspect="1"/>
          </p:cNvPicPr>
          <p:nvPr/>
        </p:nvPicPr>
        <p:blipFill>
          <a:blip r:embed="rId2"/>
          <a:stretch>
            <a:fillRect/>
          </a:stretch>
        </p:blipFill>
        <p:spPr>
          <a:xfrm>
            <a:off x="3482035" y="1607515"/>
            <a:ext cx="213970" cy="213970"/>
          </a:xfrm>
          <a:prstGeom prst="rect">
            <a:avLst/>
          </a:prstGeom>
        </p:spPr>
      </p:pic>
      <p:sp>
        <p:nvSpPr>
          <p:cNvPr id="13" name="Text 9"/>
          <p:cNvSpPr txBox="1"/>
          <p:nvPr/>
        </p:nvSpPr>
        <p:spPr>
          <a:xfrm>
            <a:off x="3886200" y="1508760"/>
            <a:ext cx="1874520" cy="411480"/>
          </a:xfrm>
          <a:prstGeom prst="rect">
            <a:avLst/>
          </a:prstGeom>
          <a:noFill/>
          <a:ln/>
        </p:spPr>
        <p:txBody>
          <a:bodyPr wrap="square" lIns="0" tIns="0" rIns="0" bIns="0" rtlCol="0" anchor="ctr"/>
          <a:lstStyle/>
          <a:p>
            <a:pPr indent="0" marL="0">
              <a:buNone/>
            </a:pPr>
            <a:r>
              <a:rPr lang="en-US" sz="1250" b="1" dirty="0">
                <a:solidFill>
                  <a:srgbClr val="1B2A38"/>
                </a:solidFill>
                <a:latin typeface="Calibri" pitchFamily="34" charset="0"/>
                <a:ea typeface="Calibri" pitchFamily="34" charset="-122"/>
                <a:cs typeface="Calibri" pitchFamily="34" charset="-120"/>
              </a:rPr>
              <a:t>Chunked, batched calls</a:t>
            </a:r>
            <a:endParaRPr lang="en-US" sz="1250" dirty="0"/>
          </a:p>
        </p:txBody>
      </p:sp>
      <p:sp>
        <p:nvSpPr>
          <p:cNvPr id="14" name="Text 10"/>
          <p:cNvSpPr txBox="1"/>
          <p:nvPr/>
        </p:nvSpPr>
        <p:spPr>
          <a:xfrm>
            <a:off x="3383280" y="2011680"/>
            <a:ext cx="2331720" cy="640080"/>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Fields grouped per call; long documents split into chunks and merged, so every item is asked against every part of the source.</a:t>
            </a:r>
            <a:endParaRPr lang="en-US" sz="1100" dirty="0"/>
          </a:p>
        </p:txBody>
      </p:sp>
      <p:sp>
        <p:nvSpPr>
          <p:cNvPr id="15" name="Text 11"/>
          <p:cNvSpPr txBox="1"/>
          <p:nvPr/>
        </p:nvSpPr>
        <p:spPr>
          <a:xfrm>
            <a:off x="3383280" y="2697480"/>
            <a:ext cx="2331720" cy="914400"/>
          </a:xfrm>
          <a:prstGeom prst="rect">
            <a:avLst/>
          </a:prstGeom>
          <a:noFill/>
          <a:ln/>
        </p:spPr>
        <p:txBody>
          <a:bodyPr wrap="square" lIns="0" tIns="0" rIns="0" bIns="0" rtlCol="0" anchor="ctr"/>
          <a:lstStyle/>
          <a:p>
            <a:pPr indent="0" marL="0">
              <a:buNone/>
            </a:pPr>
            <a:r>
              <a:rPr lang="en-US" sz="1050" b="1" dirty="0">
                <a:solidFill>
                  <a:srgbClr val="E39B2B"/>
                </a:solidFill>
                <a:latin typeface="Calibri" pitchFamily="34" charset="0"/>
                <a:ea typeface="Calibri" pitchFamily="34" charset="-122"/>
                <a:cs typeface="Calibri" pitchFamily="34" charset="-120"/>
              </a:rPr>
              <a:t>Risk it prevents  </a:t>
            </a:r>
            <a:pPr indent="0" marL="0">
              <a:buNone/>
            </a:pPr>
            <a:r>
              <a:rPr lang="en-US" sz="1050" dirty="0">
                <a:solidFill>
                  <a:srgbClr val="1F2933"/>
                </a:solidFill>
                <a:latin typeface="Calibri" pitchFamily="34" charset="0"/>
                <a:ea typeface="Calibri" pitchFamily="34" charset="-122"/>
                <a:cs typeface="Calibri" pitchFamily="34" charset="-120"/>
              </a:rPr>
              <a:t>One field per call multiplies the dossier tokens by the field count; all fields at once degrades attention and JSON reliability.</a:t>
            </a:r>
            <a:endParaRPr lang="en-US" sz="1050" dirty="0"/>
          </a:p>
        </p:txBody>
      </p:sp>
      <p:sp>
        <p:nvSpPr>
          <p:cNvPr id="16" name="Shape 12"/>
          <p:cNvSpPr/>
          <p:nvPr/>
        </p:nvSpPr>
        <p:spPr>
          <a:xfrm>
            <a:off x="6035040" y="1371600"/>
            <a:ext cx="2606040" cy="2331720"/>
          </a:xfrm>
          <a:prstGeom prst="roundRect">
            <a:avLst>
              <a:gd name="adj" fmla="val 3137"/>
            </a:avLst>
          </a:prstGeom>
          <a:solidFill>
            <a:srgbClr val="EEF2F5"/>
          </a:solidFill>
          <a:ln w="12700">
            <a:solidFill>
              <a:srgbClr val="EEF2F5"/>
            </a:solidFill>
            <a:prstDash val="solid"/>
          </a:ln>
        </p:spPr>
      </p:sp>
      <p:sp>
        <p:nvSpPr>
          <p:cNvPr id="17" name="Shape 13"/>
          <p:cNvSpPr/>
          <p:nvPr/>
        </p:nvSpPr>
        <p:spPr>
          <a:xfrm>
            <a:off x="6172200" y="1508760"/>
            <a:ext cx="411480" cy="411480"/>
          </a:xfrm>
          <a:prstGeom prst="ellipse">
            <a:avLst/>
          </a:prstGeom>
          <a:solidFill>
            <a:srgbClr val="E39B2B"/>
          </a:solidFill>
          <a:ln w="12700">
            <a:solidFill>
              <a:srgbClr val="E39B2B"/>
            </a:solidFill>
            <a:prstDash val="solid"/>
          </a:ln>
        </p:spPr>
      </p:sp>
      <p:pic>
        <p:nvPicPr>
          <p:cNvPr id="18" name="Image 2" descr="preencoded.png">    </p:cNvPr>
          <p:cNvPicPr>
            <a:picLocks noChangeAspect="1"/>
          </p:cNvPicPr>
          <p:nvPr/>
        </p:nvPicPr>
        <p:blipFill>
          <a:blip r:embed="rId3"/>
          <a:stretch>
            <a:fillRect/>
          </a:stretch>
        </p:blipFill>
        <p:spPr>
          <a:xfrm>
            <a:off x="6270955" y="1607515"/>
            <a:ext cx="213970" cy="213970"/>
          </a:xfrm>
          <a:prstGeom prst="rect">
            <a:avLst/>
          </a:prstGeom>
        </p:spPr>
      </p:pic>
      <p:sp>
        <p:nvSpPr>
          <p:cNvPr id="19" name="Text 14"/>
          <p:cNvSpPr txBox="1"/>
          <p:nvPr/>
        </p:nvSpPr>
        <p:spPr>
          <a:xfrm>
            <a:off x="6675120" y="1508760"/>
            <a:ext cx="1874520" cy="411480"/>
          </a:xfrm>
          <a:prstGeom prst="rect">
            <a:avLst/>
          </a:prstGeom>
          <a:noFill/>
          <a:ln/>
        </p:spPr>
        <p:txBody>
          <a:bodyPr wrap="square" lIns="0" tIns="0" rIns="0" bIns="0" rtlCol="0" anchor="ctr"/>
          <a:lstStyle/>
          <a:p>
            <a:pPr indent="0" marL="0">
              <a:buNone/>
            </a:pPr>
            <a:r>
              <a:rPr lang="en-US" sz="1250" b="1" dirty="0">
                <a:solidFill>
                  <a:srgbClr val="1B2A38"/>
                </a:solidFill>
                <a:latin typeface="Calibri" pitchFamily="34" charset="0"/>
                <a:ea typeface="Calibri" pitchFamily="34" charset="-122"/>
                <a:cs typeface="Calibri" pitchFamily="34" charset="-120"/>
              </a:rPr>
              <a:t>Checkpoint + content-hashed resume</a:t>
            </a:r>
            <a:endParaRPr lang="en-US" sz="1250" dirty="0"/>
          </a:p>
        </p:txBody>
      </p:sp>
      <p:sp>
        <p:nvSpPr>
          <p:cNvPr id="20" name="Text 15"/>
          <p:cNvSpPr txBox="1"/>
          <p:nvPr/>
        </p:nvSpPr>
        <p:spPr>
          <a:xfrm>
            <a:off x="6172200" y="2011680"/>
            <a:ext cx="2331720" cy="640080"/>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Finished countries are appended immediately; the checkpoint key includes hashes of the fields and the source content.</a:t>
            </a:r>
            <a:endParaRPr lang="en-US" sz="1100" dirty="0"/>
          </a:p>
        </p:txBody>
      </p:sp>
      <p:sp>
        <p:nvSpPr>
          <p:cNvPr id="21" name="Text 16"/>
          <p:cNvSpPr txBox="1"/>
          <p:nvPr/>
        </p:nvSpPr>
        <p:spPr>
          <a:xfrm>
            <a:off x="6172200" y="2697480"/>
            <a:ext cx="2331720" cy="914400"/>
          </a:xfrm>
          <a:prstGeom prst="rect">
            <a:avLst/>
          </a:prstGeom>
          <a:noFill/>
          <a:ln/>
        </p:spPr>
        <p:txBody>
          <a:bodyPr wrap="square" lIns="0" tIns="0" rIns="0" bIns="0" rtlCol="0" anchor="ctr"/>
          <a:lstStyle/>
          <a:p>
            <a:pPr indent="0" marL="0">
              <a:buNone/>
            </a:pPr>
            <a:r>
              <a:rPr lang="en-US" sz="1050" b="1" dirty="0">
                <a:solidFill>
                  <a:srgbClr val="E39B2B"/>
                </a:solidFill>
                <a:latin typeface="Calibri" pitchFamily="34" charset="0"/>
                <a:ea typeface="Calibri" pitchFamily="34" charset="-122"/>
                <a:cs typeface="Calibri" pitchFamily="34" charset="-120"/>
              </a:rPr>
              <a:t>Risk it prevents  </a:t>
            </a:r>
            <a:pPr indent="0" marL="0">
              <a:buNone/>
            </a:pPr>
            <a:r>
              <a:rPr lang="en-US" sz="1050" dirty="0">
                <a:solidFill>
                  <a:srgbClr val="1F2933"/>
                </a:solidFill>
                <a:latin typeface="Calibri" pitchFamily="34" charset="0"/>
                <a:ea typeface="Calibri" pitchFamily="34" charset="-122"/>
                <a:cs typeface="Calibri" pitchFamily="34" charset="-120"/>
              </a:rPr>
              <a:t>Adding --sources or changing inputs must invalidate stale batches. Keying on country + batch alone silently reused old results.</a:t>
            </a:r>
            <a:endParaRPr lang="en-US" sz="1050" dirty="0"/>
          </a:p>
        </p:txBody>
      </p:sp>
      <p:sp>
        <p:nvSpPr>
          <p:cNvPr id="22" name="Shape 17"/>
          <p:cNvSpPr/>
          <p:nvPr/>
        </p:nvSpPr>
        <p:spPr>
          <a:xfrm>
            <a:off x="457200" y="3886200"/>
            <a:ext cx="8229600" cy="731520"/>
          </a:xfrm>
          <a:prstGeom prst="roundRect">
            <a:avLst>
              <a:gd name="adj" fmla="val 10000"/>
            </a:avLst>
          </a:prstGeom>
          <a:solidFill>
            <a:srgbClr val="1B2A38"/>
          </a:solidFill>
          <a:ln w="12700">
            <a:solidFill>
              <a:srgbClr val="1B2A38"/>
            </a:solidFill>
            <a:prstDash val="solid"/>
          </a:ln>
        </p:spPr>
      </p:sp>
      <p:sp>
        <p:nvSpPr>
          <p:cNvPr id="23" name="Shape 18"/>
          <p:cNvSpPr/>
          <p:nvPr/>
        </p:nvSpPr>
        <p:spPr>
          <a:xfrm>
            <a:off x="640080" y="4023360"/>
            <a:ext cx="457200" cy="457200"/>
          </a:xfrm>
          <a:prstGeom prst="ellipse">
            <a:avLst/>
          </a:prstGeom>
          <a:solidFill>
            <a:srgbClr val="E39B2B"/>
          </a:solidFill>
          <a:ln w="12700">
            <a:solidFill>
              <a:srgbClr val="E39B2B"/>
            </a:solidFill>
            <a:prstDash val="solid"/>
          </a:ln>
        </p:spPr>
      </p:sp>
      <p:pic>
        <p:nvPicPr>
          <p:cNvPr id="24" name="Image 3" descr="preencoded.png">    </p:cNvPr>
          <p:cNvPicPr>
            <a:picLocks noChangeAspect="1"/>
          </p:cNvPicPr>
          <p:nvPr/>
        </p:nvPicPr>
        <p:blipFill>
          <a:blip r:embed="rId4"/>
          <a:stretch>
            <a:fillRect/>
          </a:stretch>
        </p:blipFill>
        <p:spPr>
          <a:xfrm>
            <a:off x="749808" y="4133088"/>
            <a:ext cx="237744" cy="237744"/>
          </a:xfrm>
          <a:prstGeom prst="rect">
            <a:avLst/>
          </a:prstGeom>
        </p:spPr>
      </p:pic>
      <p:sp>
        <p:nvSpPr>
          <p:cNvPr id="25" name="Text 19"/>
          <p:cNvSpPr txBox="1"/>
          <p:nvPr/>
        </p:nvSpPr>
        <p:spPr>
          <a:xfrm>
            <a:off x="1234440" y="3931920"/>
            <a:ext cx="7315200" cy="640080"/>
          </a:xfrm>
          <a:prstGeom prst="rect">
            <a:avLst/>
          </a:prstGeom>
          <a:noFill/>
          <a:ln/>
        </p:spPr>
        <p:txBody>
          <a:bodyPr wrap="square" lIns="0" tIns="0" rIns="0" bIns="0" rtlCol="0" anchor="ctr"/>
          <a:lstStyle/>
          <a:p>
            <a:pPr indent="0" marL="0">
              <a:buNone/>
            </a:pPr>
            <a:r>
              <a:rPr lang="en-US" sz="1100" b="1" dirty="0">
                <a:solidFill>
                  <a:srgbClr val="E39B2B"/>
                </a:solidFill>
                <a:latin typeface="Calibri" pitchFamily="34" charset="0"/>
                <a:ea typeface="Calibri" pitchFamily="34" charset="-122"/>
                <a:cs typeface="Calibri" pitchFamily="34" charset="-120"/>
              </a:rPr>
              <a:t>Lesson learned. </a:t>
            </a:r>
            <a:pPr indent="0" marL="0">
              <a:buNone/>
            </a:pPr>
            <a:r>
              <a:rPr lang="en-US" sz="1100" dirty="0">
                <a:solidFill>
                  <a:srgbClr val="FFFFFF"/>
                </a:solidFill>
                <a:latin typeface="Calibri" pitchFamily="34" charset="0"/>
                <a:ea typeface="Calibri" pitchFamily="34" charset="-122"/>
                <a:cs typeface="Calibri" pitchFamily="34" charset="-120"/>
              </a:rPr>
              <a:t>A silent cache-reuse bug surfaced when --sources was added: batches looked complete but reflected the old dossier. Fixing the key structurally, rather than clearing caches by hand, turned a one-off incident into a guarantee.</a:t>
            </a:r>
            <a:endParaRPr lang="en-US" sz="1100" dirty="0"/>
          </a:p>
        </p:txBody>
      </p:sp>
      <p:sp>
        <p:nvSpPr>
          <p:cNvPr id="26" name="Text 20"/>
          <p:cNvSpPr txBox="1"/>
          <p:nvPr/>
        </p:nvSpPr>
        <p:spPr>
          <a:xfrm>
            <a:off x="457200" y="4800600"/>
            <a:ext cx="8229600" cy="22860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CAITT · FCG Agentic Pipeline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rgbClr val="1B2A38"/>
                </a:solidFill>
                <a:latin typeface="Cambria" pitchFamily="34" charset="0"/>
                <a:ea typeface="Cambria" pitchFamily="34" charset="-122"/>
                <a:cs typeface="Cambria" pitchFamily="34" charset="-120"/>
              </a:rPr>
              <a:t>Route planner: agentic pipeline, deterministic spine</a:t>
            </a:r>
            <a:endParaRPr lang="en-US" sz="2600" dirty="0"/>
          </a:p>
        </p:txBody>
      </p:sp>
      <p:sp>
        <p:nvSpPr>
          <p:cNvPr id="3" name="Text 1"/>
          <p:cNvSpPr txBox="1"/>
          <p:nvPr/>
        </p:nvSpPr>
        <p:spPr>
          <a:xfrm>
            <a:off x="457200" y="868680"/>
            <a:ext cx="8229600" cy="320040"/>
          </a:xfrm>
          <a:prstGeom prst="rect">
            <a:avLst/>
          </a:prstGeom>
          <a:noFill/>
          <a:ln/>
        </p:spPr>
        <p:txBody>
          <a:bodyPr wrap="square" lIns="0" tIns="0" rIns="0" bIns="0" rtlCol="0" anchor="ctr"/>
          <a:lstStyle/>
          <a:p>
            <a:pPr indent="0" marL="0">
              <a:buNone/>
            </a:pPr>
            <a:r>
              <a:rPr lang="en-US" sz="1300" i="1" dirty="0">
                <a:solidFill>
                  <a:srgbClr val="6B7A88"/>
                </a:solidFill>
                <a:latin typeface="Calibri" pitchFamily="34" charset="0"/>
                <a:ea typeface="Calibri" pitchFamily="34" charset="-122"/>
                <a:cs typeface="Calibri" pitchFamily="34" charset="-120"/>
              </a:rPr>
              <a:t>country_route_planner.py · origin/destination query + mission date → optimized, constraint-aware route</a:t>
            </a:r>
            <a:endParaRPr lang="en-US" sz="1300" dirty="0"/>
          </a:p>
        </p:txBody>
      </p:sp>
      <p:sp>
        <p:nvSpPr>
          <p:cNvPr id="4" name="Shape 2"/>
          <p:cNvSpPr/>
          <p:nvPr/>
        </p:nvSpPr>
        <p:spPr>
          <a:xfrm>
            <a:off x="457200" y="1371600"/>
            <a:ext cx="2606040" cy="1508760"/>
          </a:xfrm>
          <a:prstGeom prst="roundRect">
            <a:avLst>
              <a:gd name="adj" fmla="val 4848"/>
            </a:avLst>
          </a:prstGeom>
          <a:solidFill>
            <a:srgbClr val="EEF2F5"/>
          </a:solidFill>
          <a:ln w="12700">
            <a:solidFill>
              <a:srgbClr val="EEF2F5"/>
            </a:solidFill>
            <a:prstDash val="solid"/>
          </a:ln>
        </p:spPr>
      </p:sp>
      <p:sp>
        <p:nvSpPr>
          <p:cNvPr id="5" name="Shape 3"/>
          <p:cNvSpPr/>
          <p:nvPr/>
        </p:nvSpPr>
        <p:spPr>
          <a:xfrm>
            <a:off x="594360" y="1508760"/>
            <a:ext cx="384048" cy="384048"/>
          </a:xfrm>
          <a:prstGeom prst="ellipse">
            <a:avLst/>
          </a:prstGeom>
          <a:solidFill>
            <a:srgbClr val="1B2A38"/>
          </a:solidFill>
          <a:ln w="12700">
            <a:solidFill>
              <a:srgbClr val="1B2A38"/>
            </a:solidFill>
            <a:prstDash val="solid"/>
          </a:ln>
        </p:spPr>
      </p:sp>
      <p:sp>
        <p:nvSpPr>
          <p:cNvPr id="6" name="Text 4"/>
          <p:cNvSpPr txBox="1"/>
          <p:nvPr/>
        </p:nvSpPr>
        <p:spPr>
          <a:xfrm>
            <a:off x="594360" y="15087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7" name="Text 5"/>
          <p:cNvSpPr txBox="1"/>
          <p:nvPr/>
        </p:nvSpPr>
        <p:spPr>
          <a:xfrm>
            <a:off x="1078992" y="1490472"/>
            <a:ext cx="1874520" cy="420624"/>
          </a:xfrm>
          <a:prstGeom prst="rect">
            <a:avLst/>
          </a:prstGeom>
          <a:noFill/>
          <a:ln/>
        </p:spPr>
        <p:txBody>
          <a:bodyPr wrap="square" lIns="0" tIns="0" rIns="0" bIns="0" rtlCol="0" anchor="ctr"/>
          <a:lstStyle/>
          <a:p>
            <a:pPr indent="0" marL="0">
              <a:buNone/>
            </a:pPr>
            <a:r>
              <a:rPr lang="en-US" sz="1250" b="1" dirty="0">
                <a:solidFill>
                  <a:srgbClr val="1B2A38"/>
                </a:solidFill>
                <a:latin typeface="Calibri" pitchFamily="34" charset="0"/>
                <a:ea typeface="Calibri" pitchFamily="34" charset="-122"/>
                <a:cs typeface="Calibri" pitchFamily="34" charset="-120"/>
              </a:rPr>
              <a:t>Resolve the query</a:t>
            </a:r>
            <a:endParaRPr lang="en-US" sz="1250" dirty="0"/>
          </a:p>
        </p:txBody>
      </p:sp>
      <p:sp>
        <p:nvSpPr>
          <p:cNvPr id="8" name="Text 6"/>
          <p:cNvSpPr txBox="1"/>
          <p:nvPr/>
        </p:nvSpPr>
        <p:spPr>
          <a:xfrm>
            <a:off x="594360" y="1975104"/>
            <a:ext cx="2359152" cy="868680"/>
          </a:xfrm>
          <a:prstGeom prst="rect">
            <a:avLst/>
          </a:prstGeom>
          <a:noFill/>
          <a:ln/>
        </p:spPr>
        <p:txBody>
          <a:bodyPr wrap="square" lIns="0" tIns="0" rIns="0" bIns="0" rtlCol="0" anchor="ctr"/>
          <a:lstStyle/>
          <a:p>
            <a:pPr indent="0" marL="0">
              <a:buNone/>
            </a:pPr>
            <a:r>
              <a:rPr lang="en-US" sz="950" dirty="0">
                <a:solidFill>
                  <a:srgbClr val="1F2933"/>
                </a:solidFill>
                <a:latin typeface="Calibri" pitchFamily="34" charset="0"/>
                <a:ea typeface="Calibri" pitchFamily="34" charset="-122"/>
                <a:cs typeface="Calibri" pitchFamily="34" charset="-120"/>
              </a:rPr>
              <a:t>Closed-world entity resolution against ISO codes and mapping.csv. FRA = France, never Frankfurt. FCG code suffixes (_FCG2.0) stripped.</a:t>
            </a:r>
            <a:endParaRPr lang="en-US" sz="950" dirty="0"/>
          </a:p>
        </p:txBody>
      </p:sp>
      <p:sp>
        <p:nvSpPr>
          <p:cNvPr id="9" name="Shape 7"/>
          <p:cNvSpPr/>
          <p:nvPr/>
        </p:nvSpPr>
        <p:spPr>
          <a:xfrm>
            <a:off x="3246120" y="1371600"/>
            <a:ext cx="2606040" cy="1508760"/>
          </a:xfrm>
          <a:prstGeom prst="roundRect">
            <a:avLst>
              <a:gd name="adj" fmla="val 4848"/>
            </a:avLst>
          </a:prstGeom>
          <a:solidFill>
            <a:srgbClr val="EEF2F5"/>
          </a:solidFill>
          <a:ln w="12700">
            <a:solidFill>
              <a:srgbClr val="EEF2F5"/>
            </a:solidFill>
            <a:prstDash val="solid"/>
          </a:ln>
        </p:spPr>
      </p:sp>
      <p:sp>
        <p:nvSpPr>
          <p:cNvPr id="10" name="Shape 8"/>
          <p:cNvSpPr/>
          <p:nvPr/>
        </p:nvSpPr>
        <p:spPr>
          <a:xfrm>
            <a:off x="3383280" y="1508760"/>
            <a:ext cx="384048" cy="384048"/>
          </a:xfrm>
          <a:prstGeom prst="ellipse">
            <a:avLst/>
          </a:prstGeom>
          <a:solidFill>
            <a:srgbClr val="1B2A38"/>
          </a:solidFill>
          <a:ln w="12700">
            <a:solidFill>
              <a:srgbClr val="1B2A38"/>
            </a:solidFill>
            <a:prstDash val="solid"/>
          </a:ln>
        </p:spPr>
      </p:sp>
      <p:sp>
        <p:nvSpPr>
          <p:cNvPr id="11" name="Text 9"/>
          <p:cNvSpPr txBox="1"/>
          <p:nvPr/>
        </p:nvSpPr>
        <p:spPr>
          <a:xfrm>
            <a:off x="3383280" y="15087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10"/>
          <p:cNvSpPr txBox="1"/>
          <p:nvPr/>
        </p:nvSpPr>
        <p:spPr>
          <a:xfrm>
            <a:off x="3867912" y="1490472"/>
            <a:ext cx="1874520" cy="420624"/>
          </a:xfrm>
          <a:prstGeom prst="rect">
            <a:avLst/>
          </a:prstGeom>
          <a:noFill/>
          <a:ln/>
        </p:spPr>
        <p:txBody>
          <a:bodyPr wrap="square" lIns="0" tIns="0" rIns="0" bIns="0" rtlCol="0" anchor="ctr"/>
          <a:lstStyle/>
          <a:p>
            <a:pPr indent="0" marL="0">
              <a:buNone/>
            </a:pPr>
            <a:r>
              <a:rPr lang="en-US" sz="1250" b="1" dirty="0">
                <a:solidFill>
                  <a:srgbClr val="1B2A38"/>
                </a:solidFill>
                <a:latin typeface="Calibri" pitchFamily="34" charset="0"/>
                <a:ea typeface="Calibri" pitchFamily="34" charset="-122"/>
                <a:cs typeface="Calibri" pitchFamily="34" charset="-120"/>
              </a:rPr>
              <a:t>Search the country graph</a:t>
            </a:r>
            <a:endParaRPr lang="en-US" sz="1250" dirty="0"/>
          </a:p>
        </p:txBody>
      </p:sp>
      <p:sp>
        <p:nvSpPr>
          <p:cNvPr id="13" name="Text 11"/>
          <p:cNvSpPr txBox="1"/>
          <p:nvPr/>
        </p:nvSpPr>
        <p:spPr>
          <a:xfrm>
            <a:off x="3383280" y="1975104"/>
            <a:ext cx="2359152" cy="868680"/>
          </a:xfrm>
          <a:prstGeom prst="rect">
            <a:avLst/>
          </a:prstGeom>
          <a:noFill/>
          <a:ln/>
        </p:spPr>
        <p:txBody>
          <a:bodyPr wrap="square" lIns="0" tIns="0" rIns="0" bIns="0" rtlCol="0" anchor="ctr"/>
          <a:lstStyle/>
          <a:p>
            <a:pPr indent="0" marL="0">
              <a:buNone/>
            </a:pPr>
            <a:r>
              <a:rPr lang="en-US" sz="950" dirty="0">
                <a:solidFill>
                  <a:srgbClr val="1F2933"/>
                </a:solidFill>
                <a:latin typeface="Calibri" pitchFamily="34" charset="0"/>
                <a:ea typeface="Calibri" pitchFamily="34" charset="-122"/>
                <a:cs typeface="Calibri" pitchFamily="34" charset="-120"/>
              </a:rPr>
              <a:t>k-nearest-neighbor country graph, Dijkstra for land corridors, great-circle corridor sampling for ocean preference, lazy Dijkstra over all countries as waypoints.</a:t>
            </a:r>
            <a:endParaRPr lang="en-US" sz="950" dirty="0"/>
          </a:p>
        </p:txBody>
      </p:sp>
      <p:sp>
        <p:nvSpPr>
          <p:cNvPr id="14" name="Shape 12"/>
          <p:cNvSpPr/>
          <p:nvPr/>
        </p:nvSpPr>
        <p:spPr>
          <a:xfrm>
            <a:off x="6035040" y="1371600"/>
            <a:ext cx="2606040" cy="1508760"/>
          </a:xfrm>
          <a:prstGeom prst="roundRect">
            <a:avLst>
              <a:gd name="adj" fmla="val 4848"/>
            </a:avLst>
          </a:prstGeom>
          <a:solidFill>
            <a:srgbClr val="EEF2F5"/>
          </a:solidFill>
          <a:ln w="12700">
            <a:solidFill>
              <a:srgbClr val="EEF2F5"/>
            </a:solidFill>
            <a:prstDash val="solid"/>
          </a:ln>
        </p:spPr>
      </p:sp>
      <p:sp>
        <p:nvSpPr>
          <p:cNvPr id="15" name="Shape 13"/>
          <p:cNvSpPr/>
          <p:nvPr/>
        </p:nvSpPr>
        <p:spPr>
          <a:xfrm>
            <a:off x="6172200" y="1508760"/>
            <a:ext cx="384048" cy="384048"/>
          </a:xfrm>
          <a:prstGeom prst="ellipse">
            <a:avLst/>
          </a:prstGeom>
          <a:solidFill>
            <a:srgbClr val="1B2A38"/>
          </a:solidFill>
          <a:ln w="12700">
            <a:solidFill>
              <a:srgbClr val="1B2A38"/>
            </a:solidFill>
            <a:prstDash val="solid"/>
          </a:ln>
        </p:spPr>
      </p:sp>
      <p:sp>
        <p:nvSpPr>
          <p:cNvPr id="16" name="Text 14"/>
          <p:cNvSpPr txBox="1"/>
          <p:nvPr/>
        </p:nvSpPr>
        <p:spPr>
          <a:xfrm>
            <a:off x="6172200" y="15087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7" name="Text 15"/>
          <p:cNvSpPr txBox="1"/>
          <p:nvPr/>
        </p:nvSpPr>
        <p:spPr>
          <a:xfrm>
            <a:off x="6656832" y="1490472"/>
            <a:ext cx="1874520" cy="420624"/>
          </a:xfrm>
          <a:prstGeom prst="rect">
            <a:avLst/>
          </a:prstGeom>
          <a:noFill/>
          <a:ln/>
        </p:spPr>
        <p:txBody>
          <a:bodyPr wrap="square" lIns="0" tIns="0" rIns="0" bIns="0" rtlCol="0" anchor="ctr"/>
          <a:lstStyle/>
          <a:p>
            <a:pPr indent="0" marL="0">
              <a:buNone/>
            </a:pPr>
            <a:r>
              <a:rPr lang="en-US" sz="1250" b="1" dirty="0">
                <a:solidFill>
                  <a:srgbClr val="1B2A38"/>
                </a:solidFill>
                <a:latin typeface="Calibri" pitchFamily="34" charset="0"/>
                <a:ea typeface="Calibri" pitchFamily="34" charset="-122"/>
                <a:cs typeface="Calibri" pitchFamily="34" charset="-120"/>
              </a:rPr>
              <a:t>Choose airports</a:t>
            </a:r>
            <a:endParaRPr lang="en-US" sz="1250" dirty="0"/>
          </a:p>
        </p:txBody>
      </p:sp>
      <p:sp>
        <p:nvSpPr>
          <p:cNvPr id="18" name="Text 16"/>
          <p:cNvSpPr txBox="1"/>
          <p:nvPr/>
        </p:nvSpPr>
        <p:spPr>
          <a:xfrm>
            <a:off x="6172200" y="1975104"/>
            <a:ext cx="2359152" cy="868680"/>
          </a:xfrm>
          <a:prstGeom prst="rect">
            <a:avLst/>
          </a:prstGeom>
          <a:noFill/>
          <a:ln/>
        </p:spPr>
        <p:txBody>
          <a:bodyPr wrap="square" lIns="0" tIns="0" rIns="0" bIns="0" rtlCol="0" anchor="ctr"/>
          <a:lstStyle/>
          <a:p>
            <a:pPr indent="0" marL="0">
              <a:buNone/>
            </a:pPr>
            <a:r>
              <a:rPr lang="en-US" sz="950" dirty="0">
                <a:solidFill>
                  <a:srgbClr val="1F2933"/>
                </a:solidFill>
                <a:latin typeface="Calibri" pitchFamily="34" charset="0"/>
                <a:ea typeface="Calibri" pitchFamily="34" charset="-122"/>
                <a:cs typeface="Calibri" pitchFamily="34" charset="-120"/>
              </a:rPr>
              <a:t>Stage-graph dynamic program selects airports per leg from OurAirports data; user-pinned airports are honored.</a:t>
            </a:r>
            <a:endParaRPr lang="en-US" sz="950" dirty="0"/>
          </a:p>
        </p:txBody>
      </p:sp>
      <p:sp>
        <p:nvSpPr>
          <p:cNvPr id="19" name="Shape 17"/>
          <p:cNvSpPr/>
          <p:nvPr/>
        </p:nvSpPr>
        <p:spPr>
          <a:xfrm>
            <a:off x="457200" y="3063240"/>
            <a:ext cx="2606040" cy="1508760"/>
          </a:xfrm>
          <a:prstGeom prst="roundRect">
            <a:avLst>
              <a:gd name="adj" fmla="val 4848"/>
            </a:avLst>
          </a:prstGeom>
          <a:solidFill>
            <a:srgbClr val="EEF2F5"/>
          </a:solidFill>
          <a:ln w="12700">
            <a:solidFill>
              <a:srgbClr val="EEF2F5"/>
            </a:solidFill>
            <a:prstDash val="solid"/>
          </a:ln>
        </p:spPr>
      </p:sp>
      <p:sp>
        <p:nvSpPr>
          <p:cNvPr id="20" name="Shape 18"/>
          <p:cNvSpPr/>
          <p:nvPr/>
        </p:nvSpPr>
        <p:spPr>
          <a:xfrm>
            <a:off x="594360" y="3200400"/>
            <a:ext cx="384048" cy="384048"/>
          </a:xfrm>
          <a:prstGeom prst="ellipse">
            <a:avLst/>
          </a:prstGeom>
          <a:solidFill>
            <a:srgbClr val="1B2A38"/>
          </a:solidFill>
          <a:ln w="12700">
            <a:solidFill>
              <a:srgbClr val="1B2A38"/>
            </a:solidFill>
            <a:prstDash val="solid"/>
          </a:ln>
        </p:spPr>
      </p:sp>
      <p:sp>
        <p:nvSpPr>
          <p:cNvPr id="21" name="Text 19"/>
          <p:cNvSpPr txBox="1"/>
          <p:nvPr/>
        </p:nvSpPr>
        <p:spPr>
          <a:xfrm>
            <a:off x="594360" y="32004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2" name="Text 20"/>
          <p:cNvSpPr txBox="1"/>
          <p:nvPr/>
        </p:nvSpPr>
        <p:spPr>
          <a:xfrm>
            <a:off x="1078992" y="3182112"/>
            <a:ext cx="1874520" cy="420624"/>
          </a:xfrm>
          <a:prstGeom prst="rect">
            <a:avLst/>
          </a:prstGeom>
          <a:noFill/>
          <a:ln/>
        </p:spPr>
        <p:txBody>
          <a:bodyPr wrap="square" lIns="0" tIns="0" rIns="0" bIns="0" rtlCol="0" anchor="ctr"/>
          <a:lstStyle/>
          <a:p>
            <a:pPr indent="0" marL="0">
              <a:buNone/>
            </a:pPr>
            <a:r>
              <a:rPr lang="en-US" sz="1250" b="1" dirty="0">
                <a:solidFill>
                  <a:srgbClr val="1B2A38"/>
                </a:solidFill>
                <a:latin typeface="Calibri" pitchFamily="34" charset="0"/>
                <a:ea typeface="Calibri" pitchFamily="34" charset="-122"/>
                <a:cs typeface="Calibri" pitchFamily="34" charset="-120"/>
              </a:rPr>
              <a:t>Overlay live conditions</a:t>
            </a:r>
            <a:endParaRPr lang="en-US" sz="1250" dirty="0"/>
          </a:p>
        </p:txBody>
      </p:sp>
      <p:sp>
        <p:nvSpPr>
          <p:cNvPr id="23" name="Text 21"/>
          <p:cNvSpPr txBox="1"/>
          <p:nvPr/>
        </p:nvSpPr>
        <p:spPr>
          <a:xfrm>
            <a:off x="594360" y="3666744"/>
            <a:ext cx="2359152" cy="868680"/>
          </a:xfrm>
          <a:prstGeom prst="rect">
            <a:avLst/>
          </a:prstGeom>
          <a:noFill/>
          <a:ln/>
        </p:spPr>
        <p:txBody>
          <a:bodyPr wrap="square" lIns="0" tIns="0" rIns="0" bIns="0" rtlCol="0" anchor="ctr"/>
          <a:lstStyle/>
          <a:p>
            <a:pPr indent="0" marL="0">
              <a:buNone/>
            </a:pPr>
            <a:r>
              <a:rPr lang="en-US" sz="950" dirty="0">
                <a:solidFill>
                  <a:srgbClr val="1F2933"/>
                </a:solidFill>
                <a:latin typeface="Calibri" pitchFamily="34" charset="0"/>
                <a:ea typeface="Calibri" pitchFamily="34" charset="-122"/>
                <a:cs typeface="Calibri" pitchFamily="34" charset="-120"/>
              </a:rPr>
              <a:t>OpenSky traffic (--traffic), METAR/TAF (--wx), State Dept advisories (--risk), DLA fuel rates, avoid_countries.csv.</a:t>
            </a:r>
            <a:endParaRPr lang="en-US" sz="950" dirty="0"/>
          </a:p>
        </p:txBody>
      </p:sp>
      <p:sp>
        <p:nvSpPr>
          <p:cNvPr id="24" name="Shape 22"/>
          <p:cNvSpPr/>
          <p:nvPr/>
        </p:nvSpPr>
        <p:spPr>
          <a:xfrm>
            <a:off x="3246120" y="3063240"/>
            <a:ext cx="2606040" cy="1508760"/>
          </a:xfrm>
          <a:prstGeom prst="roundRect">
            <a:avLst>
              <a:gd name="adj" fmla="val 4848"/>
            </a:avLst>
          </a:prstGeom>
          <a:solidFill>
            <a:srgbClr val="EEF2F5"/>
          </a:solidFill>
          <a:ln w="12700">
            <a:solidFill>
              <a:srgbClr val="EEF2F5"/>
            </a:solidFill>
            <a:prstDash val="solid"/>
          </a:ln>
        </p:spPr>
      </p:sp>
      <p:sp>
        <p:nvSpPr>
          <p:cNvPr id="25" name="Shape 23"/>
          <p:cNvSpPr/>
          <p:nvPr/>
        </p:nvSpPr>
        <p:spPr>
          <a:xfrm>
            <a:off x="3383280" y="3200400"/>
            <a:ext cx="384048" cy="384048"/>
          </a:xfrm>
          <a:prstGeom prst="ellipse">
            <a:avLst/>
          </a:prstGeom>
          <a:solidFill>
            <a:srgbClr val="1B2A38"/>
          </a:solidFill>
          <a:ln w="12700">
            <a:solidFill>
              <a:srgbClr val="1B2A38"/>
            </a:solidFill>
            <a:prstDash val="solid"/>
          </a:ln>
        </p:spPr>
      </p:sp>
      <p:sp>
        <p:nvSpPr>
          <p:cNvPr id="26" name="Text 24"/>
          <p:cNvSpPr txBox="1"/>
          <p:nvPr/>
        </p:nvSpPr>
        <p:spPr>
          <a:xfrm>
            <a:off x="3383280" y="32004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7" name="Text 25"/>
          <p:cNvSpPr txBox="1"/>
          <p:nvPr/>
        </p:nvSpPr>
        <p:spPr>
          <a:xfrm>
            <a:off x="3867912" y="3182112"/>
            <a:ext cx="1874520" cy="420624"/>
          </a:xfrm>
          <a:prstGeom prst="rect">
            <a:avLst/>
          </a:prstGeom>
          <a:noFill/>
          <a:ln/>
        </p:spPr>
        <p:txBody>
          <a:bodyPr wrap="square" lIns="0" tIns="0" rIns="0" bIns="0" rtlCol="0" anchor="ctr"/>
          <a:lstStyle/>
          <a:p>
            <a:pPr indent="0" marL="0">
              <a:buNone/>
            </a:pPr>
            <a:r>
              <a:rPr lang="en-US" sz="1250" b="1" dirty="0">
                <a:solidFill>
                  <a:srgbClr val="1B2A38"/>
                </a:solidFill>
                <a:latin typeface="Calibri" pitchFamily="34" charset="0"/>
                <a:ea typeface="Calibri" pitchFamily="34" charset="-122"/>
                <a:cs typeface="Calibri" pitchFamily="34" charset="-120"/>
              </a:rPr>
              <a:t>Judge extracts constraints</a:t>
            </a:r>
            <a:endParaRPr lang="en-US" sz="1250" dirty="0"/>
          </a:p>
        </p:txBody>
      </p:sp>
      <p:sp>
        <p:nvSpPr>
          <p:cNvPr id="28" name="Text 26"/>
          <p:cNvSpPr txBox="1"/>
          <p:nvPr/>
        </p:nvSpPr>
        <p:spPr>
          <a:xfrm>
            <a:off x="3383280" y="3666744"/>
            <a:ext cx="2359152" cy="868680"/>
          </a:xfrm>
          <a:prstGeom prst="rect">
            <a:avLst/>
          </a:prstGeom>
          <a:noFill/>
          <a:ln/>
        </p:spPr>
        <p:txBody>
          <a:bodyPr wrap="square" lIns="0" tIns="0" rIns="0" bIns="0" rtlCol="0" anchor="ctr"/>
          <a:lstStyle/>
          <a:p>
            <a:pPr indent="0" marL="0">
              <a:buNone/>
            </a:pPr>
            <a:r>
              <a:rPr lang="en-US" sz="950" dirty="0">
                <a:solidFill>
                  <a:srgbClr val="1F2933"/>
                </a:solidFill>
                <a:latin typeface="Calibri" pitchFamily="34" charset="0"/>
                <a:ea typeface="Calibri" pitchFamily="34" charset="-122"/>
                <a:cs typeface="Calibri" pitchFamily="34" charset="-120"/>
              </a:rPr>
              <a:t>Judge LLM reads FCG clearance text per country and extracts minimum lead days and flags.</a:t>
            </a:r>
            <a:endParaRPr lang="en-US" sz="950" dirty="0"/>
          </a:p>
        </p:txBody>
      </p:sp>
      <p:sp>
        <p:nvSpPr>
          <p:cNvPr id="29" name="Shape 27"/>
          <p:cNvSpPr/>
          <p:nvPr/>
        </p:nvSpPr>
        <p:spPr>
          <a:xfrm>
            <a:off x="6035040" y="3063240"/>
            <a:ext cx="2606040" cy="1508760"/>
          </a:xfrm>
          <a:prstGeom prst="roundRect">
            <a:avLst>
              <a:gd name="adj" fmla="val 4848"/>
            </a:avLst>
          </a:prstGeom>
          <a:solidFill>
            <a:srgbClr val="FBF1DE"/>
          </a:solidFill>
          <a:ln w="12700">
            <a:solidFill>
              <a:srgbClr val="FBF1DE"/>
            </a:solidFill>
            <a:prstDash val="solid"/>
          </a:ln>
        </p:spPr>
      </p:sp>
      <p:sp>
        <p:nvSpPr>
          <p:cNvPr id="30" name="Shape 28"/>
          <p:cNvSpPr/>
          <p:nvPr/>
        </p:nvSpPr>
        <p:spPr>
          <a:xfrm>
            <a:off x="6172200" y="3200400"/>
            <a:ext cx="384048" cy="384048"/>
          </a:xfrm>
          <a:prstGeom prst="ellipse">
            <a:avLst/>
          </a:prstGeom>
          <a:solidFill>
            <a:srgbClr val="1B2A38"/>
          </a:solidFill>
          <a:ln w="12700">
            <a:solidFill>
              <a:srgbClr val="1B2A38"/>
            </a:solidFill>
            <a:prstDash val="solid"/>
          </a:ln>
        </p:spPr>
      </p:sp>
      <p:sp>
        <p:nvSpPr>
          <p:cNvPr id="31" name="Text 29"/>
          <p:cNvSpPr txBox="1"/>
          <p:nvPr/>
        </p:nvSpPr>
        <p:spPr>
          <a:xfrm>
            <a:off x="6172200" y="32004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32" name="Text 30"/>
          <p:cNvSpPr txBox="1"/>
          <p:nvPr/>
        </p:nvSpPr>
        <p:spPr>
          <a:xfrm>
            <a:off x="6656832" y="3182112"/>
            <a:ext cx="1874520" cy="420624"/>
          </a:xfrm>
          <a:prstGeom prst="rect">
            <a:avLst/>
          </a:prstGeom>
          <a:noFill/>
          <a:ln/>
        </p:spPr>
        <p:txBody>
          <a:bodyPr wrap="square" lIns="0" tIns="0" rIns="0" bIns="0" rtlCol="0" anchor="ctr"/>
          <a:lstStyle/>
          <a:p>
            <a:pPr indent="0" marL="0">
              <a:buNone/>
            </a:pPr>
            <a:r>
              <a:rPr lang="en-US" sz="1250" b="1" dirty="0">
                <a:solidFill>
                  <a:srgbClr val="1B2A38"/>
                </a:solidFill>
                <a:latin typeface="Calibri" pitchFamily="34" charset="0"/>
                <a:ea typeface="Calibri" pitchFamily="34" charset="-122"/>
                <a:cs typeface="Calibri" pitchFamily="34" charset="-120"/>
              </a:rPr>
              <a:t>Code enforces feasibility</a:t>
            </a:r>
            <a:endParaRPr lang="en-US" sz="1250" dirty="0"/>
          </a:p>
        </p:txBody>
      </p:sp>
      <p:sp>
        <p:nvSpPr>
          <p:cNvPr id="33" name="Text 31"/>
          <p:cNvSpPr txBox="1"/>
          <p:nvPr/>
        </p:nvSpPr>
        <p:spPr>
          <a:xfrm>
            <a:off x="6172200" y="3666744"/>
            <a:ext cx="2359152" cy="868680"/>
          </a:xfrm>
          <a:prstGeom prst="rect">
            <a:avLst/>
          </a:prstGeom>
          <a:noFill/>
          <a:ln/>
        </p:spPr>
        <p:txBody>
          <a:bodyPr wrap="square" lIns="0" tIns="0" rIns="0" bIns="0" rtlCol="0" anchor="ctr"/>
          <a:lstStyle/>
          <a:p>
            <a:pPr indent="0" marL="0">
              <a:buNone/>
            </a:pPr>
            <a:r>
              <a:rPr lang="en-US" sz="950" dirty="0">
                <a:solidFill>
                  <a:srgbClr val="1F2933"/>
                </a:solidFill>
                <a:latin typeface="Calibri" pitchFamily="34" charset="0"/>
                <a:ea typeface="Calibri" pitchFamily="34" charset="-122"/>
                <a:cs typeface="Calibri" pitchFamily="34" charset="-120"/>
              </a:rPr>
              <a:t>Python compares lead days to days-until-mission: overflight countries that miss it are blocked and rerouted; stop countries are flagged for the operator. Pinned airports are never banned. Corridor countries listed in flight order.</a:t>
            </a:r>
            <a:endParaRPr lang="en-US" sz="950" dirty="0"/>
          </a:p>
        </p:txBody>
      </p:sp>
      <p:sp>
        <p:nvSpPr>
          <p:cNvPr id="34" name="Text 32"/>
          <p:cNvSpPr txBox="1"/>
          <p:nvPr/>
        </p:nvSpPr>
        <p:spPr>
          <a:xfrm>
            <a:off x="457200" y="4800600"/>
            <a:ext cx="8229600" cy="22860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CAITT · FCG Agentic Pipeline ·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rgbClr val="1B2A38"/>
                </a:solidFill>
                <a:latin typeface="Cambria" pitchFamily="34" charset="0"/>
                <a:ea typeface="Cambria" pitchFamily="34" charset="-122"/>
                <a:cs typeface="Cambria" pitchFamily="34" charset="-120"/>
              </a:rPr>
              <a:t>Which checklist columns gate the route, and why</a:t>
            </a:r>
            <a:endParaRPr lang="en-US" sz="2600" dirty="0"/>
          </a:p>
        </p:txBody>
      </p:sp>
      <p:sp>
        <p:nvSpPr>
          <p:cNvPr id="3" name="Text 1"/>
          <p:cNvSpPr txBox="1"/>
          <p:nvPr/>
        </p:nvSpPr>
        <p:spPr>
          <a:xfrm>
            <a:off x="457200" y="868680"/>
            <a:ext cx="8229600" cy="320040"/>
          </a:xfrm>
          <a:prstGeom prst="rect">
            <a:avLst/>
          </a:prstGeom>
          <a:noFill/>
          <a:ln/>
        </p:spPr>
        <p:txBody>
          <a:bodyPr wrap="square" lIns="0" tIns="0" rIns="0" bIns="0" rtlCol="0" anchor="ctr"/>
          <a:lstStyle/>
          <a:p>
            <a:pPr indent="0" marL="0">
              <a:buNone/>
            </a:pPr>
            <a:r>
              <a:rPr lang="en-US" sz="1300" i="1" dirty="0">
                <a:solidFill>
                  <a:srgbClr val="6B7A88"/>
                </a:solidFill>
                <a:latin typeface="Calibri" pitchFamily="34" charset="0"/>
                <a:ea typeface="Calibri" pitchFamily="34" charset="-122"/>
                <a:cs typeface="Calibri" pitchFamily="34" charset="-120"/>
              </a:rPr>
              <a:t>The judge answers one question: can this country be used in this role on this date? Only columns that bear on it are judged.</a:t>
            </a:r>
            <a:endParaRPr lang="en-US" sz="1300" dirty="0"/>
          </a:p>
        </p:txBody>
      </p:sp>
      <p:sp>
        <p:nvSpPr>
          <p:cNvPr id="4" name="Shape 2"/>
          <p:cNvSpPr/>
          <p:nvPr/>
        </p:nvSpPr>
        <p:spPr>
          <a:xfrm>
            <a:off x="457200" y="1371600"/>
            <a:ext cx="2606040" cy="3246120"/>
          </a:xfrm>
          <a:prstGeom prst="roundRect">
            <a:avLst>
              <a:gd name="adj" fmla="val 2807"/>
            </a:avLst>
          </a:prstGeom>
          <a:solidFill>
            <a:srgbClr val="1B2A38"/>
          </a:solidFill>
          <a:ln w="12700">
            <a:solidFill>
              <a:srgbClr val="1B2A38"/>
            </a:solidFill>
            <a:prstDash val="solid"/>
          </a:ln>
        </p:spPr>
      </p:sp>
      <p:sp>
        <p:nvSpPr>
          <p:cNvPr id="5" name="Shape 3"/>
          <p:cNvSpPr/>
          <p:nvPr/>
        </p:nvSpPr>
        <p:spPr>
          <a:xfrm>
            <a:off x="594360" y="1508760"/>
            <a:ext cx="411480" cy="411480"/>
          </a:xfrm>
          <a:prstGeom prst="ellipse">
            <a:avLst/>
          </a:prstGeom>
          <a:solidFill>
            <a:srgbClr val="E39B2B"/>
          </a:solidFill>
          <a:ln w="12700">
            <a:solidFill>
              <a:srgbClr val="E39B2B"/>
            </a:solidFill>
            <a:prstDash val="solid"/>
          </a:ln>
        </p:spPr>
      </p:sp>
      <p:pic>
        <p:nvPicPr>
          <p:cNvPr id="6" name="Image 0" descr="preencoded.png">    </p:cNvPr>
          <p:cNvPicPr>
            <a:picLocks noChangeAspect="1"/>
          </p:cNvPicPr>
          <p:nvPr/>
        </p:nvPicPr>
        <p:blipFill>
          <a:blip r:embed="rId1"/>
          <a:stretch>
            <a:fillRect/>
          </a:stretch>
        </p:blipFill>
        <p:spPr>
          <a:xfrm>
            <a:off x="693115" y="1607515"/>
            <a:ext cx="213970" cy="213970"/>
          </a:xfrm>
          <a:prstGeom prst="rect">
            <a:avLst/>
          </a:prstGeom>
        </p:spPr>
      </p:pic>
      <p:sp>
        <p:nvSpPr>
          <p:cNvPr id="7" name="Text 4"/>
          <p:cNvSpPr txBox="1"/>
          <p:nvPr/>
        </p:nvSpPr>
        <p:spPr>
          <a:xfrm>
            <a:off x="1097280" y="1463040"/>
            <a:ext cx="1874520" cy="54864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Gate · 17 columns</a:t>
            </a:r>
            <a:endParaRPr lang="en-US" sz="1250" dirty="0"/>
          </a:p>
          <a:p>
            <a:pPr indent="0" marL="0">
              <a:buNone/>
            </a:pPr>
            <a:r>
              <a:rPr lang="en-US" sz="950" dirty="0">
                <a:solidFill>
                  <a:srgbClr val="C9D3DC"/>
                </a:solidFill>
                <a:latin typeface="Calibri" pitchFamily="34" charset="0"/>
                <a:ea typeface="Calibri" pitchFamily="34" charset="-122"/>
                <a:cs typeface="Calibri" pitchFamily="34" charset="-120"/>
              </a:rPr>
              <a:t>Read by the judge; can block or flag</a:t>
            </a:r>
            <a:endParaRPr lang="en-US" sz="1250" dirty="0"/>
          </a:p>
        </p:txBody>
      </p:sp>
      <p:sp>
        <p:nvSpPr>
          <p:cNvPr id="8" name="Text 5"/>
          <p:cNvSpPr txBox="1"/>
          <p:nvPr/>
        </p:nvSpPr>
        <p:spPr>
          <a:xfrm>
            <a:off x="594360" y="2103120"/>
            <a:ext cx="2331720" cy="2468880"/>
          </a:xfrm>
          <a:prstGeom prst="rect">
            <a:avLst/>
          </a:prstGeom>
          <a:noFill/>
          <a:ln/>
        </p:spPr>
        <p:txBody>
          <a:bodyPr wrap="square" lIns="0" tIns="0" rIns="0" bIns="0" rtlCol="0" anchor="t"/>
          <a:lstStyle/>
          <a:p>
            <a:pPr marL="342900" indent="-342900">
              <a:spcAft>
                <a:spcPts val="600"/>
              </a:spcAft>
              <a:buSzPct val="100000"/>
              <a:buChar char="•"/>
            </a:pPr>
            <a:r>
              <a:rPr lang="en-US" sz="1000" dirty="0">
                <a:solidFill>
                  <a:srgbClr val="E6ECF1"/>
                </a:solidFill>
                <a:latin typeface="Calibri" pitchFamily="34" charset="0"/>
                <a:ea typeface="Calibri" pitchFamily="34" charset="-122"/>
                <a:cs typeface="Calibri" pitchFamily="34" charset="-120"/>
              </a:rPr>
              <a:t>Clearance: overflight, diplomatic lead time</a:t>
            </a:r>
            <a:endParaRPr lang="en-US" sz="1000" dirty="0"/>
          </a:p>
          <a:p>
            <a:pPr marL="342900" indent="-342900">
              <a:spcAft>
                <a:spcPts val="600"/>
              </a:spcAft>
              <a:buSzPct val="100000"/>
              <a:buChar char="•"/>
            </a:pPr>
            <a:r>
              <a:rPr lang="en-US" sz="1000" dirty="0">
                <a:solidFill>
                  <a:srgbClr val="E6ECF1"/>
                </a:solidFill>
                <a:latin typeface="Calibri" pitchFamily="34" charset="0"/>
                <a:ea typeface="Calibri" pitchFamily="34" charset="-122"/>
                <a:cs typeface="Calibri" pitchFamily="34" charset="-120"/>
              </a:rPr>
              <a:t>Entry: airfield restrictions, customs, immigration, agriculture/quarantine</a:t>
            </a:r>
            <a:endParaRPr lang="en-US" sz="1000" dirty="0"/>
          </a:p>
          <a:p>
            <a:pPr marL="342900" indent="-342900">
              <a:spcAft>
                <a:spcPts val="600"/>
              </a:spcAft>
              <a:buSzPct val="100000"/>
              <a:buChar char="•"/>
            </a:pPr>
            <a:r>
              <a:rPr lang="en-US" sz="1000" dirty="0">
                <a:solidFill>
                  <a:srgbClr val="E6ECF1"/>
                </a:solidFill>
                <a:latin typeface="Calibri" pitchFamily="34" charset="0"/>
                <a:ea typeface="Calibri" pitchFamily="34" charset="-122"/>
                <a:cs typeface="Calibri" pitchFamily="34" charset="-120"/>
              </a:rPr>
              <a:t>HazMat: clearance requirements, ground handling</a:t>
            </a:r>
            <a:endParaRPr lang="en-US" sz="1000" dirty="0"/>
          </a:p>
          <a:p>
            <a:pPr marL="342900" indent="-342900">
              <a:spcAft>
                <a:spcPts val="600"/>
              </a:spcAft>
              <a:buSzPct val="100000"/>
              <a:buChar char="•"/>
            </a:pPr>
            <a:r>
              <a:rPr lang="en-US" sz="1000" dirty="0">
                <a:solidFill>
                  <a:srgbClr val="E6ECF1"/>
                </a:solidFill>
                <a:latin typeface="Calibri" pitchFamily="34" charset="0"/>
                <a:ea typeface="Calibri" pitchFamily="34" charset="-122"/>
                <a:cs typeface="Calibri" pitchFamily="34" charset="-120"/>
              </a:rPr>
              <a:t>Operations: operating / quiet / holiday hours, closures, daylight or VFR-only</a:t>
            </a:r>
            <a:endParaRPr lang="en-US" sz="1000" dirty="0"/>
          </a:p>
          <a:p>
            <a:pPr marL="342900" indent="-342900">
              <a:spcAft>
                <a:spcPts val="600"/>
              </a:spcAft>
              <a:buSzPct val="100000"/>
              <a:buChar char="•"/>
            </a:pPr>
            <a:r>
              <a:rPr lang="en-US" sz="1000" dirty="0">
                <a:solidFill>
                  <a:srgbClr val="E6ECF1"/>
                </a:solidFill>
                <a:latin typeface="Calibri" pitchFamily="34" charset="0"/>
                <a:ea typeface="Calibri" pitchFamily="34" charset="-122"/>
                <a:cs typeface="Calibri" pitchFamily="34" charset="-120"/>
              </a:rPr>
              <a:t>Airfield: suitability &amp; alternates, runway / apron WBC, MOG</a:t>
            </a:r>
            <a:endParaRPr lang="en-US" sz="1000" dirty="0"/>
          </a:p>
          <a:p>
            <a:pPr marL="342900" indent="-342900">
              <a:spcAft>
                <a:spcPts val="600"/>
              </a:spcAft>
              <a:buSzPct val="100000"/>
              <a:buChar char="•"/>
            </a:pPr>
            <a:r>
              <a:rPr lang="en-US" sz="1000" dirty="0">
                <a:solidFill>
                  <a:srgbClr val="E6ECF1"/>
                </a:solidFill>
                <a:latin typeface="Calibri" pitchFamily="34" charset="0"/>
                <a:ea typeface="Calibri" pitchFamily="34" charset="-122"/>
                <a:cs typeface="Calibri" pitchFamily="34" charset="-120"/>
              </a:rPr>
              <a:t>Live: NOTAMs; plus "other pertinent notes"</a:t>
            </a:r>
            <a:endParaRPr lang="en-US" sz="1000" dirty="0"/>
          </a:p>
        </p:txBody>
      </p:sp>
      <p:sp>
        <p:nvSpPr>
          <p:cNvPr id="9" name="Shape 6"/>
          <p:cNvSpPr/>
          <p:nvPr/>
        </p:nvSpPr>
        <p:spPr>
          <a:xfrm>
            <a:off x="3246120" y="1371600"/>
            <a:ext cx="2606040" cy="3246120"/>
          </a:xfrm>
          <a:prstGeom prst="roundRect">
            <a:avLst>
              <a:gd name="adj" fmla="val 2807"/>
            </a:avLst>
          </a:prstGeom>
          <a:solidFill>
            <a:srgbClr val="FBF1DE"/>
          </a:solidFill>
          <a:ln w="12700">
            <a:solidFill>
              <a:srgbClr val="FBF1DE"/>
            </a:solidFill>
            <a:prstDash val="solid"/>
          </a:ln>
        </p:spPr>
      </p:sp>
      <p:sp>
        <p:nvSpPr>
          <p:cNvPr id="10" name="Shape 7"/>
          <p:cNvSpPr/>
          <p:nvPr/>
        </p:nvSpPr>
        <p:spPr>
          <a:xfrm>
            <a:off x="3383280" y="1508760"/>
            <a:ext cx="411480" cy="411480"/>
          </a:xfrm>
          <a:prstGeom prst="ellipse">
            <a:avLst/>
          </a:prstGeom>
          <a:solidFill>
            <a:srgbClr val="E39B2B"/>
          </a:solidFill>
          <a:ln w="12700">
            <a:solidFill>
              <a:srgbClr val="E39B2B"/>
            </a:solidFill>
            <a:prstDash val="solid"/>
          </a:ln>
        </p:spPr>
      </p:sp>
      <p:pic>
        <p:nvPicPr>
          <p:cNvPr id="11" name="Image 1" descr="preencoded.png">    </p:cNvPr>
          <p:cNvPicPr>
            <a:picLocks noChangeAspect="1"/>
          </p:cNvPicPr>
          <p:nvPr/>
        </p:nvPicPr>
        <p:blipFill>
          <a:blip r:embed="rId2"/>
          <a:stretch>
            <a:fillRect/>
          </a:stretch>
        </p:blipFill>
        <p:spPr>
          <a:xfrm>
            <a:off x="3482035" y="1607515"/>
            <a:ext cx="213970" cy="213970"/>
          </a:xfrm>
          <a:prstGeom prst="rect">
            <a:avLst/>
          </a:prstGeom>
        </p:spPr>
      </p:pic>
      <p:sp>
        <p:nvSpPr>
          <p:cNvPr id="12" name="Text 8"/>
          <p:cNvSpPr txBox="1"/>
          <p:nvPr/>
        </p:nvSpPr>
        <p:spPr>
          <a:xfrm>
            <a:off x="3886200" y="1463040"/>
            <a:ext cx="1874520" cy="548640"/>
          </a:xfrm>
          <a:prstGeom prst="rect">
            <a:avLst/>
          </a:prstGeom>
          <a:noFill/>
          <a:ln/>
        </p:spPr>
        <p:txBody>
          <a:bodyPr wrap="square" lIns="0" tIns="0" rIns="0" bIns="0" rtlCol="0" anchor="ctr"/>
          <a:lstStyle/>
          <a:p>
            <a:pPr indent="0" marL="0">
              <a:buNone/>
            </a:pPr>
            <a:r>
              <a:rPr lang="en-US" sz="1250" b="1" dirty="0">
                <a:solidFill>
                  <a:srgbClr val="1B2A38"/>
                </a:solidFill>
                <a:latin typeface="Calibri" pitchFamily="34" charset="0"/>
                <a:ea typeface="Calibri" pitchFamily="34" charset="-122"/>
                <a:cs typeface="Calibri" pitchFamily="34" charset="-120"/>
              </a:rPr>
              <a:t>Support · 6 columns</a:t>
            </a:r>
            <a:endParaRPr lang="en-US" sz="1250" dirty="0"/>
          </a:p>
          <a:p>
            <a:pPr indent="0" marL="0">
              <a:buNone/>
            </a:pPr>
            <a:r>
              <a:rPr lang="en-US" sz="950" dirty="0">
                <a:solidFill>
                  <a:srgbClr val="6B7A88"/>
                </a:solidFill>
                <a:latin typeface="Calibri" pitchFamily="34" charset="0"/>
                <a:ea typeface="Calibri" pitchFamily="34" charset="-122"/>
                <a:cs typeface="Calibri" pitchFamily="34" charset="-120"/>
              </a:rPr>
              <a:t>Parsed by code, never judged</a:t>
            </a:r>
            <a:endParaRPr lang="en-US" sz="1250" dirty="0"/>
          </a:p>
        </p:txBody>
      </p:sp>
      <p:sp>
        <p:nvSpPr>
          <p:cNvPr id="13" name="Text 9"/>
          <p:cNvSpPr txBox="1"/>
          <p:nvPr/>
        </p:nvSpPr>
        <p:spPr>
          <a:xfrm>
            <a:off x="3383280" y="2103120"/>
            <a:ext cx="2331720" cy="2468880"/>
          </a:xfrm>
          <a:prstGeom prst="rect">
            <a:avLst/>
          </a:prstGeom>
          <a:noFill/>
          <a:ln/>
        </p:spPr>
        <p:txBody>
          <a:bodyPr wrap="square" lIns="0" tIns="0" rIns="0" bIns="0" rtlCol="0" anchor="t"/>
          <a:lstStyle/>
          <a:p>
            <a:pPr marL="342900" indent="-342900">
              <a:spcAft>
                <a:spcPts val="600"/>
              </a:spcAft>
              <a:buSzPct val="100000"/>
              <a:buChar char="•"/>
            </a:pPr>
            <a:r>
              <a:rPr lang="en-US" sz="1000" dirty="0">
                <a:solidFill>
                  <a:srgbClr val="1F2933"/>
                </a:solidFill>
                <a:latin typeface="Calibri" pitchFamily="34" charset="0"/>
                <a:ea typeface="Calibri" pitchFamily="34" charset="-122"/>
                <a:cs typeface="Calibri" pitchFamily="34" charset="-120"/>
              </a:rPr>
              <a:t>Airport codes scraped from entry/exit restrictions and airfield suitability</a:t>
            </a:r>
            <a:endParaRPr lang="en-US" sz="1000" dirty="0"/>
          </a:p>
          <a:p>
            <a:pPr marL="342900" indent="-342900">
              <a:spcAft>
                <a:spcPts val="600"/>
              </a:spcAft>
              <a:buSzPct val="100000"/>
              <a:buChar char="•"/>
            </a:pPr>
            <a:r>
              <a:rPr lang="en-US" sz="1000" dirty="0">
                <a:solidFill>
                  <a:srgbClr val="1F2933"/>
                </a:solidFill>
                <a:latin typeface="Calibri" pitchFamily="34" charset="0"/>
                <a:ea typeface="Calibri" pitchFamily="34" charset="-122"/>
                <a:cs typeface="Calibri" pitchFamily="34" charset="-120"/>
              </a:rPr>
              <a:t>Fuel &amp; payment: AIR Card acceptance, cash requirement, paying agent, landing / handling fees</a:t>
            </a:r>
            <a:endParaRPr lang="en-US" sz="1000" dirty="0"/>
          </a:p>
          <a:p>
            <a:pPr marL="342900" indent="-342900">
              <a:spcAft>
                <a:spcPts val="600"/>
              </a:spcAft>
              <a:buSzPct val="100000"/>
              <a:buChar char="•"/>
            </a:pPr>
            <a:r>
              <a:rPr lang="en-US" sz="1000" dirty="0">
                <a:solidFill>
                  <a:srgbClr val="1F2933"/>
                </a:solidFill>
                <a:latin typeface="Calibri" pitchFamily="34" charset="0"/>
                <a:ea typeface="Calibri" pitchFamily="34" charset="-122"/>
                <a:cs typeface="Calibri" pitchFamily="34" charset="-120"/>
              </a:rPr>
              <a:t>Feed the airport DP and the per-stop payment note</a:t>
            </a:r>
            <a:endParaRPr lang="en-US" sz="1000" dirty="0"/>
          </a:p>
        </p:txBody>
      </p:sp>
      <p:sp>
        <p:nvSpPr>
          <p:cNvPr id="14" name="Shape 10"/>
          <p:cNvSpPr/>
          <p:nvPr/>
        </p:nvSpPr>
        <p:spPr>
          <a:xfrm>
            <a:off x="6035040" y="1371600"/>
            <a:ext cx="2606040" cy="3246120"/>
          </a:xfrm>
          <a:prstGeom prst="roundRect">
            <a:avLst>
              <a:gd name="adj" fmla="val 2807"/>
            </a:avLst>
          </a:prstGeom>
          <a:solidFill>
            <a:srgbClr val="EEF2F5"/>
          </a:solidFill>
          <a:ln w="12700">
            <a:solidFill>
              <a:srgbClr val="EEF2F5"/>
            </a:solidFill>
            <a:prstDash val="solid"/>
          </a:ln>
        </p:spPr>
      </p:sp>
      <p:sp>
        <p:nvSpPr>
          <p:cNvPr id="15" name="Shape 11"/>
          <p:cNvSpPr/>
          <p:nvPr/>
        </p:nvSpPr>
        <p:spPr>
          <a:xfrm>
            <a:off x="6172200" y="1508760"/>
            <a:ext cx="411480" cy="411480"/>
          </a:xfrm>
          <a:prstGeom prst="ellipse">
            <a:avLst/>
          </a:prstGeom>
          <a:solidFill>
            <a:srgbClr val="E39B2B"/>
          </a:solidFill>
          <a:ln w="12700">
            <a:solidFill>
              <a:srgbClr val="E39B2B"/>
            </a:solidFill>
            <a:prstDash val="solid"/>
          </a:ln>
        </p:spPr>
      </p:sp>
      <p:pic>
        <p:nvPicPr>
          <p:cNvPr id="16" name="Image 2" descr="preencoded.png">    </p:cNvPr>
          <p:cNvPicPr>
            <a:picLocks noChangeAspect="1"/>
          </p:cNvPicPr>
          <p:nvPr/>
        </p:nvPicPr>
        <p:blipFill>
          <a:blip r:embed="rId3"/>
          <a:stretch>
            <a:fillRect/>
          </a:stretch>
        </p:blipFill>
        <p:spPr>
          <a:xfrm>
            <a:off x="6270955" y="1607515"/>
            <a:ext cx="213970" cy="213970"/>
          </a:xfrm>
          <a:prstGeom prst="rect">
            <a:avLst/>
          </a:prstGeom>
        </p:spPr>
      </p:pic>
      <p:sp>
        <p:nvSpPr>
          <p:cNvPr id="17" name="Text 12"/>
          <p:cNvSpPr txBox="1"/>
          <p:nvPr/>
        </p:nvSpPr>
        <p:spPr>
          <a:xfrm>
            <a:off x="6675120" y="1463040"/>
            <a:ext cx="1874520" cy="548640"/>
          </a:xfrm>
          <a:prstGeom prst="rect">
            <a:avLst/>
          </a:prstGeom>
          <a:noFill/>
          <a:ln/>
        </p:spPr>
        <p:txBody>
          <a:bodyPr wrap="square" lIns="0" tIns="0" rIns="0" bIns="0" rtlCol="0" anchor="ctr"/>
          <a:lstStyle/>
          <a:p>
            <a:pPr indent="0" marL="0">
              <a:buNone/>
            </a:pPr>
            <a:r>
              <a:rPr lang="en-US" sz="1250" b="1" dirty="0">
                <a:solidFill>
                  <a:srgbClr val="1B2A38"/>
                </a:solidFill>
                <a:latin typeface="Calibri" pitchFamily="34" charset="0"/>
                <a:ea typeface="Calibri" pitchFamily="34" charset="-122"/>
                <a:cs typeface="Calibri" pitchFamily="34" charset="-120"/>
              </a:rPr>
              <a:t>Advisory · the rest</a:t>
            </a:r>
            <a:endParaRPr lang="en-US" sz="1250" dirty="0"/>
          </a:p>
          <a:p>
            <a:pPr indent="0" marL="0">
              <a:buNone/>
            </a:pPr>
            <a:r>
              <a:rPr lang="en-US" sz="950" dirty="0">
                <a:solidFill>
                  <a:srgbClr val="6B7A88"/>
                </a:solidFill>
                <a:latin typeface="Calibri" pitchFamily="34" charset="0"/>
                <a:ea typeface="Calibri" pitchFamily="34" charset="-122"/>
                <a:cs typeface="Calibri" pitchFamily="34" charset="-120"/>
              </a:rPr>
              <a:t>Crew briefing, not route gating</a:t>
            </a:r>
            <a:endParaRPr lang="en-US" sz="1250" dirty="0"/>
          </a:p>
        </p:txBody>
      </p:sp>
      <p:sp>
        <p:nvSpPr>
          <p:cNvPr id="18" name="Text 13"/>
          <p:cNvSpPr txBox="1"/>
          <p:nvPr/>
        </p:nvSpPr>
        <p:spPr>
          <a:xfrm>
            <a:off x="6172200" y="2103120"/>
            <a:ext cx="2331720" cy="2468880"/>
          </a:xfrm>
          <a:prstGeom prst="rect">
            <a:avLst/>
          </a:prstGeom>
          <a:noFill/>
          <a:ln/>
        </p:spPr>
        <p:txBody>
          <a:bodyPr wrap="square" lIns="0" tIns="0" rIns="0" bIns="0" rtlCol="0" anchor="t"/>
          <a:lstStyle/>
          <a:p>
            <a:pPr marL="342900" indent="-342900">
              <a:spcAft>
                <a:spcPts val="600"/>
              </a:spcAft>
              <a:buSzPct val="100000"/>
              <a:buChar char="•"/>
            </a:pPr>
            <a:r>
              <a:rPr lang="en-US" sz="1000" dirty="0">
                <a:solidFill>
                  <a:srgbClr val="1F2933"/>
                </a:solidFill>
                <a:latin typeface="Calibri" pitchFamily="34" charset="0"/>
                <a:ea typeface="Calibri" pitchFamily="34" charset="-122"/>
                <a:cs typeface="Calibri" pitchFamily="34" charset="-120"/>
              </a:rPr>
              <a:t>Billeting, transport, medical, comms and similar items inform the crew but cannot make a route infeasible</a:t>
            </a:r>
            <a:endParaRPr lang="en-US" sz="1000" dirty="0"/>
          </a:p>
          <a:p>
            <a:pPr marL="342900" indent="-342900">
              <a:spcAft>
                <a:spcPts val="600"/>
              </a:spcAft>
              <a:buSzPct val="100000"/>
              <a:buChar char="•"/>
            </a:pPr>
            <a:r>
              <a:rPr lang="en-US" sz="1000" dirty="0">
                <a:solidFill>
                  <a:srgbClr val="1F2933"/>
                </a:solidFill>
                <a:latin typeface="Calibri" pitchFamily="34" charset="0"/>
                <a:ea typeface="Calibri" pitchFamily="34" charset="-122"/>
                <a:cs typeface="Calibri" pitchFamily="34" charset="-120"/>
              </a:rPr>
              <a:t>Kept out of the judge prompt: every extra field adds up to 2,500 chars per country per pass, and irrelevant text invites spurious denials</a:t>
            </a:r>
            <a:endParaRPr lang="en-US" sz="1000" dirty="0"/>
          </a:p>
          <a:p>
            <a:pPr marL="342900" indent="-342900">
              <a:spcAft>
                <a:spcPts val="600"/>
              </a:spcAft>
              <a:buSzPct val="100000"/>
              <a:buChar char="•"/>
            </a:pPr>
            <a:r>
              <a:rPr lang="en-US" sz="1000" dirty="0">
                <a:solidFill>
                  <a:srgbClr val="1F2933"/>
                </a:solidFill>
                <a:latin typeface="Calibri" pitchFamily="34" charset="0"/>
                <a:ea typeface="Calibri" pitchFamily="34" charset="-122"/>
                <a:cs typeface="Calibri" pitchFamily="34" charset="-120"/>
              </a:rPr>
              <a:t>Next increment: print them verbatim in the per-stop briefing so nothing is silently dropped</a:t>
            </a:r>
            <a:endParaRPr lang="en-US" sz="1000" dirty="0"/>
          </a:p>
        </p:txBody>
      </p:sp>
      <p:sp>
        <p:nvSpPr>
          <p:cNvPr id="19" name="Text 14"/>
          <p:cNvSpPr txBox="1"/>
          <p:nvPr/>
        </p:nvSpPr>
        <p:spPr>
          <a:xfrm>
            <a:off x="457200" y="4800600"/>
            <a:ext cx="8229600" cy="22860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CAITT · FCG Agentic Pipeline ·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rgbClr val="1B2A38"/>
                </a:solidFill>
                <a:latin typeface="Cambria" pitchFamily="34" charset="0"/>
                <a:ea typeface="Cambria" pitchFamily="34" charset="-122"/>
                <a:cs typeface="Cambria" pitchFamily="34" charset="-120"/>
              </a:rPr>
              <a:t>Design defense 3: code owns hard constraints</a:t>
            </a:r>
            <a:endParaRPr lang="en-US" sz="2600" dirty="0"/>
          </a:p>
        </p:txBody>
      </p:sp>
      <p:sp>
        <p:nvSpPr>
          <p:cNvPr id="3" name="Text 1"/>
          <p:cNvSpPr txBox="1"/>
          <p:nvPr/>
        </p:nvSpPr>
        <p:spPr>
          <a:xfrm>
            <a:off x="457200" y="868680"/>
            <a:ext cx="8229600" cy="320040"/>
          </a:xfrm>
          <a:prstGeom prst="rect">
            <a:avLst/>
          </a:prstGeom>
          <a:noFill/>
          <a:ln/>
        </p:spPr>
        <p:txBody>
          <a:bodyPr wrap="square" lIns="0" tIns="0" rIns="0" bIns="0" rtlCol="0" anchor="ctr"/>
          <a:lstStyle/>
          <a:p>
            <a:pPr indent="0" marL="0">
              <a:buNone/>
            </a:pPr>
            <a:r>
              <a:rPr lang="en-US" sz="1300" i="1" dirty="0">
                <a:solidFill>
                  <a:srgbClr val="6B7A88"/>
                </a:solidFill>
                <a:latin typeface="Calibri" pitchFamily="34" charset="0"/>
                <a:ea typeface="Calibri" pitchFamily="34" charset="-122"/>
                <a:cs typeface="Calibri" pitchFamily="34" charset="-120"/>
              </a:rPr>
              <a:t>Every decision has one owner. Language and estimation go to the model; facts and rules go to code.</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2743200"/>
                <a:gridCol w="2011680"/>
                <a:gridCol w="3474720"/>
              </a:tblGrid>
              <a:tr h="34747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Decision</a:t>
                      </a:r>
                      <a:endParaRPr lang="en-US" sz="1150" dirty="0">
                        <a:latin typeface="Calibri" charset="0"/>
                        <a:ea typeface="Calibri" charset="0"/>
                        <a:cs typeface="Calibri" charset="0"/>
                      </a:endParaRPr>
                    </a:p>
                  </a:txBody>
                  <a:tcPr marL="54864" marR="54864" marT="54864" marB="54864"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1B2A38"/>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Owner</a:t>
                      </a:r>
                      <a:endParaRPr lang="en-US" sz="1150" dirty="0">
                        <a:latin typeface="Calibri" charset="0"/>
                        <a:ea typeface="Calibri" charset="0"/>
                        <a:cs typeface="Calibri" charset="0"/>
                      </a:endParaRPr>
                    </a:p>
                  </a:txBody>
                  <a:tcPr marL="54864" marR="54864" marT="54864" marB="54864"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1B2A38"/>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Why this owner</a:t>
                      </a:r>
                      <a:endParaRPr lang="en-US" sz="1150" dirty="0">
                        <a:latin typeface="Calibri" charset="0"/>
                        <a:ea typeface="Calibri" charset="0"/>
                        <a:cs typeface="Calibri" charset="0"/>
                      </a:endParaRPr>
                    </a:p>
                  </a:txBody>
                  <a:tcPr marL="54864" marR="54864" marT="54864" marB="54864"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1B2A38"/>
                    </a:solidFill>
                  </a:tcPr>
                </a:tc>
              </a:tr>
              <a:tr h="347472">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Distances, fuel cost, route ranking</a:t>
                      </a:r>
                      <a:endParaRPr lang="en-US" sz="1050" dirty="0">
                        <a:latin typeface="Calibri" charset="0"/>
                        <a:ea typeface="Calibri" charset="0"/>
                        <a:cs typeface="Calibri" charset="0"/>
                      </a:endParaRPr>
                    </a:p>
                  </a:txBody>
                  <a:tcPr marL="54864" marR="54864" marT="54864" marB="54864"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50" b="1" dirty="0">
                          <a:solidFill>
                            <a:srgbClr val="1F2933"/>
                          </a:solidFill>
                          <a:latin typeface="Calibri" pitchFamily="34" charset="0"/>
                          <a:ea typeface="Calibri" pitchFamily="34" charset="-122"/>
                          <a:cs typeface="Calibri" pitchFamily="34" charset="-120"/>
                        </a:rPr>
                        <a:t>Code</a:t>
                      </a:r>
                      <a:endParaRPr lang="en-US" sz="1050" dirty="0">
                        <a:latin typeface="Calibri" charset="0"/>
                        <a:ea typeface="Calibri" charset="0"/>
                        <a:cs typeface="Calibri" charset="0"/>
                      </a:endParaRPr>
                    </a:p>
                  </a:txBody>
                  <a:tcPr marL="54864" marR="54864" marT="54864" marB="54864"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Arithmetic must be reproducible and explainable to a planner.</a:t>
                      </a:r>
                      <a:endParaRPr lang="en-US" sz="1050" dirty="0">
                        <a:latin typeface="Calibri" charset="0"/>
                        <a:ea typeface="Calibri" charset="0"/>
                        <a:cs typeface="Calibri" charset="0"/>
                      </a:endParaRPr>
                    </a:p>
                  </a:txBody>
                  <a:tcPr marL="54864" marR="54864" marT="54864" marB="54864"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r>
              <a:tr h="347472">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Clearance requirements per country</a:t>
                      </a:r>
                      <a:endParaRPr lang="en-US" sz="1050" dirty="0">
                        <a:latin typeface="Calibri" charset="0"/>
                        <a:ea typeface="Calibri" charset="0"/>
                        <a:cs typeface="Calibri" charset="0"/>
                      </a:endParaRPr>
                    </a:p>
                  </a:txBody>
                  <a:tcPr marL="54864" marR="54864" marT="54864" marB="54864"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EEF2F5"/>
                    </a:solidFill>
                  </a:tcPr>
                </a:tc>
                <a:tc>
                  <a:txBody>
                    <a:bodyPr/>
                    <a:lstStyle/>
                    <a:p>
                      <a:pPr indent="0" marL="0">
                        <a:buNone/>
                      </a:pPr>
                      <a:r>
                        <a:rPr lang="en-US" sz="1050" b="1" dirty="0">
                          <a:solidFill>
                            <a:srgbClr val="1F2933"/>
                          </a:solidFill>
                          <a:latin typeface="Calibri" pitchFamily="34" charset="0"/>
                          <a:ea typeface="Calibri" pitchFamily="34" charset="-122"/>
                          <a:cs typeface="Calibri" pitchFamily="34" charset="-120"/>
                        </a:rPr>
                        <a:t>CSV (verbatim FCG)</a:t>
                      </a:r>
                      <a:endParaRPr lang="en-US" sz="1050" dirty="0">
                        <a:latin typeface="Calibri" charset="0"/>
                        <a:ea typeface="Calibri" charset="0"/>
                        <a:cs typeface="Calibri" charset="0"/>
                      </a:endParaRPr>
                    </a:p>
                  </a:txBody>
                  <a:tcPr marL="54864" marR="54864" marT="54864" marB="54864"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EEF2F5"/>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Provenance-backed text, not model recollection.</a:t>
                      </a:r>
                      <a:endParaRPr lang="en-US" sz="1050" dirty="0">
                        <a:latin typeface="Calibri" charset="0"/>
                        <a:ea typeface="Calibri" charset="0"/>
                        <a:cs typeface="Calibri" charset="0"/>
                      </a:endParaRPr>
                    </a:p>
                  </a:txBody>
                  <a:tcPr marL="54864" marR="54864" marT="54864" marB="54864"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EEF2F5"/>
                    </a:solidFill>
                  </a:tcPr>
                </a:tc>
              </a:tr>
              <a:tr h="347472">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Minimum lead days per country</a:t>
                      </a:r>
                      <a:endParaRPr lang="en-US" sz="1050" dirty="0">
                        <a:latin typeface="Calibri" charset="0"/>
                        <a:ea typeface="Calibri" charset="0"/>
                        <a:cs typeface="Calibri" charset="0"/>
                      </a:endParaRPr>
                    </a:p>
                  </a:txBody>
                  <a:tcPr marL="54864" marR="54864" marT="54864" marB="54864"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50" b="1" dirty="0">
                          <a:solidFill>
                            <a:srgbClr val="1F2933"/>
                          </a:solidFill>
                          <a:latin typeface="Calibri" pitchFamily="34" charset="0"/>
                          <a:ea typeface="Calibri" pitchFamily="34" charset="-122"/>
                          <a:cs typeface="Calibri" pitchFamily="34" charset="-120"/>
                        </a:rPr>
                        <a:t>Judge LLM extracts → code stores</a:t>
                      </a:r>
                      <a:endParaRPr lang="en-US" sz="1050" dirty="0">
                        <a:latin typeface="Calibri" charset="0"/>
                        <a:ea typeface="Calibri" charset="0"/>
                        <a:cs typeface="Calibri" charset="0"/>
                      </a:endParaRPr>
                    </a:p>
                  </a:txBody>
                  <a:tcPr marL="54864" marR="54864" marT="54864" marB="54864"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Reading prose is a language task; the number is then treated as data.</a:t>
                      </a:r>
                      <a:endParaRPr lang="en-US" sz="1050" dirty="0">
                        <a:latin typeface="Calibri" charset="0"/>
                        <a:ea typeface="Calibri" charset="0"/>
                        <a:cs typeface="Calibri" charset="0"/>
                      </a:endParaRPr>
                    </a:p>
                  </a:txBody>
                  <a:tcPr marL="54864" marR="54864" marT="54864" marB="54864"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r>
              <a:tr h="347472">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Feasibility vs. days-until-mission</a:t>
                      </a:r>
                      <a:endParaRPr lang="en-US" sz="1050" dirty="0">
                        <a:latin typeface="Calibri" charset="0"/>
                        <a:ea typeface="Calibri" charset="0"/>
                        <a:cs typeface="Calibri" charset="0"/>
                      </a:endParaRPr>
                    </a:p>
                  </a:txBody>
                  <a:tcPr marL="54864" marR="54864" marT="54864" marB="54864"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EEF2F5"/>
                    </a:solidFill>
                  </a:tcPr>
                </a:tc>
                <a:tc>
                  <a:txBody>
                    <a:bodyPr/>
                    <a:lstStyle/>
                    <a:p>
                      <a:pPr indent="0" marL="0">
                        <a:buNone/>
                      </a:pPr>
                      <a:r>
                        <a:rPr lang="en-US" sz="1050" b="1" dirty="0">
                          <a:solidFill>
                            <a:srgbClr val="1F2933"/>
                          </a:solidFill>
                          <a:latin typeface="Calibri" pitchFamily="34" charset="0"/>
                          <a:ea typeface="Calibri" pitchFamily="34" charset="-122"/>
                          <a:cs typeface="Calibri" pitchFamily="34" charset="-120"/>
                        </a:rPr>
                        <a:t>Code</a:t>
                      </a:r>
                      <a:endParaRPr lang="en-US" sz="1050" dirty="0">
                        <a:latin typeface="Calibri" charset="0"/>
                        <a:ea typeface="Calibri" charset="0"/>
                        <a:cs typeface="Calibri" charset="0"/>
                      </a:endParaRPr>
                    </a:p>
                  </a:txBody>
                  <a:tcPr marL="54864" marR="54864" marT="54864" marB="54864"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EEF2F5"/>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A comparison the model should never be trusted to perform or waive.</a:t>
                      </a:r>
                      <a:endParaRPr lang="en-US" sz="1050" dirty="0">
                        <a:latin typeface="Calibri" charset="0"/>
                        <a:ea typeface="Calibri" charset="0"/>
                        <a:cs typeface="Calibri" charset="0"/>
                      </a:endParaRPr>
                    </a:p>
                  </a:txBody>
                  <a:tcPr marL="54864" marR="54864" marT="54864" marB="54864"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EEF2F5"/>
                    </a:solidFill>
                  </a:tcPr>
                </a:tc>
              </a:tr>
              <a:tr h="347472">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Entity resolution (FRA, MEIS codes)</a:t>
                      </a:r>
                      <a:endParaRPr lang="en-US" sz="1050" dirty="0">
                        <a:latin typeface="Calibri" charset="0"/>
                        <a:ea typeface="Calibri" charset="0"/>
                        <a:cs typeface="Calibri" charset="0"/>
                      </a:endParaRPr>
                    </a:p>
                  </a:txBody>
                  <a:tcPr marL="54864" marR="54864" marT="54864" marB="54864"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50" b="1" dirty="0">
                          <a:solidFill>
                            <a:srgbClr val="1F2933"/>
                          </a:solidFill>
                          <a:latin typeface="Calibri" pitchFamily="34" charset="0"/>
                          <a:ea typeface="Calibri" pitchFamily="34" charset="-122"/>
                          <a:cs typeface="Calibri" pitchFamily="34" charset="-120"/>
                        </a:rPr>
                        <a:t>Closed-world lookup</a:t>
                      </a:r>
                      <a:endParaRPr lang="en-US" sz="1050" dirty="0">
                        <a:latin typeface="Calibri" charset="0"/>
                        <a:ea typeface="Calibri" charset="0"/>
                        <a:cs typeface="Calibri" charset="0"/>
                      </a:endParaRPr>
                    </a:p>
                  </a:txBody>
                  <a:tcPr marL="54864" marR="54864" marT="54864" marB="54864"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Ambiguity is resolved by table, so results never drift between runs.</a:t>
                      </a:r>
                      <a:endParaRPr lang="en-US" sz="1050" dirty="0">
                        <a:latin typeface="Calibri" charset="0"/>
                        <a:ea typeface="Calibri" charset="0"/>
                        <a:cs typeface="Calibri" charset="0"/>
                      </a:endParaRPr>
                    </a:p>
                  </a:txBody>
                  <a:tcPr marL="54864" marR="54864" marT="54864" marB="54864"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r>
              <a:tr h="347472">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Geography estimation, narrative output</a:t>
                      </a:r>
                      <a:endParaRPr lang="en-US" sz="1050" dirty="0">
                        <a:latin typeface="Calibri" charset="0"/>
                        <a:ea typeface="Calibri" charset="0"/>
                        <a:cs typeface="Calibri" charset="0"/>
                      </a:endParaRPr>
                    </a:p>
                  </a:txBody>
                  <a:tcPr marL="54864" marR="54864" marT="54864" marB="54864"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EEF2F5"/>
                    </a:solidFill>
                  </a:tcPr>
                </a:tc>
                <a:tc>
                  <a:txBody>
                    <a:bodyPr/>
                    <a:lstStyle/>
                    <a:p>
                      <a:pPr indent="0" marL="0">
                        <a:buNone/>
                      </a:pPr>
                      <a:r>
                        <a:rPr lang="en-US" sz="1050" b="1" dirty="0">
                          <a:solidFill>
                            <a:srgbClr val="1F2933"/>
                          </a:solidFill>
                          <a:latin typeface="Calibri" pitchFamily="34" charset="0"/>
                          <a:ea typeface="Calibri" pitchFamily="34" charset="-122"/>
                          <a:cs typeface="Calibri" pitchFamily="34" charset="-120"/>
                        </a:rPr>
                        <a:t>LLM</a:t>
                      </a:r>
                      <a:endParaRPr lang="en-US" sz="1050" dirty="0">
                        <a:latin typeface="Calibri" charset="0"/>
                        <a:ea typeface="Calibri" charset="0"/>
                        <a:cs typeface="Calibri" charset="0"/>
                      </a:endParaRPr>
                    </a:p>
                  </a:txBody>
                  <a:tcPr marL="54864" marR="54864" marT="54864" marB="54864"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EEF2F5"/>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Where fluency and world knowledge genuinely add value.</a:t>
                      </a:r>
                      <a:endParaRPr lang="en-US" sz="1050" dirty="0">
                        <a:latin typeface="Calibri" charset="0"/>
                        <a:ea typeface="Calibri" charset="0"/>
                        <a:cs typeface="Calibri" charset="0"/>
                      </a:endParaRPr>
                    </a:p>
                  </a:txBody>
                  <a:tcPr marL="54864" marR="54864" marT="54864" marB="54864"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EEF2F5"/>
                    </a:solidFill>
                  </a:tcPr>
                </a:tc>
              </a:tr>
              <a:tr h="347472">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User-pinned airports</a:t>
                      </a:r>
                      <a:endParaRPr lang="en-US" sz="1050" dirty="0">
                        <a:latin typeface="Calibri" charset="0"/>
                        <a:ea typeface="Calibri" charset="0"/>
                        <a:cs typeface="Calibri" charset="0"/>
                      </a:endParaRPr>
                    </a:p>
                  </a:txBody>
                  <a:tcPr marL="54864" marR="54864" marT="54864" marB="54864"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50" b="1" dirty="0">
                          <a:solidFill>
                            <a:srgbClr val="1F2933"/>
                          </a:solidFill>
                          <a:latin typeface="Calibri" pitchFamily="34" charset="0"/>
                          <a:ea typeface="Calibri" pitchFamily="34" charset="-122"/>
                          <a:cs typeface="Calibri" pitchFamily="34" charset="-120"/>
                        </a:rPr>
                        <a:t>User, absolutely</a:t>
                      </a:r>
                      <a:endParaRPr lang="en-US" sz="1050" dirty="0">
                        <a:latin typeface="Calibri" charset="0"/>
                        <a:ea typeface="Calibri" charset="0"/>
                        <a:cs typeface="Calibri" charset="0"/>
                      </a:endParaRPr>
                    </a:p>
                  </a:txBody>
                  <a:tcPr marL="54864" marR="54864" marT="54864" marB="54864"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The judge can flag but cannot ban an operator decision.</a:t>
                      </a:r>
                      <a:endParaRPr lang="en-US" sz="1050" dirty="0">
                        <a:latin typeface="Calibri" charset="0"/>
                        <a:ea typeface="Calibri" charset="0"/>
                        <a:cs typeface="Calibri" charset="0"/>
                      </a:endParaRPr>
                    </a:p>
                  </a:txBody>
                  <a:tcPr marL="54864" marR="54864" marT="54864" marB="54864"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FFFFFF"/>
                    </a:solidFill>
                  </a:tcPr>
                </a:tc>
              </a:tr>
              <a:tr h="347472">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Plan → check → replan loop</a:t>
                      </a:r>
                      <a:endParaRPr lang="en-US" sz="1050" dirty="0">
                        <a:latin typeface="Calibri" charset="0"/>
                        <a:ea typeface="Calibri" charset="0"/>
                        <a:cs typeface="Calibri" charset="0"/>
                      </a:endParaRPr>
                    </a:p>
                  </a:txBody>
                  <a:tcPr marL="54864" marR="54864" marT="54864" marB="54864"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EEF2F5"/>
                    </a:solidFill>
                  </a:tcPr>
                </a:tc>
                <a:tc>
                  <a:txBody>
                    <a:bodyPr/>
                    <a:lstStyle/>
                    <a:p>
                      <a:pPr indent="0" marL="0">
                        <a:buNone/>
                      </a:pPr>
                      <a:r>
                        <a:rPr lang="en-US" sz="1050" b="1" dirty="0">
                          <a:solidFill>
                            <a:srgbClr val="1F2933"/>
                          </a:solidFill>
                          <a:latin typeface="Calibri" pitchFamily="34" charset="0"/>
                          <a:ea typeface="Calibri" pitchFamily="34" charset="-122"/>
                          <a:cs typeface="Calibri" pitchFamily="34" charset="-120"/>
                        </a:rPr>
                        <a:t>Code</a:t>
                      </a:r>
                      <a:endParaRPr lang="en-US" sz="1050" dirty="0">
                        <a:latin typeface="Calibri" charset="0"/>
                        <a:ea typeface="Calibri" charset="0"/>
                        <a:cs typeface="Calibri" charset="0"/>
                      </a:endParaRPr>
                    </a:p>
                  </a:txBody>
                  <a:tcPr marL="54864" marR="54864" marT="54864" marB="54864"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EEF2F5"/>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Each pass permanently bans an airport or blocks a country, so it converges (10-pass ceiling).</a:t>
                      </a:r>
                      <a:endParaRPr lang="en-US" sz="1050" dirty="0">
                        <a:latin typeface="Calibri" charset="0"/>
                        <a:ea typeface="Calibri" charset="0"/>
                        <a:cs typeface="Calibri" charset="0"/>
                      </a:endParaRPr>
                    </a:p>
                  </a:txBody>
                  <a:tcPr marL="54864" marR="54864" marT="54864" marB="54864" anchor="ctr">
                    <a:lnL w="6350" cap="flat" cmpd="sng" algn="ctr">
                      <a:solidFill>
                        <a:srgbClr val="D5DDE4"/>
                      </a:solidFill>
                      <a:prstDash val="solid"/>
                      <a:round/>
                      <a:headEnd type="none" w="med" len="med"/>
                      <a:tailEnd type="none" w="med" len="med"/>
                    </a:lnL>
                    <a:lnR w="6350" cap="flat" cmpd="sng" algn="ctr">
                      <a:solidFill>
                        <a:srgbClr val="D5DDE4"/>
                      </a:solidFill>
                      <a:prstDash val="solid"/>
                      <a:round/>
                      <a:headEnd type="none" w="med" len="med"/>
                      <a:tailEnd type="none" w="med" len="med"/>
                    </a:lnR>
                    <a:lnT w="6350" cap="flat" cmpd="sng" algn="ctr">
                      <a:solidFill>
                        <a:srgbClr val="D5DDE4"/>
                      </a:solidFill>
                      <a:prstDash val="solid"/>
                      <a:round/>
                      <a:headEnd type="none" w="med" len="med"/>
                      <a:tailEnd type="none" w="med" len="med"/>
                    </a:lnT>
                    <a:lnB w="6350" cap="flat" cmpd="sng" algn="ctr">
                      <a:solidFill>
                        <a:srgbClr val="D5DDE4"/>
                      </a:solidFill>
                      <a:prstDash val="solid"/>
                      <a:round/>
                      <a:headEnd type="none" w="med" len="med"/>
                      <a:tailEnd type="none" w="med" len="med"/>
                    </a:lnB>
                    <a:solidFill>
                      <a:srgbClr val="EEF2F5"/>
                    </a:solidFill>
                  </a:tcPr>
                </a:tc>
              </a:tr>
            </a:tbl>
          </a:graphicData>
        </a:graphic>
      </p:graphicFrame>
      <p:sp>
        <p:nvSpPr>
          <p:cNvPr id="5" name="Text 2"/>
          <p:cNvSpPr txBox="1"/>
          <p:nvPr/>
        </p:nvSpPr>
        <p:spPr>
          <a:xfrm>
            <a:off x="457200" y="4800600"/>
            <a:ext cx="8229600" cy="22860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CAITT · FCG Agentic Pipeline ·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rgbClr val="1B2A38"/>
                </a:solidFill>
                <a:latin typeface="Cambria" pitchFamily="34" charset="0"/>
                <a:ea typeface="Cambria" pitchFamily="34" charset="-122"/>
                <a:cs typeface="Cambria" pitchFamily="34" charset="-120"/>
              </a:rPr>
              <a:t>Design defense 4: search that finds the route</a:t>
            </a:r>
            <a:endParaRPr lang="en-US" sz="2600" dirty="0"/>
          </a:p>
        </p:txBody>
      </p:sp>
      <p:sp>
        <p:nvSpPr>
          <p:cNvPr id="3" name="Text 1"/>
          <p:cNvSpPr txBox="1"/>
          <p:nvPr/>
        </p:nvSpPr>
        <p:spPr>
          <a:xfrm>
            <a:off x="457200" y="868680"/>
            <a:ext cx="8229600" cy="320040"/>
          </a:xfrm>
          <a:prstGeom prst="rect">
            <a:avLst/>
          </a:prstGeom>
          <a:noFill/>
          <a:ln/>
        </p:spPr>
        <p:txBody>
          <a:bodyPr wrap="square" lIns="0" tIns="0" rIns="0" bIns="0" rtlCol="0" anchor="ctr"/>
          <a:lstStyle/>
          <a:p>
            <a:pPr indent="0" marL="0">
              <a:buNone/>
            </a:pPr>
            <a:r>
              <a:rPr lang="en-US" sz="1300" i="1" dirty="0">
                <a:solidFill>
                  <a:srgbClr val="6B7A88"/>
                </a:solidFill>
                <a:latin typeface="Calibri" pitchFamily="34" charset="0"/>
                <a:ea typeface="Calibri" pitchFamily="34" charset="-122"/>
                <a:cs typeface="Calibri" pitchFamily="34" charset="-120"/>
              </a:rPr>
              <a:t>Optimality and scaling came from replacing enumeration with graph algorithms.</a:t>
            </a:r>
            <a:endParaRPr lang="en-US" sz="1300" dirty="0"/>
          </a:p>
        </p:txBody>
      </p:sp>
      <p:sp>
        <p:nvSpPr>
          <p:cNvPr id="4" name="Shape 2"/>
          <p:cNvSpPr/>
          <p:nvPr/>
        </p:nvSpPr>
        <p:spPr>
          <a:xfrm>
            <a:off x="457200" y="1371600"/>
            <a:ext cx="3931920" cy="1554480"/>
          </a:xfrm>
          <a:prstGeom prst="roundRect">
            <a:avLst>
              <a:gd name="adj" fmla="val 4706"/>
            </a:avLst>
          </a:prstGeom>
          <a:solidFill>
            <a:srgbClr val="F4F5F6"/>
          </a:solidFill>
          <a:ln w="12700">
            <a:solidFill>
              <a:srgbClr val="F4F5F6"/>
            </a:solidFill>
            <a:prstDash val="solid"/>
          </a:ln>
        </p:spPr>
      </p:sp>
      <p:sp>
        <p:nvSpPr>
          <p:cNvPr id="5" name="Text 3"/>
          <p:cNvSpPr txBox="1"/>
          <p:nvPr/>
        </p:nvSpPr>
        <p:spPr>
          <a:xfrm>
            <a:off x="640080" y="1463040"/>
            <a:ext cx="3566160" cy="365760"/>
          </a:xfrm>
          <a:prstGeom prst="rect">
            <a:avLst/>
          </a:prstGeom>
          <a:noFill/>
          <a:ln/>
        </p:spPr>
        <p:txBody>
          <a:bodyPr wrap="square" lIns="0" tIns="0" rIns="0" bIns="0" rtlCol="0" anchor="ctr"/>
          <a:lstStyle/>
          <a:p>
            <a:pPr indent="0" marL="0">
              <a:buNone/>
            </a:pPr>
            <a:r>
              <a:rPr lang="en-US" sz="1400" b="1" dirty="0">
                <a:solidFill>
                  <a:srgbClr val="B5473C"/>
                </a:solidFill>
                <a:latin typeface="Calibri" pitchFamily="34" charset="0"/>
                <a:ea typeface="Calibri" pitchFamily="34" charset="-122"/>
                <a:cs typeface="Calibri" pitchFamily="34" charset="-120"/>
              </a:rPr>
              <a:t>Earlier: fixed-depth stepping stones</a:t>
            </a:r>
            <a:endParaRPr lang="en-US" sz="1400" dirty="0"/>
          </a:p>
        </p:txBody>
      </p:sp>
      <p:sp>
        <p:nvSpPr>
          <p:cNvPr id="6" name="Text 4"/>
          <p:cNvSpPr txBox="1"/>
          <p:nvPr/>
        </p:nvSpPr>
        <p:spPr>
          <a:xfrm>
            <a:off x="640080" y="1874520"/>
            <a:ext cx="3566160" cy="100584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F2933"/>
                </a:solidFill>
                <a:latin typeface="Calibri" pitchFamily="34" charset="0"/>
                <a:ea typeface="Calibri" pitchFamily="34" charset="-122"/>
                <a:cs typeface="Calibri" pitchFamily="34" charset="-120"/>
              </a:rPr>
              <a:t>Enumerated intermediate countries to a set depth.</a:t>
            </a:r>
            <a:endParaRPr lang="en-US" sz="1150" dirty="0"/>
          </a:p>
          <a:p>
            <a:pPr marL="342900" indent="-342900">
              <a:spcAft>
                <a:spcPts val="600"/>
              </a:spcAft>
              <a:buSzPct val="100000"/>
              <a:buChar char="•"/>
            </a:pPr>
            <a:r>
              <a:rPr lang="en-US" sz="1150" dirty="0">
                <a:solidFill>
                  <a:srgbClr val="1F2933"/>
                </a:solidFill>
                <a:latin typeface="Calibri" pitchFamily="34" charset="0"/>
                <a:ea typeface="Calibri" pitchFamily="34" charset="-122"/>
                <a:cs typeface="Calibri" pitchFamily="34" charset="-120"/>
              </a:rPr>
              <a:t>Missed better routes one hop deeper; cost grew combinatorially.</a:t>
            </a:r>
            <a:endParaRPr lang="en-US" sz="1150" dirty="0"/>
          </a:p>
          <a:p>
            <a:pPr marL="342900" indent="-342900">
              <a:spcAft>
                <a:spcPts val="600"/>
              </a:spcAft>
              <a:buSzPct val="100000"/>
              <a:buChar char="•"/>
            </a:pPr>
            <a:r>
              <a:rPr lang="en-US" sz="1150" dirty="0">
                <a:solidFill>
                  <a:srgbClr val="1F2933"/>
                </a:solidFill>
                <a:latin typeface="Calibri" pitchFamily="34" charset="0"/>
                <a:ea typeface="Calibri" pitchFamily="34" charset="-122"/>
                <a:cs typeface="Calibri" pitchFamily="34" charset="-120"/>
              </a:rPr>
              <a:t>Corridor countries were reported alphabetically, not in flight order.</a:t>
            </a:r>
            <a:endParaRPr lang="en-US" sz="1150" dirty="0"/>
          </a:p>
        </p:txBody>
      </p:sp>
      <p:sp>
        <p:nvSpPr>
          <p:cNvPr id="7" name="Shape 5"/>
          <p:cNvSpPr/>
          <p:nvPr/>
        </p:nvSpPr>
        <p:spPr>
          <a:xfrm>
            <a:off x="4754880" y="1371600"/>
            <a:ext cx="3931920" cy="1554480"/>
          </a:xfrm>
          <a:prstGeom prst="roundRect">
            <a:avLst>
              <a:gd name="adj" fmla="val 4706"/>
            </a:avLst>
          </a:prstGeom>
          <a:solidFill>
            <a:srgbClr val="FBF1DE"/>
          </a:solidFill>
          <a:ln w="12700">
            <a:solidFill>
              <a:srgbClr val="FBF1DE"/>
            </a:solidFill>
            <a:prstDash val="solid"/>
          </a:ln>
        </p:spPr>
      </p:sp>
      <p:sp>
        <p:nvSpPr>
          <p:cNvPr id="8" name="Text 6"/>
          <p:cNvSpPr txBox="1"/>
          <p:nvPr/>
        </p:nvSpPr>
        <p:spPr>
          <a:xfrm>
            <a:off x="4937760" y="1463040"/>
            <a:ext cx="3566160" cy="365760"/>
          </a:xfrm>
          <a:prstGeom prst="rect">
            <a:avLst/>
          </a:prstGeom>
          <a:noFill/>
          <a:ln/>
        </p:spPr>
        <p:txBody>
          <a:bodyPr wrap="square" lIns="0" tIns="0" rIns="0" bIns="0" rtlCol="0" anchor="ctr"/>
          <a:lstStyle/>
          <a:p>
            <a:pPr indent="0" marL="0">
              <a:buNone/>
            </a:pPr>
            <a:r>
              <a:rPr lang="en-US" sz="1400" b="1" dirty="0">
                <a:solidFill>
                  <a:srgbClr val="1B2A38"/>
                </a:solidFill>
                <a:latin typeface="Calibri" pitchFamily="34" charset="0"/>
                <a:ea typeface="Calibri" pitchFamily="34" charset="-122"/>
                <a:cs typeface="Calibri" pitchFamily="34" charset="-120"/>
              </a:rPr>
              <a:t>Now: lazy Dijkstra over all countries</a:t>
            </a:r>
            <a:endParaRPr lang="en-US" sz="1400" dirty="0"/>
          </a:p>
        </p:txBody>
      </p:sp>
      <p:sp>
        <p:nvSpPr>
          <p:cNvPr id="9" name="Text 7"/>
          <p:cNvSpPr txBox="1"/>
          <p:nvPr/>
        </p:nvSpPr>
        <p:spPr>
          <a:xfrm>
            <a:off x="4937760" y="1874520"/>
            <a:ext cx="3566160" cy="100584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F2933"/>
                </a:solidFill>
                <a:latin typeface="Calibri" pitchFamily="34" charset="0"/>
                <a:ea typeface="Calibri" pitchFamily="34" charset="-122"/>
                <a:cs typeface="Calibri" pitchFamily="34" charset="-120"/>
              </a:rPr>
              <a:t>Any country is a candidate waypoint; the algorithm decides depth.</a:t>
            </a:r>
            <a:endParaRPr lang="en-US" sz="1150" dirty="0"/>
          </a:p>
          <a:p>
            <a:pPr marL="342900" indent="-342900">
              <a:spcAft>
                <a:spcPts val="600"/>
              </a:spcAft>
              <a:buSzPct val="100000"/>
              <a:buChar char="•"/>
            </a:pPr>
            <a:r>
              <a:rPr lang="en-US" sz="1150" dirty="0">
                <a:solidFill>
                  <a:srgbClr val="1F2933"/>
                </a:solidFill>
                <a:latin typeface="Calibri" pitchFamily="34" charset="0"/>
                <a:ea typeface="Calibri" pitchFamily="34" charset="-122"/>
                <a:cs typeface="Calibri" pitchFamily="34" charset="-120"/>
              </a:rPr>
              <a:t>Provably shortest under the cost model; expansions are lazy, so it stays fast.</a:t>
            </a:r>
            <a:endParaRPr lang="en-US" sz="1150" dirty="0"/>
          </a:p>
          <a:p>
            <a:pPr marL="342900" indent="-342900">
              <a:spcAft>
                <a:spcPts val="600"/>
              </a:spcAft>
              <a:buSzPct val="100000"/>
              <a:buChar char="•"/>
            </a:pPr>
            <a:r>
              <a:rPr lang="en-US" sz="1150" dirty="0">
                <a:solidFill>
                  <a:srgbClr val="1F2933"/>
                </a:solidFill>
                <a:latin typeface="Calibri" pitchFamily="34" charset="0"/>
                <a:ea typeface="Calibri" pitchFamily="34" charset="-122"/>
                <a:cs typeface="Calibri" pitchFamily="34" charset="-120"/>
              </a:rPr>
              <a:t>Output preserves traversal order for the planner.</a:t>
            </a:r>
            <a:endParaRPr lang="en-US" sz="1150" dirty="0"/>
          </a:p>
        </p:txBody>
      </p:sp>
      <p:sp>
        <p:nvSpPr>
          <p:cNvPr id="10" name="Shape 8"/>
          <p:cNvSpPr/>
          <p:nvPr/>
        </p:nvSpPr>
        <p:spPr>
          <a:xfrm>
            <a:off x="4434840" y="2148840"/>
            <a:ext cx="274320" cy="0"/>
          </a:xfrm>
          <a:prstGeom prst="line">
            <a:avLst/>
          </a:prstGeom>
          <a:noFill/>
          <a:ln w="19050">
            <a:solidFill>
              <a:srgbClr val="E39B2B"/>
            </a:solidFill>
            <a:prstDash val="solid"/>
            <a:tailEnd type="triangle"/>
          </a:ln>
        </p:spPr>
      </p:sp>
      <p:sp>
        <p:nvSpPr>
          <p:cNvPr id="11" name="Shape 9"/>
          <p:cNvSpPr/>
          <p:nvPr/>
        </p:nvSpPr>
        <p:spPr>
          <a:xfrm>
            <a:off x="457200" y="3200400"/>
            <a:ext cx="411480" cy="411480"/>
          </a:xfrm>
          <a:prstGeom prst="ellipse">
            <a:avLst/>
          </a:prstGeom>
          <a:solidFill>
            <a:srgbClr val="E39B2B"/>
          </a:solidFill>
          <a:ln w="12700">
            <a:solidFill>
              <a:srgbClr val="E39B2B"/>
            </a:solidFill>
            <a:prstDash val="solid"/>
          </a:ln>
        </p:spPr>
      </p:sp>
      <p:pic>
        <p:nvPicPr>
          <p:cNvPr id="12" name="Image 0" descr="preencoded.png">    </p:cNvPr>
          <p:cNvPicPr>
            <a:picLocks noChangeAspect="1"/>
          </p:cNvPicPr>
          <p:nvPr/>
        </p:nvPicPr>
        <p:blipFill>
          <a:blip r:embed="rId1"/>
          <a:stretch>
            <a:fillRect/>
          </a:stretch>
        </p:blipFill>
        <p:spPr>
          <a:xfrm>
            <a:off x="555955" y="3299155"/>
            <a:ext cx="213970" cy="213970"/>
          </a:xfrm>
          <a:prstGeom prst="rect">
            <a:avLst/>
          </a:prstGeom>
        </p:spPr>
      </p:pic>
      <p:sp>
        <p:nvSpPr>
          <p:cNvPr id="13" name="Text 10"/>
          <p:cNvSpPr txBox="1"/>
          <p:nvPr/>
        </p:nvSpPr>
        <p:spPr>
          <a:xfrm>
            <a:off x="960120" y="3200400"/>
            <a:ext cx="2103120" cy="411480"/>
          </a:xfrm>
          <a:prstGeom prst="rect">
            <a:avLst/>
          </a:prstGeom>
          <a:noFill/>
          <a:ln/>
        </p:spPr>
        <p:txBody>
          <a:bodyPr wrap="square" lIns="0" tIns="0" rIns="0" bIns="0" rtlCol="0" anchor="ctr"/>
          <a:lstStyle/>
          <a:p>
            <a:pPr indent="0" marL="0">
              <a:buNone/>
            </a:pPr>
            <a:r>
              <a:rPr lang="en-US" sz="1250" b="1" dirty="0">
                <a:solidFill>
                  <a:srgbClr val="1B2A38"/>
                </a:solidFill>
                <a:latin typeface="Calibri" pitchFamily="34" charset="0"/>
                <a:ea typeface="Calibri" pitchFamily="34" charset="-122"/>
                <a:cs typeface="Calibri" pitchFamily="34" charset="-120"/>
              </a:rPr>
              <a:t>k-NN country graph</a:t>
            </a:r>
            <a:endParaRPr lang="en-US" sz="1250" dirty="0"/>
          </a:p>
        </p:txBody>
      </p:sp>
      <p:sp>
        <p:nvSpPr>
          <p:cNvPr id="14" name="Text 11"/>
          <p:cNvSpPr txBox="1"/>
          <p:nvPr/>
        </p:nvSpPr>
        <p:spPr>
          <a:xfrm>
            <a:off x="457200" y="3675888"/>
            <a:ext cx="2606040" cy="685800"/>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Sparse neighbor edges keep Dijkstra tractable while covering realistic land corridors.</a:t>
            </a:r>
            <a:endParaRPr lang="en-US" sz="1100" dirty="0"/>
          </a:p>
        </p:txBody>
      </p:sp>
      <p:sp>
        <p:nvSpPr>
          <p:cNvPr id="15" name="Shape 12"/>
          <p:cNvSpPr/>
          <p:nvPr/>
        </p:nvSpPr>
        <p:spPr>
          <a:xfrm>
            <a:off x="3246120" y="3200400"/>
            <a:ext cx="411480" cy="411480"/>
          </a:xfrm>
          <a:prstGeom prst="ellipse">
            <a:avLst/>
          </a:prstGeom>
          <a:solidFill>
            <a:srgbClr val="E39B2B"/>
          </a:solidFill>
          <a:ln w="12700">
            <a:solidFill>
              <a:srgbClr val="E39B2B"/>
            </a:solidFill>
            <a:prstDash val="solid"/>
          </a:ln>
        </p:spPr>
      </p:sp>
      <p:pic>
        <p:nvPicPr>
          <p:cNvPr id="16" name="Image 1" descr="preencoded.png">    </p:cNvPr>
          <p:cNvPicPr>
            <a:picLocks noChangeAspect="1"/>
          </p:cNvPicPr>
          <p:nvPr/>
        </p:nvPicPr>
        <p:blipFill>
          <a:blip r:embed="rId2"/>
          <a:stretch>
            <a:fillRect/>
          </a:stretch>
        </p:blipFill>
        <p:spPr>
          <a:xfrm>
            <a:off x="3344875" y="3299155"/>
            <a:ext cx="213970" cy="213970"/>
          </a:xfrm>
          <a:prstGeom prst="rect">
            <a:avLst/>
          </a:prstGeom>
        </p:spPr>
      </p:pic>
      <p:sp>
        <p:nvSpPr>
          <p:cNvPr id="17" name="Text 13"/>
          <p:cNvSpPr txBox="1"/>
          <p:nvPr/>
        </p:nvSpPr>
        <p:spPr>
          <a:xfrm>
            <a:off x="3749040" y="3200400"/>
            <a:ext cx="2103120" cy="411480"/>
          </a:xfrm>
          <a:prstGeom prst="rect">
            <a:avLst/>
          </a:prstGeom>
          <a:noFill/>
          <a:ln/>
        </p:spPr>
        <p:txBody>
          <a:bodyPr wrap="square" lIns="0" tIns="0" rIns="0" bIns="0" rtlCol="0" anchor="ctr"/>
          <a:lstStyle/>
          <a:p>
            <a:pPr indent="0" marL="0">
              <a:buNone/>
            </a:pPr>
            <a:r>
              <a:rPr lang="en-US" sz="1250" b="1" dirty="0">
                <a:solidFill>
                  <a:srgbClr val="1B2A38"/>
                </a:solidFill>
                <a:latin typeface="Calibri" pitchFamily="34" charset="0"/>
                <a:ea typeface="Calibri" pitchFamily="34" charset="-122"/>
                <a:cs typeface="Calibri" pitchFamily="34" charset="-120"/>
              </a:rPr>
              <a:t>Stage-graph DP for airports</a:t>
            </a:r>
            <a:endParaRPr lang="en-US" sz="1250" dirty="0"/>
          </a:p>
        </p:txBody>
      </p:sp>
      <p:sp>
        <p:nvSpPr>
          <p:cNvPr id="18" name="Text 14"/>
          <p:cNvSpPr txBox="1"/>
          <p:nvPr/>
        </p:nvSpPr>
        <p:spPr>
          <a:xfrm>
            <a:off x="3246120" y="3675888"/>
            <a:ext cx="2606040" cy="685800"/>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Airport selection per leg is a shortest-path over stages, so pins and bans compose cleanly.</a:t>
            </a:r>
            <a:endParaRPr lang="en-US" sz="1100" dirty="0"/>
          </a:p>
        </p:txBody>
      </p:sp>
      <p:sp>
        <p:nvSpPr>
          <p:cNvPr id="19" name="Shape 15"/>
          <p:cNvSpPr/>
          <p:nvPr/>
        </p:nvSpPr>
        <p:spPr>
          <a:xfrm>
            <a:off x="6035040" y="3200400"/>
            <a:ext cx="411480" cy="411480"/>
          </a:xfrm>
          <a:prstGeom prst="ellipse">
            <a:avLst/>
          </a:prstGeom>
          <a:solidFill>
            <a:srgbClr val="E39B2B"/>
          </a:solidFill>
          <a:ln w="12700">
            <a:solidFill>
              <a:srgbClr val="E39B2B"/>
            </a:solidFill>
            <a:prstDash val="solid"/>
          </a:ln>
        </p:spPr>
      </p:sp>
      <p:pic>
        <p:nvPicPr>
          <p:cNvPr id="20" name="Image 2" descr="preencoded.png">    </p:cNvPr>
          <p:cNvPicPr>
            <a:picLocks noChangeAspect="1"/>
          </p:cNvPicPr>
          <p:nvPr/>
        </p:nvPicPr>
        <p:blipFill>
          <a:blip r:embed="rId3"/>
          <a:stretch>
            <a:fillRect/>
          </a:stretch>
        </p:blipFill>
        <p:spPr>
          <a:xfrm>
            <a:off x="6133795" y="3299155"/>
            <a:ext cx="213970" cy="213970"/>
          </a:xfrm>
          <a:prstGeom prst="rect">
            <a:avLst/>
          </a:prstGeom>
        </p:spPr>
      </p:pic>
      <p:sp>
        <p:nvSpPr>
          <p:cNvPr id="21" name="Text 16"/>
          <p:cNvSpPr txBox="1"/>
          <p:nvPr/>
        </p:nvSpPr>
        <p:spPr>
          <a:xfrm>
            <a:off x="6537960" y="3200400"/>
            <a:ext cx="2103120" cy="411480"/>
          </a:xfrm>
          <a:prstGeom prst="rect">
            <a:avLst/>
          </a:prstGeom>
          <a:noFill/>
          <a:ln/>
        </p:spPr>
        <p:txBody>
          <a:bodyPr wrap="square" lIns="0" tIns="0" rIns="0" bIns="0" rtlCol="0" anchor="ctr"/>
          <a:lstStyle/>
          <a:p>
            <a:pPr indent="0" marL="0">
              <a:buNone/>
            </a:pPr>
            <a:r>
              <a:rPr lang="en-US" sz="1250" b="1" dirty="0">
                <a:solidFill>
                  <a:srgbClr val="1B2A38"/>
                </a:solidFill>
                <a:latin typeface="Calibri" pitchFamily="34" charset="0"/>
                <a:ea typeface="Calibri" pitchFamily="34" charset="-122"/>
                <a:cs typeface="Calibri" pitchFamily="34" charset="-120"/>
              </a:rPr>
              <a:t>Ocean-preference corridors</a:t>
            </a:r>
            <a:endParaRPr lang="en-US" sz="1250" dirty="0"/>
          </a:p>
        </p:txBody>
      </p:sp>
      <p:sp>
        <p:nvSpPr>
          <p:cNvPr id="22" name="Text 17"/>
          <p:cNvSpPr txBox="1"/>
          <p:nvPr/>
        </p:nvSpPr>
        <p:spPr>
          <a:xfrm>
            <a:off x="6035040" y="3675888"/>
            <a:ext cx="2606040" cy="685800"/>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Great-circle sampling scores over-water paths, favoring them where overflight is the constraint.</a:t>
            </a:r>
            <a:endParaRPr lang="en-US" sz="1100" dirty="0"/>
          </a:p>
        </p:txBody>
      </p:sp>
      <p:sp>
        <p:nvSpPr>
          <p:cNvPr id="23" name="Text 18"/>
          <p:cNvSpPr txBox="1"/>
          <p:nvPr/>
        </p:nvSpPr>
        <p:spPr>
          <a:xfrm>
            <a:off x="457200" y="4434840"/>
            <a:ext cx="8229600" cy="320040"/>
          </a:xfrm>
          <a:prstGeom prst="rect">
            <a:avLst/>
          </a:prstGeom>
          <a:noFill/>
          <a:ln/>
        </p:spPr>
        <p:txBody>
          <a:bodyPr wrap="square" lIns="0" tIns="0" rIns="0" bIns="0" rtlCol="0" anchor="ctr"/>
          <a:lstStyle/>
          <a:p>
            <a:pPr indent="0" marL="0">
              <a:buNone/>
            </a:pPr>
            <a:r>
              <a:rPr lang="en-US" sz="1100" i="1" dirty="0">
                <a:solidFill>
                  <a:srgbClr val="6B7A88"/>
                </a:solidFill>
                <a:latin typeface="Calibri" pitchFamily="34" charset="0"/>
                <a:ea typeface="Calibri" pitchFamily="34" charset="-122"/>
                <a:cs typeface="Calibri" pitchFamily="34" charset="-120"/>
              </a:rPr>
              <a:t>Operational review drove these changes: suboptimal routing and ordering issues were fixed structurally, not patched per case.</a:t>
            </a:r>
            <a:endParaRPr lang="en-US" sz="1100" dirty="0"/>
          </a:p>
        </p:txBody>
      </p:sp>
      <p:sp>
        <p:nvSpPr>
          <p:cNvPr id="24" name="Text 19"/>
          <p:cNvSpPr txBox="1"/>
          <p:nvPr/>
        </p:nvSpPr>
        <p:spPr>
          <a:xfrm>
            <a:off x="457200" y="4800600"/>
            <a:ext cx="8229600" cy="22860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CAITT · FCG Agentic Pipeline ·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rgbClr val="1B2A38"/>
                </a:solidFill>
                <a:latin typeface="Cambria" pitchFamily="34" charset="0"/>
                <a:ea typeface="Cambria" pitchFamily="34" charset="-122"/>
                <a:cs typeface="Cambria" pitchFamily="34" charset="-120"/>
              </a:rPr>
              <a:t>Live overlays, risk signals, and honest limits</a:t>
            </a:r>
            <a:endParaRPr lang="en-US" sz="2600" dirty="0"/>
          </a:p>
        </p:txBody>
      </p:sp>
      <p:sp>
        <p:nvSpPr>
          <p:cNvPr id="3" name="Text 1"/>
          <p:cNvSpPr txBox="1"/>
          <p:nvPr/>
        </p:nvSpPr>
        <p:spPr>
          <a:xfrm>
            <a:off x="457200" y="868680"/>
            <a:ext cx="8229600" cy="320040"/>
          </a:xfrm>
          <a:prstGeom prst="rect">
            <a:avLst/>
          </a:prstGeom>
          <a:noFill/>
          <a:ln/>
        </p:spPr>
        <p:txBody>
          <a:bodyPr wrap="square" lIns="0" tIns="0" rIns="0" bIns="0" rtlCol="0" anchor="ctr"/>
          <a:lstStyle/>
          <a:p>
            <a:pPr indent="0" marL="0">
              <a:buNone/>
            </a:pPr>
            <a:r>
              <a:rPr lang="en-US" sz="1300" i="1" dirty="0">
                <a:solidFill>
                  <a:srgbClr val="6B7A88"/>
                </a:solidFill>
                <a:latin typeface="Calibri" pitchFamily="34" charset="0"/>
                <a:ea typeface="Calibri" pitchFamily="34" charset="-122"/>
                <a:cs typeface="Calibri" pitchFamily="34" charset="-120"/>
              </a:rPr>
              <a:t>Live feeds inform the plan; they never override the clearance record.</a:t>
            </a:r>
            <a:endParaRPr lang="en-US" sz="1300" dirty="0"/>
          </a:p>
        </p:txBody>
      </p:sp>
      <p:sp>
        <p:nvSpPr>
          <p:cNvPr id="4" name="Shape 2"/>
          <p:cNvSpPr/>
          <p:nvPr/>
        </p:nvSpPr>
        <p:spPr>
          <a:xfrm>
            <a:off x="457200" y="1371600"/>
            <a:ext cx="2194560" cy="1417320"/>
          </a:xfrm>
          <a:prstGeom prst="roundRect">
            <a:avLst>
              <a:gd name="adj" fmla="val 5161"/>
            </a:avLst>
          </a:prstGeom>
          <a:solidFill>
            <a:srgbClr val="EEF2F5"/>
          </a:solidFill>
          <a:ln w="12700">
            <a:solidFill>
              <a:srgbClr val="EEF2F5"/>
            </a:solidFill>
            <a:prstDash val="solid"/>
          </a:ln>
        </p:spPr>
      </p:sp>
      <p:sp>
        <p:nvSpPr>
          <p:cNvPr id="5" name="Shape 3"/>
          <p:cNvSpPr/>
          <p:nvPr/>
        </p:nvSpPr>
        <p:spPr>
          <a:xfrm>
            <a:off x="594360" y="1508760"/>
            <a:ext cx="411480" cy="411480"/>
          </a:xfrm>
          <a:prstGeom prst="ellipse">
            <a:avLst/>
          </a:prstGeom>
          <a:solidFill>
            <a:srgbClr val="E39B2B"/>
          </a:solidFill>
          <a:ln w="12700">
            <a:solidFill>
              <a:srgbClr val="E39B2B"/>
            </a:solidFill>
            <a:prstDash val="solid"/>
          </a:ln>
        </p:spPr>
      </p:sp>
      <p:pic>
        <p:nvPicPr>
          <p:cNvPr id="6" name="Image 0" descr="preencoded.png">    </p:cNvPr>
          <p:cNvPicPr>
            <a:picLocks noChangeAspect="1"/>
          </p:cNvPicPr>
          <p:nvPr/>
        </p:nvPicPr>
        <p:blipFill>
          <a:blip r:embed="rId1"/>
          <a:stretch>
            <a:fillRect/>
          </a:stretch>
        </p:blipFill>
        <p:spPr>
          <a:xfrm>
            <a:off x="693115" y="1607515"/>
            <a:ext cx="213970" cy="213970"/>
          </a:xfrm>
          <a:prstGeom prst="rect">
            <a:avLst/>
          </a:prstGeom>
        </p:spPr>
      </p:pic>
      <p:sp>
        <p:nvSpPr>
          <p:cNvPr id="7" name="Text 4"/>
          <p:cNvSpPr txBox="1"/>
          <p:nvPr/>
        </p:nvSpPr>
        <p:spPr>
          <a:xfrm>
            <a:off x="594360" y="1993392"/>
            <a:ext cx="1920240" cy="274320"/>
          </a:xfrm>
          <a:prstGeom prst="rect">
            <a:avLst/>
          </a:prstGeom>
          <a:noFill/>
          <a:ln/>
        </p:spPr>
        <p:txBody>
          <a:bodyPr wrap="square" lIns="0" tIns="0" rIns="0" bIns="0" rtlCol="0" anchor="ctr"/>
          <a:lstStyle/>
          <a:p>
            <a:pPr indent="0" marL="0">
              <a:buNone/>
            </a:pPr>
            <a:r>
              <a:rPr lang="en-US" sz="1200" b="1" dirty="0">
                <a:solidFill>
                  <a:srgbClr val="1B2A38"/>
                </a:solidFill>
                <a:latin typeface="Calibri" pitchFamily="34" charset="0"/>
                <a:ea typeface="Calibri" pitchFamily="34" charset="-122"/>
                <a:cs typeface="Calibri" pitchFamily="34" charset="-120"/>
              </a:rPr>
              <a:t>OpenSky Network</a:t>
            </a:r>
            <a:endParaRPr lang="en-US" sz="1200" dirty="0"/>
          </a:p>
        </p:txBody>
      </p:sp>
      <p:sp>
        <p:nvSpPr>
          <p:cNvPr id="8" name="Text 5"/>
          <p:cNvSpPr txBox="1"/>
          <p:nvPr/>
        </p:nvSpPr>
        <p:spPr>
          <a:xfrm>
            <a:off x="594360" y="2267712"/>
            <a:ext cx="1920240" cy="502920"/>
          </a:xfrm>
          <a:prstGeom prst="rect">
            <a:avLst/>
          </a:prstGeom>
          <a:noFill/>
          <a:ln/>
        </p:spPr>
        <p:txBody>
          <a:bodyPr wrap="square" lIns="0" tIns="0" rIns="0" bIns="0" rtlCol="0" anchor="ctr"/>
          <a:lstStyle/>
          <a:p>
            <a:pPr indent="0" marL="0">
              <a:buNone/>
            </a:pPr>
            <a:r>
              <a:rPr lang="en-US" sz="1050" dirty="0">
                <a:solidFill>
                  <a:srgbClr val="1F2933"/>
                </a:solidFill>
                <a:latin typeface="Calibri" pitchFamily="34" charset="0"/>
                <a:ea typeface="Calibri" pitchFamily="34" charset="-122"/>
                <a:cs typeface="Calibri" pitchFamily="34" charset="-120"/>
              </a:rPr>
              <a:t>Live traffic density near candidate airports (--traffic).</a:t>
            </a:r>
            <a:endParaRPr lang="en-US" sz="1050" dirty="0"/>
          </a:p>
        </p:txBody>
      </p:sp>
      <p:sp>
        <p:nvSpPr>
          <p:cNvPr id="9" name="Shape 6"/>
          <p:cNvSpPr/>
          <p:nvPr/>
        </p:nvSpPr>
        <p:spPr>
          <a:xfrm>
            <a:off x="2834640" y="1371600"/>
            <a:ext cx="2194560" cy="1417320"/>
          </a:xfrm>
          <a:prstGeom prst="roundRect">
            <a:avLst>
              <a:gd name="adj" fmla="val 5161"/>
            </a:avLst>
          </a:prstGeom>
          <a:solidFill>
            <a:srgbClr val="EEF2F5"/>
          </a:solidFill>
          <a:ln w="12700">
            <a:solidFill>
              <a:srgbClr val="EEF2F5"/>
            </a:solidFill>
            <a:prstDash val="solid"/>
          </a:ln>
        </p:spPr>
      </p:sp>
      <p:sp>
        <p:nvSpPr>
          <p:cNvPr id="10" name="Shape 7"/>
          <p:cNvSpPr/>
          <p:nvPr/>
        </p:nvSpPr>
        <p:spPr>
          <a:xfrm>
            <a:off x="2971800" y="1508760"/>
            <a:ext cx="411480" cy="411480"/>
          </a:xfrm>
          <a:prstGeom prst="ellipse">
            <a:avLst/>
          </a:prstGeom>
          <a:solidFill>
            <a:srgbClr val="E39B2B"/>
          </a:solidFill>
          <a:ln w="12700">
            <a:solidFill>
              <a:srgbClr val="E39B2B"/>
            </a:solidFill>
            <a:prstDash val="solid"/>
          </a:ln>
        </p:spPr>
      </p:sp>
      <p:pic>
        <p:nvPicPr>
          <p:cNvPr id="11" name="Image 1" descr="preencoded.png">    </p:cNvPr>
          <p:cNvPicPr>
            <a:picLocks noChangeAspect="1"/>
          </p:cNvPicPr>
          <p:nvPr/>
        </p:nvPicPr>
        <p:blipFill>
          <a:blip r:embed="rId2"/>
          <a:stretch>
            <a:fillRect/>
          </a:stretch>
        </p:blipFill>
        <p:spPr>
          <a:xfrm>
            <a:off x="3070555" y="1607515"/>
            <a:ext cx="213970" cy="213970"/>
          </a:xfrm>
          <a:prstGeom prst="rect">
            <a:avLst/>
          </a:prstGeom>
        </p:spPr>
      </p:pic>
      <p:sp>
        <p:nvSpPr>
          <p:cNvPr id="12" name="Text 8"/>
          <p:cNvSpPr txBox="1"/>
          <p:nvPr/>
        </p:nvSpPr>
        <p:spPr>
          <a:xfrm>
            <a:off x="2971800" y="1993392"/>
            <a:ext cx="1920240" cy="274320"/>
          </a:xfrm>
          <a:prstGeom prst="rect">
            <a:avLst/>
          </a:prstGeom>
          <a:noFill/>
          <a:ln/>
        </p:spPr>
        <p:txBody>
          <a:bodyPr wrap="square" lIns="0" tIns="0" rIns="0" bIns="0" rtlCol="0" anchor="ctr"/>
          <a:lstStyle/>
          <a:p>
            <a:pPr indent="0" marL="0">
              <a:buNone/>
            </a:pPr>
            <a:r>
              <a:rPr lang="en-US" sz="1200" b="1" dirty="0">
                <a:solidFill>
                  <a:srgbClr val="1B2A38"/>
                </a:solidFill>
                <a:latin typeface="Calibri" pitchFamily="34" charset="0"/>
                <a:ea typeface="Calibri" pitchFamily="34" charset="-122"/>
                <a:cs typeface="Calibri" pitchFamily="34" charset="-120"/>
              </a:rPr>
              <a:t>aviationweather.gov</a:t>
            </a:r>
            <a:endParaRPr lang="en-US" sz="1200" dirty="0"/>
          </a:p>
        </p:txBody>
      </p:sp>
      <p:sp>
        <p:nvSpPr>
          <p:cNvPr id="13" name="Text 9"/>
          <p:cNvSpPr txBox="1"/>
          <p:nvPr/>
        </p:nvSpPr>
        <p:spPr>
          <a:xfrm>
            <a:off x="2971800" y="2267712"/>
            <a:ext cx="1920240" cy="502920"/>
          </a:xfrm>
          <a:prstGeom prst="rect">
            <a:avLst/>
          </a:prstGeom>
          <a:noFill/>
          <a:ln/>
        </p:spPr>
        <p:txBody>
          <a:bodyPr wrap="square" lIns="0" tIns="0" rIns="0" bIns="0" rtlCol="0" anchor="ctr"/>
          <a:lstStyle/>
          <a:p>
            <a:pPr indent="0" marL="0">
              <a:buNone/>
            </a:pPr>
            <a:r>
              <a:rPr lang="en-US" sz="1050" dirty="0">
                <a:solidFill>
                  <a:srgbClr val="1F2933"/>
                </a:solidFill>
                <a:latin typeface="Calibri" pitchFamily="34" charset="0"/>
                <a:ea typeface="Calibri" pitchFamily="34" charset="-122"/>
                <a:cs typeface="Calibri" pitchFamily="34" charset="-120"/>
              </a:rPr>
              <a:t>METAR / TAF per stop (--wx).</a:t>
            </a:r>
            <a:endParaRPr lang="en-US" sz="1050" dirty="0"/>
          </a:p>
        </p:txBody>
      </p:sp>
      <p:sp>
        <p:nvSpPr>
          <p:cNvPr id="14" name="Shape 10"/>
          <p:cNvSpPr/>
          <p:nvPr/>
        </p:nvSpPr>
        <p:spPr>
          <a:xfrm>
            <a:off x="457200" y="2971800"/>
            <a:ext cx="2194560" cy="1417320"/>
          </a:xfrm>
          <a:prstGeom prst="roundRect">
            <a:avLst>
              <a:gd name="adj" fmla="val 5161"/>
            </a:avLst>
          </a:prstGeom>
          <a:solidFill>
            <a:srgbClr val="EEF2F5"/>
          </a:solidFill>
          <a:ln w="12700">
            <a:solidFill>
              <a:srgbClr val="EEF2F5"/>
            </a:solidFill>
            <a:prstDash val="solid"/>
          </a:ln>
        </p:spPr>
      </p:sp>
      <p:sp>
        <p:nvSpPr>
          <p:cNvPr id="15" name="Shape 11"/>
          <p:cNvSpPr/>
          <p:nvPr/>
        </p:nvSpPr>
        <p:spPr>
          <a:xfrm>
            <a:off x="594360" y="3108960"/>
            <a:ext cx="411480" cy="411480"/>
          </a:xfrm>
          <a:prstGeom prst="ellipse">
            <a:avLst/>
          </a:prstGeom>
          <a:solidFill>
            <a:srgbClr val="E39B2B"/>
          </a:solidFill>
          <a:ln w="12700">
            <a:solidFill>
              <a:srgbClr val="E39B2B"/>
            </a:solidFill>
            <a:prstDash val="solid"/>
          </a:ln>
        </p:spPr>
      </p:sp>
      <p:pic>
        <p:nvPicPr>
          <p:cNvPr id="16" name="Image 2" descr="preencoded.png">    </p:cNvPr>
          <p:cNvPicPr>
            <a:picLocks noChangeAspect="1"/>
          </p:cNvPicPr>
          <p:nvPr/>
        </p:nvPicPr>
        <p:blipFill>
          <a:blip r:embed="rId3"/>
          <a:stretch>
            <a:fillRect/>
          </a:stretch>
        </p:blipFill>
        <p:spPr>
          <a:xfrm>
            <a:off x="693115" y="3207715"/>
            <a:ext cx="213970" cy="213970"/>
          </a:xfrm>
          <a:prstGeom prst="rect">
            <a:avLst/>
          </a:prstGeom>
        </p:spPr>
      </p:pic>
      <p:sp>
        <p:nvSpPr>
          <p:cNvPr id="17" name="Text 12"/>
          <p:cNvSpPr txBox="1"/>
          <p:nvPr/>
        </p:nvSpPr>
        <p:spPr>
          <a:xfrm>
            <a:off x="594360" y="3593592"/>
            <a:ext cx="1920240" cy="274320"/>
          </a:xfrm>
          <a:prstGeom prst="rect">
            <a:avLst/>
          </a:prstGeom>
          <a:noFill/>
          <a:ln/>
        </p:spPr>
        <p:txBody>
          <a:bodyPr wrap="square" lIns="0" tIns="0" rIns="0" bIns="0" rtlCol="0" anchor="ctr"/>
          <a:lstStyle/>
          <a:p>
            <a:pPr indent="0" marL="0">
              <a:buNone/>
            </a:pPr>
            <a:r>
              <a:rPr lang="en-US" sz="1200" b="1" dirty="0">
                <a:solidFill>
                  <a:srgbClr val="1B2A38"/>
                </a:solidFill>
                <a:latin typeface="Calibri" pitchFamily="34" charset="0"/>
                <a:ea typeface="Calibri" pitchFamily="34" charset="-122"/>
                <a:cs typeface="Calibri" pitchFamily="34" charset="-120"/>
              </a:rPr>
              <a:t>State Dept advisory RSS</a:t>
            </a:r>
            <a:endParaRPr lang="en-US" sz="1200" dirty="0"/>
          </a:p>
        </p:txBody>
      </p:sp>
      <p:sp>
        <p:nvSpPr>
          <p:cNvPr id="18" name="Text 13"/>
          <p:cNvSpPr txBox="1"/>
          <p:nvPr/>
        </p:nvSpPr>
        <p:spPr>
          <a:xfrm>
            <a:off x="594360" y="3867912"/>
            <a:ext cx="1920240" cy="502920"/>
          </a:xfrm>
          <a:prstGeom prst="rect">
            <a:avLst/>
          </a:prstGeom>
          <a:noFill/>
          <a:ln/>
        </p:spPr>
        <p:txBody>
          <a:bodyPr wrap="square" lIns="0" tIns="0" rIns="0" bIns="0" rtlCol="0" anchor="ctr"/>
          <a:lstStyle/>
          <a:p>
            <a:pPr indent="0" marL="0">
              <a:buNone/>
            </a:pPr>
            <a:r>
              <a:rPr lang="en-US" sz="1050" dirty="0">
                <a:solidFill>
                  <a:srgbClr val="1F2933"/>
                </a:solidFill>
                <a:latin typeface="Calibri" pitchFamily="34" charset="0"/>
                <a:ea typeface="Calibri" pitchFamily="34" charset="-122"/>
                <a:cs typeface="Calibri" pitchFamily="34" charset="-120"/>
              </a:rPr>
              <a:t>Geopolitical risk per country (--risk), plus manual avoid_countries.csv.</a:t>
            </a:r>
            <a:endParaRPr lang="en-US" sz="1050" dirty="0"/>
          </a:p>
        </p:txBody>
      </p:sp>
      <p:sp>
        <p:nvSpPr>
          <p:cNvPr id="19" name="Shape 14"/>
          <p:cNvSpPr/>
          <p:nvPr/>
        </p:nvSpPr>
        <p:spPr>
          <a:xfrm>
            <a:off x="2834640" y="2971800"/>
            <a:ext cx="2194560" cy="1417320"/>
          </a:xfrm>
          <a:prstGeom prst="roundRect">
            <a:avLst>
              <a:gd name="adj" fmla="val 5161"/>
            </a:avLst>
          </a:prstGeom>
          <a:solidFill>
            <a:srgbClr val="EEF2F5"/>
          </a:solidFill>
          <a:ln w="12700">
            <a:solidFill>
              <a:srgbClr val="EEF2F5"/>
            </a:solidFill>
            <a:prstDash val="solid"/>
          </a:ln>
        </p:spPr>
      </p:sp>
      <p:sp>
        <p:nvSpPr>
          <p:cNvPr id="20" name="Shape 15"/>
          <p:cNvSpPr/>
          <p:nvPr/>
        </p:nvSpPr>
        <p:spPr>
          <a:xfrm>
            <a:off x="2971800" y="3108960"/>
            <a:ext cx="411480" cy="411480"/>
          </a:xfrm>
          <a:prstGeom prst="ellipse">
            <a:avLst/>
          </a:prstGeom>
          <a:solidFill>
            <a:srgbClr val="E39B2B"/>
          </a:solidFill>
          <a:ln w="12700">
            <a:solidFill>
              <a:srgbClr val="E39B2B"/>
            </a:solidFill>
            <a:prstDash val="solid"/>
          </a:ln>
        </p:spPr>
      </p:sp>
      <p:pic>
        <p:nvPicPr>
          <p:cNvPr id="21" name="Image 3" descr="preencoded.png">    </p:cNvPr>
          <p:cNvPicPr>
            <a:picLocks noChangeAspect="1"/>
          </p:cNvPicPr>
          <p:nvPr/>
        </p:nvPicPr>
        <p:blipFill>
          <a:blip r:embed="rId4"/>
          <a:stretch>
            <a:fillRect/>
          </a:stretch>
        </p:blipFill>
        <p:spPr>
          <a:xfrm>
            <a:off x="3070555" y="3207715"/>
            <a:ext cx="213970" cy="213970"/>
          </a:xfrm>
          <a:prstGeom prst="rect">
            <a:avLst/>
          </a:prstGeom>
        </p:spPr>
      </p:pic>
      <p:sp>
        <p:nvSpPr>
          <p:cNvPr id="22" name="Text 16"/>
          <p:cNvSpPr txBox="1"/>
          <p:nvPr/>
        </p:nvSpPr>
        <p:spPr>
          <a:xfrm>
            <a:off x="2971800" y="3593592"/>
            <a:ext cx="1920240" cy="274320"/>
          </a:xfrm>
          <a:prstGeom prst="rect">
            <a:avLst/>
          </a:prstGeom>
          <a:noFill/>
          <a:ln/>
        </p:spPr>
        <p:txBody>
          <a:bodyPr wrap="square" lIns="0" tIns="0" rIns="0" bIns="0" rtlCol="0" anchor="ctr"/>
          <a:lstStyle/>
          <a:p>
            <a:pPr indent="0" marL="0">
              <a:buNone/>
            </a:pPr>
            <a:r>
              <a:rPr lang="en-US" sz="1200" b="1" dirty="0">
                <a:solidFill>
                  <a:srgbClr val="1B2A38"/>
                </a:solidFill>
                <a:latin typeface="Calibri" pitchFamily="34" charset="0"/>
                <a:ea typeface="Calibri" pitchFamily="34" charset="-122"/>
                <a:cs typeface="Calibri" pitchFamily="34" charset="-120"/>
              </a:rPr>
              <a:t>DLA fuel rates</a:t>
            </a:r>
            <a:endParaRPr lang="en-US" sz="1200" dirty="0"/>
          </a:p>
        </p:txBody>
      </p:sp>
      <p:sp>
        <p:nvSpPr>
          <p:cNvPr id="23" name="Text 17"/>
          <p:cNvSpPr txBox="1"/>
          <p:nvPr/>
        </p:nvSpPr>
        <p:spPr>
          <a:xfrm>
            <a:off x="2971800" y="3867912"/>
            <a:ext cx="1920240" cy="502920"/>
          </a:xfrm>
          <a:prstGeom prst="rect">
            <a:avLst/>
          </a:prstGeom>
          <a:noFill/>
          <a:ln/>
        </p:spPr>
        <p:txBody>
          <a:bodyPr wrap="square" lIns="0" tIns="0" rIns="0" bIns="0" rtlCol="0" anchor="ctr"/>
          <a:lstStyle/>
          <a:p>
            <a:pPr indent="0" marL="0">
              <a:buNone/>
            </a:pPr>
            <a:r>
              <a:rPr lang="en-US" sz="1050" dirty="0">
                <a:solidFill>
                  <a:srgbClr val="1F2933"/>
                </a:solidFill>
                <a:latin typeface="Calibri" pitchFamily="34" charset="0"/>
                <a:ea typeface="Calibri" pitchFamily="34" charset="-122"/>
                <a:cs typeface="Calibri" pitchFamily="34" charset="-120"/>
              </a:rPr>
              <a:t>Per-stop fuel cost with payment notes for the crew.</a:t>
            </a:r>
            <a:endParaRPr lang="en-US" sz="1050" dirty="0"/>
          </a:p>
        </p:txBody>
      </p:sp>
      <p:sp>
        <p:nvSpPr>
          <p:cNvPr id="24" name="Shape 18"/>
          <p:cNvSpPr/>
          <p:nvPr/>
        </p:nvSpPr>
        <p:spPr>
          <a:xfrm>
            <a:off x="5394960" y="1371600"/>
            <a:ext cx="3291840" cy="3017520"/>
          </a:xfrm>
          <a:prstGeom prst="roundRect">
            <a:avLst>
              <a:gd name="adj" fmla="val 2424"/>
            </a:avLst>
          </a:prstGeom>
          <a:solidFill>
            <a:srgbClr val="1B2A38"/>
          </a:solidFill>
          <a:ln w="12700">
            <a:solidFill>
              <a:srgbClr val="1B2A38"/>
            </a:solidFill>
            <a:prstDash val="solid"/>
          </a:ln>
        </p:spPr>
      </p:sp>
      <p:sp>
        <p:nvSpPr>
          <p:cNvPr id="25" name="Text 19"/>
          <p:cNvSpPr txBox="1"/>
          <p:nvPr/>
        </p:nvSpPr>
        <p:spPr>
          <a:xfrm>
            <a:off x="5577840" y="1481328"/>
            <a:ext cx="2926080" cy="365760"/>
          </a:xfrm>
          <a:prstGeom prst="rect">
            <a:avLst/>
          </a:prstGeom>
          <a:noFill/>
          <a:ln/>
        </p:spPr>
        <p:txBody>
          <a:bodyPr wrap="square" lIns="0" tIns="0" rIns="0" bIns="0" rtlCol="0" anchor="ctr"/>
          <a:lstStyle/>
          <a:p>
            <a:pPr indent="0" marL="0">
              <a:buNone/>
            </a:pPr>
            <a:r>
              <a:rPr lang="en-US" sz="1400" b="1" dirty="0">
                <a:solidFill>
                  <a:srgbClr val="E39B2B"/>
                </a:solidFill>
                <a:latin typeface="Calibri" pitchFamily="34" charset="0"/>
                <a:ea typeface="Calibri" pitchFamily="34" charset="-122"/>
                <a:cs typeface="Calibri" pitchFamily="34" charset="-120"/>
              </a:rPr>
              <a:t>Known limits, stated up front</a:t>
            </a:r>
            <a:endParaRPr lang="en-US" sz="1400" dirty="0"/>
          </a:p>
        </p:txBody>
      </p:sp>
      <p:sp>
        <p:nvSpPr>
          <p:cNvPr id="26" name="Text 20"/>
          <p:cNvSpPr txBox="1"/>
          <p:nvPr/>
        </p:nvSpPr>
        <p:spPr>
          <a:xfrm>
            <a:off x="5577840" y="1920240"/>
            <a:ext cx="2971800" cy="237744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E6ECF1"/>
                </a:solidFill>
                <a:latin typeface="Calibri" pitchFamily="34" charset="0"/>
                <a:ea typeface="Calibri" pitchFamily="34" charset="-122"/>
                <a:cs typeface="Calibri" pitchFamily="34" charset="-120"/>
              </a:rPr>
              <a:t>NOTAM coverage in the data is US and Germany only. Zero NOTAMs elsewhere is correct behavior, not a matching bug.</a:t>
            </a:r>
            <a:endParaRPr lang="en-US" sz="1100" dirty="0"/>
          </a:p>
          <a:p>
            <a:pPr marL="342900" indent="-342900">
              <a:spcAft>
                <a:spcPts val="600"/>
              </a:spcAft>
              <a:buSzPct val="100000"/>
              <a:buChar char="•"/>
            </a:pPr>
            <a:r>
              <a:rPr lang="en-US" sz="1100" dirty="0">
                <a:solidFill>
                  <a:srgbClr val="E6ECF1"/>
                </a:solidFill>
                <a:latin typeface="Calibri" pitchFamily="34" charset="0"/>
                <a:ea typeface="Calibri" pitchFamily="34" charset="-122"/>
                <a:cs typeface="Calibri" pitchFamily="34" charset="-120"/>
              </a:rPr>
              <a:t>NOTAM staleness is known and accepted by the team; the pipeline is ready for a refreshed feed.</a:t>
            </a:r>
            <a:endParaRPr lang="en-US" sz="1100" dirty="0"/>
          </a:p>
          <a:p>
            <a:pPr marL="342900" indent="-342900">
              <a:spcAft>
                <a:spcPts val="600"/>
              </a:spcAft>
              <a:buSzPct val="100000"/>
              <a:buChar char="•"/>
            </a:pPr>
            <a:r>
              <a:rPr lang="en-US" sz="1100" dirty="0">
                <a:solidFill>
                  <a:srgbClr val="E6ECF1"/>
                </a:solidFill>
                <a:latin typeface="Calibri" pitchFamily="34" charset="0"/>
                <a:ea typeface="Calibri" pitchFamily="34" charset="-122"/>
                <a:cs typeface="Calibri" pitchFamily="34" charset="-120"/>
              </a:rPr>
              <a:t>Live feeds are best-effort and degrade gracefully when unavailable.</a:t>
            </a:r>
            <a:endParaRPr lang="en-US" sz="1100" dirty="0"/>
          </a:p>
          <a:p>
            <a:pPr marL="342900" indent="-342900">
              <a:spcAft>
                <a:spcPts val="600"/>
              </a:spcAft>
              <a:buSzPct val="100000"/>
              <a:buChar char="•"/>
            </a:pPr>
            <a:r>
              <a:rPr lang="en-US" sz="1100" dirty="0">
                <a:solidFill>
                  <a:srgbClr val="E6ECF1"/>
                </a:solidFill>
                <a:latin typeface="Calibri" pitchFamily="34" charset="0"/>
                <a:ea typeface="Calibri" pitchFamily="34" charset="-122"/>
                <a:cs typeface="Calibri" pitchFamily="34" charset="-120"/>
              </a:rPr>
              <a:t>Extraction recall is traded for precision by design (closed world).</a:t>
            </a:r>
            <a:endParaRPr lang="en-US" sz="1100" dirty="0"/>
          </a:p>
        </p:txBody>
      </p:sp>
      <p:sp>
        <p:nvSpPr>
          <p:cNvPr id="27" name="Text 21"/>
          <p:cNvSpPr txBox="1"/>
          <p:nvPr/>
        </p:nvSpPr>
        <p:spPr>
          <a:xfrm>
            <a:off x="457200" y="4800600"/>
            <a:ext cx="8229600" cy="22860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CAITT · FCG Agentic Pipeline · 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2A38"/>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Infrastructure, validation, and what comes next</a:t>
            </a:r>
            <a:endParaRPr lang="en-US" sz="2600" dirty="0"/>
          </a:p>
        </p:txBody>
      </p:sp>
      <p:sp>
        <p:nvSpPr>
          <p:cNvPr id="3" name="Text 1"/>
          <p:cNvSpPr txBox="1"/>
          <p:nvPr/>
        </p:nvSpPr>
        <p:spPr>
          <a:xfrm>
            <a:off x="457200" y="868680"/>
            <a:ext cx="8229600" cy="320040"/>
          </a:xfrm>
          <a:prstGeom prst="rect">
            <a:avLst/>
          </a:prstGeom>
          <a:noFill/>
          <a:ln/>
        </p:spPr>
        <p:txBody>
          <a:bodyPr wrap="square" lIns="0" tIns="0" rIns="0" bIns="0" rtlCol="0" anchor="ctr"/>
          <a:lstStyle/>
          <a:p>
            <a:pPr indent="0" marL="0">
              <a:buNone/>
            </a:pPr>
            <a:r>
              <a:rPr lang="en-US" sz="1300" i="1" dirty="0">
                <a:solidFill>
                  <a:srgbClr val="9AA8B5"/>
                </a:solidFill>
                <a:latin typeface="Calibri" pitchFamily="34" charset="0"/>
                <a:ea typeface="Calibri" pitchFamily="34" charset="-122"/>
                <a:cs typeface="Calibri" pitchFamily="34" charset="-120"/>
              </a:rPr>
              <a:t>Built to run unattended on shared hardware and to survive operational scrutiny.</a:t>
            </a:r>
            <a:endParaRPr lang="en-US" sz="1300" dirty="0"/>
          </a:p>
        </p:txBody>
      </p:sp>
      <p:sp>
        <p:nvSpPr>
          <p:cNvPr id="4" name="Shape 2"/>
          <p:cNvSpPr/>
          <p:nvPr/>
        </p:nvSpPr>
        <p:spPr>
          <a:xfrm>
            <a:off x="457200" y="1371600"/>
            <a:ext cx="2606040" cy="3246120"/>
          </a:xfrm>
          <a:prstGeom prst="roundRect">
            <a:avLst>
              <a:gd name="adj" fmla="val 2807"/>
            </a:avLst>
          </a:prstGeom>
          <a:solidFill>
            <a:srgbClr val="243447"/>
          </a:solidFill>
          <a:ln w="12700">
            <a:solidFill>
              <a:srgbClr val="243447"/>
            </a:solidFill>
            <a:prstDash val="solid"/>
          </a:ln>
        </p:spPr>
      </p:sp>
      <p:sp>
        <p:nvSpPr>
          <p:cNvPr id="5" name="Shape 3"/>
          <p:cNvSpPr/>
          <p:nvPr/>
        </p:nvSpPr>
        <p:spPr>
          <a:xfrm>
            <a:off x="594360" y="1508760"/>
            <a:ext cx="411480" cy="411480"/>
          </a:xfrm>
          <a:prstGeom prst="ellipse">
            <a:avLst/>
          </a:prstGeom>
          <a:solidFill>
            <a:srgbClr val="E39B2B"/>
          </a:solidFill>
          <a:ln w="12700">
            <a:solidFill>
              <a:srgbClr val="E39B2B"/>
            </a:solidFill>
            <a:prstDash val="solid"/>
          </a:ln>
        </p:spPr>
      </p:sp>
      <p:pic>
        <p:nvPicPr>
          <p:cNvPr id="6" name="Image 0" descr="preencoded.png">    </p:cNvPr>
          <p:cNvPicPr>
            <a:picLocks noChangeAspect="1"/>
          </p:cNvPicPr>
          <p:nvPr/>
        </p:nvPicPr>
        <p:blipFill>
          <a:blip r:embed="rId1"/>
          <a:stretch>
            <a:fillRect/>
          </a:stretch>
        </p:blipFill>
        <p:spPr>
          <a:xfrm>
            <a:off x="693115" y="1607515"/>
            <a:ext cx="213970" cy="213970"/>
          </a:xfrm>
          <a:prstGeom prst="rect">
            <a:avLst/>
          </a:prstGeom>
        </p:spPr>
      </p:pic>
      <p:sp>
        <p:nvSpPr>
          <p:cNvPr id="7" name="Text 4"/>
          <p:cNvSpPr txBox="1"/>
          <p:nvPr/>
        </p:nvSpPr>
        <p:spPr>
          <a:xfrm>
            <a:off x="1097280" y="1508760"/>
            <a:ext cx="1828800" cy="4114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Runs on</a:t>
            </a:r>
            <a:endParaRPr lang="en-US" sz="1400" dirty="0"/>
          </a:p>
        </p:txBody>
      </p:sp>
      <p:sp>
        <p:nvSpPr>
          <p:cNvPr id="8" name="Text 5"/>
          <p:cNvSpPr txBox="1"/>
          <p:nvPr/>
        </p:nvSpPr>
        <p:spPr>
          <a:xfrm>
            <a:off x="594360" y="2057400"/>
            <a:ext cx="2331720" cy="246888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E6ECF1"/>
                </a:solidFill>
                <a:latin typeface="Calibri" pitchFamily="34" charset="0"/>
                <a:ea typeface="Calibri" pitchFamily="34" charset="-122"/>
                <a:cs typeface="Calibri" pitchFamily="34" charset="-120"/>
              </a:rPr>
              <a:t>HPC cluster, panfs filesystem</a:t>
            </a:r>
            <a:endParaRPr lang="en-US" sz="1100" dirty="0"/>
          </a:p>
          <a:p>
            <a:pPr marL="342900" indent="-342900">
              <a:spcAft>
                <a:spcPts val="600"/>
              </a:spcAft>
              <a:buSzPct val="100000"/>
              <a:buChar char="•"/>
            </a:pPr>
            <a:r>
              <a:rPr lang="en-US" sz="1100" dirty="0">
                <a:solidFill>
                  <a:srgbClr val="E6ECF1"/>
                </a:solidFill>
                <a:latin typeface="Calibri" pitchFamily="34" charset="0"/>
                <a:ea typeface="Calibri" pitchFamily="34" charset="-122"/>
                <a:cs typeface="Calibri" pitchFamily="34" charset="-120"/>
              </a:rPr>
              <a:t>Extraction teacher: frontier model via LiteLLM gateway, env-configured</a:t>
            </a:r>
            <a:endParaRPr lang="en-US" sz="1100" dirty="0"/>
          </a:p>
          <a:p>
            <a:pPr marL="342900" indent="-342900">
              <a:spcAft>
                <a:spcPts val="600"/>
              </a:spcAft>
              <a:buSzPct val="100000"/>
              <a:buChar char="•"/>
            </a:pPr>
            <a:r>
              <a:rPr lang="en-US" sz="1100" dirty="0">
                <a:solidFill>
                  <a:srgbClr val="E6ECF1"/>
                </a:solidFill>
                <a:latin typeface="Calibri" pitchFamily="34" charset="0"/>
                <a:ea typeface="Calibri" pitchFamily="34" charset="-122"/>
                <a:cs typeface="Calibri" pitchFamily="34" charset="-120"/>
              </a:rPr>
              <a:t>Extraction student + planner: local vLLM, Gemma 4-31B</a:t>
            </a:r>
            <a:endParaRPr lang="en-US" sz="1100" dirty="0"/>
          </a:p>
          <a:p>
            <a:pPr marL="342900" indent="-342900">
              <a:spcAft>
                <a:spcPts val="600"/>
              </a:spcAft>
              <a:buSzPct val="100000"/>
              <a:buChar char="•"/>
            </a:pPr>
            <a:r>
              <a:rPr lang="en-US" sz="1100" dirty="0">
                <a:solidFill>
                  <a:srgbClr val="E6ECF1"/>
                </a:solidFill>
                <a:latin typeface="Calibri" pitchFamily="34" charset="0"/>
                <a:ea typeface="Calibri" pitchFamily="34" charset="-122"/>
                <a:cs typeface="Calibri" pitchFamily="34" charset="-120"/>
              </a:rPr>
              <a:t>CUDA_VISIBLE_DEVICES=1 on a shared A100 node</a:t>
            </a:r>
            <a:endParaRPr lang="en-US" sz="1100" dirty="0"/>
          </a:p>
          <a:p>
            <a:pPr marL="342900" indent="-342900">
              <a:spcAft>
                <a:spcPts val="600"/>
              </a:spcAft>
              <a:buSzPct val="100000"/>
              <a:buChar char="•"/>
            </a:pPr>
            <a:r>
              <a:rPr lang="en-US" sz="1100" dirty="0">
                <a:solidFill>
                  <a:srgbClr val="E6ECF1"/>
                </a:solidFill>
                <a:latin typeface="Calibri" pitchFamily="34" charset="0"/>
                <a:ea typeface="Calibri" pitchFamily="34" charset="-122"/>
                <a:cs typeface="Calibri" pitchFamily="34" charset="-120"/>
              </a:rPr>
              <a:t>Standalone scripts for long batch jobs</a:t>
            </a:r>
            <a:endParaRPr lang="en-US" sz="1100" dirty="0"/>
          </a:p>
        </p:txBody>
      </p:sp>
      <p:sp>
        <p:nvSpPr>
          <p:cNvPr id="9" name="Shape 6"/>
          <p:cNvSpPr/>
          <p:nvPr/>
        </p:nvSpPr>
        <p:spPr>
          <a:xfrm>
            <a:off x="3246120" y="1371600"/>
            <a:ext cx="2606040" cy="3246120"/>
          </a:xfrm>
          <a:prstGeom prst="roundRect">
            <a:avLst>
              <a:gd name="adj" fmla="val 2807"/>
            </a:avLst>
          </a:prstGeom>
          <a:solidFill>
            <a:srgbClr val="243447"/>
          </a:solidFill>
          <a:ln w="12700">
            <a:solidFill>
              <a:srgbClr val="243447"/>
            </a:solidFill>
            <a:prstDash val="solid"/>
          </a:ln>
        </p:spPr>
      </p:sp>
      <p:sp>
        <p:nvSpPr>
          <p:cNvPr id="10" name="Shape 7"/>
          <p:cNvSpPr/>
          <p:nvPr/>
        </p:nvSpPr>
        <p:spPr>
          <a:xfrm>
            <a:off x="3383280" y="1508760"/>
            <a:ext cx="411480" cy="411480"/>
          </a:xfrm>
          <a:prstGeom prst="ellipse">
            <a:avLst/>
          </a:prstGeom>
          <a:solidFill>
            <a:srgbClr val="E39B2B"/>
          </a:solidFill>
          <a:ln w="12700">
            <a:solidFill>
              <a:srgbClr val="E39B2B"/>
            </a:solidFill>
            <a:prstDash val="solid"/>
          </a:ln>
        </p:spPr>
      </p:sp>
      <p:pic>
        <p:nvPicPr>
          <p:cNvPr id="11" name="Image 1" descr="preencoded.png">    </p:cNvPr>
          <p:cNvPicPr>
            <a:picLocks noChangeAspect="1"/>
          </p:cNvPicPr>
          <p:nvPr/>
        </p:nvPicPr>
        <p:blipFill>
          <a:blip r:embed="rId2"/>
          <a:stretch>
            <a:fillRect/>
          </a:stretch>
        </p:blipFill>
        <p:spPr>
          <a:xfrm>
            <a:off x="3482035" y="1607515"/>
            <a:ext cx="213970" cy="213970"/>
          </a:xfrm>
          <a:prstGeom prst="rect">
            <a:avLst/>
          </a:prstGeom>
        </p:spPr>
      </p:pic>
      <p:sp>
        <p:nvSpPr>
          <p:cNvPr id="12" name="Text 8"/>
          <p:cNvSpPr txBox="1"/>
          <p:nvPr/>
        </p:nvSpPr>
        <p:spPr>
          <a:xfrm>
            <a:off x="3886200" y="1508760"/>
            <a:ext cx="1828800" cy="4114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Validated by</a:t>
            </a:r>
            <a:endParaRPr lang="en-US" sz="1400" dirty="0"/>
          </a:p>
        </p:txBody>
      </p:sp>
      <p:sp>
        <p:nvSpPr>
          <p:cNvPr id="13" name="Text 9"/>
          <p:cNvSpPr txBox="1"/>
          <p:nvPr/>
        </p:nvSpPr>
        <p:spPr>
          <a:xfrm>
            <a:off x="3383280" y="2057400"/>
            <a:ext cx="2331720" cy="246888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E6ECF1"/>
                </a:solidFill>
                <a:latin typeface="Calibri" pitchFamily="34" charset="0"/>
                <a:ea typeface="Calibri" pitchFamily="34" charset="-122"/>
                <a:cs typeface="Calibri" pitchFamily="34" charset="-120"/>
              </a:rPr>
              <a:t>Operational review of routes against real-world expectations</a:t>
            </a:r>
            <a:endParaRPr lang="en-US" sz="1100" dirty="0"/>
          </a:p>
          <a:p>
            <a:pPr marL="342900" indent="-342900">
              <a:spcAft>
                <a:spcPts val="600"/>
              </a:spcAft>
              <a:buSzPct val="100000"/>
              <a:buChar char="•"/>
            </a:pPr>
            <a:r>
              <a:rPr lang="en-US" sz="1100" dirty="0">
                <a:solidFill>
                  <a:srgbClr val="E6ECF1"/>
                </a:solidFill>
                <a:latin typeface="Calibri" pitchFamily="34" charset="0"/>
                <a:ea typeface="Calibri" pitchFamily="34" charset="-122"/>
                <a:cs typeface="Calibri" pitchFamily="34" charset="-120"/>
              </a:rPr>
              <a:t>Lead-time verdicts checked against the planning horizon</a:t>
            </a:r>
            <a:endParaRPr lang="en-US" sz="1100" dirty="0"/>
          </a:p>
          <a:p>
            <a:pPr marL="342900" indent="-342900">
              <a:spcAft>
                <a:spcPts val="600"/>
              </a:spcAft>
              <a:buSzPct val="100000"/>
              <a:buChar char="•"/>
            </a:pPr>
            <a:r>
              <a:rPr lang="en-US" sz="1100" dirty="0">
                <a:solidFill>
                  <a:srgbClr val="E6ECF1"/>
                </a:solidFill>
                <a:latin typeface="Calibri" pitchFamily="34" charset="0"/>
                <a:ea typeface="Calibri" pitchFamily="34" charset="-122"/>
                <a:cs typeface="Calibri" pitchFamily="34" charset="-120"/>
              </a:rPr>
              <a:t>Column reads and corridor ordering verified</a:t>
            </a:r>
            <a:endParaRPr lang="en-US" sz="1100" dirty="0"/>
          </a:p>
          <a:p>
            <a:pPr marL="342900" indent="-342900">
              <a:spcAft>
                <a:spcPts val="600"/>
              </a:spcAft>
              <a:buSzPct val="100000"/>
              <a:buChar char="•"/>
            </a:pPr>
            <a:r>
              <a:rPr lang="en-US" sz="1100" dirty="0">
                <a:solidFill>
                  <a:srgbClr val="E6ECF1"/>
                </a:solidFill>
                <a:latin typeface="Calibri" pitchFamily="34" charset="0"/>
                <a:ea typeface="Calibri" pitchFamily="34" charset="-122"/>
                <a:cs typeface="Calibri" pitchFamily="34" charset="-120"/>
              </a:rPr>
              <a:t>Resume invalidation exercised end to end</a:t>
            </a:r>
            <a:endParaRPr lang="en-US" sz="1100" dirty="0"/>
          </a:p>
          <a:p>
            <a:pPr marL="342900" indent="-342900">
              <a:spcAft>
                <a:spcPts val="600"/>
              </a:spcAft>
              <a:buSzPct val="100000"/>
              <a:buChar char="•"/>
            </a:pPr>
            <a:r>
              <a:rPr lang="en-US" sz="1100" dirty="0">
                <a:solidFill>
                  <a:srgbClr val="E6ECF1"/>
                </a:solidFill>
                <a:latin typeface="Calibri" pitchFamily="34" charset="0"/>
                <a:ea typeface="Calibri" pitchFamily="34" charset="-122"/>
                <a:cs typeface="Calibri" pitchFamily="34" charset="-120"/>
              </a:rPr>
              <a:t>Dossier audit files for every country</a:t>
            </a:r>
            <a:endParaRPr lang="en-US" sz="1100" dirty="0"/>
          </a:p>
        </p:txBody>
      </p:sp>
      <p:sp>
        <p:nvSpPr>
          <p:cNvPr id="14" name="Shape 10"/>
          <p:cNvSpPr/>
          <p:nvPr/>
        </p:nvSpPr>
        <p:spPr>
          <a:xfrm>
            <a:off x="6035040" y="1371600"/>
            <a:ext cx="2606040" cy="3246120"/>
          </a:xfrm>
          <a:prstGeom prst="roundRect">
            <a:avLst>
              <a:gd name="adj" fmla="val 2807"/>
            </a:avLst>
          </a:prstGeom>
          <a:solidFill>
            <a:srgbClr val="243447"/>
          </a:solidFill>
          <a:ln w="12700">
            <a:solidFill>
              <a:srgbClr val="243447"/>
            </a:solidFill>
            <a:prstDash val="solid"/>
          </a:ln>
        </p:spPr>
      </p:sp>
      <p:sp>
        <p:nvSpPr>
          <p:cNvPr id="15" name="Shape 11"/>
          <p:cNvSpPr/>
          <p:nvPr/>
        </p:nvSpPr>
        <p:spPr>
          <a:xfrm>
            <a:off x="6172200" y="1508760"/>
            <a:ext cx="411480" cy="411480"/>
          </a:xfrm>
          <a:prstGeom prst="ellipse">
            <a:avLst/>
          </a:prstGeom>
          <a:solidFill>
            <a:srgbClr val="E39B2B"/>
          </a:solidFill>
          <a:ln w="12700">
            <a:solidFill>
              <a:srgbClr val="E39B2B"/>
            </a:solidFill>
            <a:prstDash val="solid"/>
          </a:ln>
        </p:spPr>
      </p:sp>
      <p:pic>
        <p:nvPicPr>
          <p:cNvPr id="16" name="Image 2" descr="preencoded.png">    </p:cNvPr>
          <p:cNvPicPr>
            <a:picLocks noChangeAspect="1"/>
          </p:cNvPicPr>
          <p:nvPr/>
        </p:nvPicPr>
        <p:blipFill>
          <a:blip r:embed="rId3"/>
          <a:stretch>
            <a:fillRect/>
          </a:stretch>
        </p:blipFill>
        <p:spPr>
          <a:xfrm>
            <a:off x="6270955" y="1607515"/>
            <a:ext cx="213970" cy="213970"/>
          </a:xfrm>
          <a:prstGeom prst="rect">
            <a:avLst/>
          </a:prstGeom>
        </p:spPr>
      </p:pic>
      <p:sp>
        <p:nvSpPr>
          <p:cNvPr id="17" name="Text 12"/>
          <p:cNvSpPr txBox="1"/>
          <p:nvPr/>
        </p:nvSpPr>
        <p:spPr>
          <a:xfrm>
            <a:off x="6675120" y="1508760"/>
            <a:ext cx="1828800" cy="4114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Next</a:t>
            </a:r>
            <a:endParaRPr lang="en-US" sz="1400" dirty="0"/>
          </a:p>
        </p:txBody>
      </p:sp>
      <p:sp>
        <p:nvSpPr>
          <p:cNvPr id="18" name="Text 13"/>
          <p:cNvSpPr txBox="1"/>
          <p:nvPr/>
        </p:nvSpPr>
        <p:spPr>
          <a:xfrm>
            <a:off x="6172200" y="2057400"/>
            <a:ext cx="2331720" cy="246888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E6ECF1"/>
                </a:solidFill>
                <a:latin typeface="Calibri" pitchFamily="34" charset="0"/>
                <a:ea typeface="Calibri" pitchFamily="34" charset="-122"/>
                <a:cs typeface="Calibri" pitchFamily="34" charset="-120"/>
              </a:rPr>
              <a:t>Final extraction run with --sources after clearing the stale checkpoint</a:t>
            </a:r>
            <a:endParaRPr lang="en-US" sz="1100" dirty="0"/>
          </a:p>
          <a:p>
            <a:pPr marL="342900" indent="-342900">
              <a:spcAft>
                <a:spcPts val="600"/>
              </a:spcAft>
              <a:buSzPct val="100000"/>
              <a:buChar char="•"/>
            </a:pPr>
            <a:r>
              <a:rPr lang="en-US" sz="1100" dirty="0">
                <a:solidFill>
                  <a:srgbClr val="E6ECF1"/>
                </a:solidFill>
                <a:latin typeface="Calibri" pitchFamily="34" charset="0"/>
                <a:ea typeface="Calibri" pitchFamily="34" charset="-122"/>
                <a:cs typeface="Calibri" pitchFamily="34" charset="-120"/>
              </a:rPr>
              <a:t>Scenario-based evaluation of planner outputs</a:t>
            </a:r>
            <a:endParaRPr lang="en-US" sz="1100" dirty="0"/>
          </a:p>
          <a:p>
            <a:pPr marL="342900" indent="-342900">
              <a:spcAft>
                <a:spcPts val="600"/>
              </a:spcAft>
              <a:buSzPct val="100000"/>
              <a:buChar char="•"/>
            </a:pPr>
            <a:r>
              <a:rPr lang="en-US" sz="1100" dirty="0">
                <a:solidFill>
                  <a:srgbClr val="E6ECF1"/>
                </a:solidFill>
                <a:latin typeface="Calibri" pitchFamily="34" charset="0"/>
                <a:ea typeface="Calibri" pitchFamily="34" charset="-122"/>
                <a:cs typeface="Calibri" pitchFamily="34" charset="-120"/>
              </a:rPr>
              <a:t>Refresh NOTAM coverage when a current feed is available</a:t>
            </a:r>
            <a:endParaRPr lang="en-US" sz="1100" dirty="0"/>
          </a:p>
          <a:p>
            <a:pPr marL="342900" indent="-342900">
              <a:spcAft>
                <a:spcPts val="600"/>
              </a:spcAft>
              <a:buSzPct val="100000"/>
              <a:buChar char="•"/>
            </a:pPr>
            <a:r>
              <a:rPr lang="en-US" sz="1100" dirty="0">
                <a:solidFill>
                  <a:srgbClr val="E6ECF1"/>
                </a:solidFill>
                <a:latin typeface="Calibri" pitchFamily="34" charset="0"/>
                <a:ea typeface="Calibri" pitchFamily="34" charset="-122"/>
                <a:cs typeface="Calibri" pitchFamily="34" charset="-120"/>
              </a:rPr>
              <a:t>Extend checklist items as editorial priorities evolve</a:t>
            </a:r>
            <a:endParaRPr lang="en-US" sz="1100" dirty="0"/>
          </a:p>
        </p:txBody>
      </p:sp>
      <p:sp>
        <p:nvSpPr>
          <p:cNvPr id="19" name="Text 14"/>
          <p:cNvSpPr txBox="1"/>
          <p:nvPr/>
        </p:nvSpPr>
        <p:spPr>
          <a:xfrm>
            <a:off x="457200" y="4800600"/>
            <a:ext cx="8229600" cy="228600"/>
          </a:xfrm>
          <a:prstGeom prst="rect">
            <a:avLst/>
          </a:prstGeom>
          <a:noFill/>
          <a:ln/>
        </p:spPr>
        <p:txBody>
          <a:bodyPr wrap="square" lIns="0" tIns="0" rIns="0" bIns="0" rtlCol="0" anchor="ctr"/>
          <a:lstStyle/>
          <a:p>
            <a:pPr algn="r" indent="0" marL="0">
              <a:buNone/>
            </a:pPr>
            <a:r>
              <a:rPr lang="en-US" sz="900" dirty="0">
                <a:solidFill>
                  <a:srgbClr val="9AA8B5"/>
                </a:solidFill>
                <a:latin typeface="Calibri" pitchFamily="34" charset="0"/>
                <a:ea typeface="Calibri" pitchFamily="34" charset="-122"/>
                <a:cs typeface="Calibri" pitchFamily="34" charset="-120"/>
              </a:rPr>
              <a:t>CAITT · FCG Agentic Pipeline · 11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CAITT</dc:creator>
  <cp:lastModifiedBy>CAITT</cp:lastModifiedBy>
  <cp:revision>1</cp:revision>
  <dcterms:created xsi:type="dcterms:W3CDTF">2026-08-31T15:58:19Z</dcterms:created>
  <dcterms:modified xsi:type="dcterms:W3CDTF">2026-08-31T15:58:19Z</dcterms:modified>
</cp:coreProperties>
</file>