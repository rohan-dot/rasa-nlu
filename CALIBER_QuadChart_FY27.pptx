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0" y="274320"/>
            <a:ext cx="182880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274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/ TI Area</a:t>
            </a:r>
            <a:endParaRPr lang="en-US" sz="9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Security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60120" y="274320"/>
            <a:ext cx="8915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CALIBER</a:t>
            </a:r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CALibrated Agentic Behavior for Echo-Chamber Research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585216"/>
            <a:ext cx="8915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Leekha, Olga Simek — Group 52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877824"/>
            <a:ext cx="1161288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987552"/>
            <a:ext cx="0" cy="5321808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648456"/>
            <a:ext cx="1161288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042416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Concept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353312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Cognitive-warfare analysts need a controlled environment to study how persuasion moves through online echo chambers and to test mitigations before deployment. CALIBER builds a </a:t>
            </a:r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synthetic test environment</a:t>
            </a:r>
            <a:pPr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physics-informed (PINN) coefficients fit to real diffusion data calibrate an LLM-driven agent population, then we replicate Hackenburg et al. (Science 2025) persuasion-lever measurements </a:t>
            </a:r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calibrated chamber</a:t>
            </a:r>
            <a:pPr indent="0" marL="0"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beyond dyadic AI persuasion research.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176272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— What's new in our approach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359152"/>
            <a:ext cx="5532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Same PINN coefficients (α, ε, D, v, R)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real diffusion AND audit the agent sim. Fills the population-level validation gap that field leaders (Volkova 2026) call "totally understudied."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Echo-chamber detection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interpretable signatures (ε shrinking, in/out influence ratio rising) — not opaque embeddings. Operationally usable as monitoring indicators.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 competitors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BRIES (Volkova/Aptima 2025):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compound-AI persuasion attack/defense — audience not validated against real diffusion.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Generative-Agents, SALM, ElecTwit, SINN, OPINN: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qualitative "believability" validation or no LLM coupling.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7920" y="1042416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Graphic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1353312"/>
            <a:ext cx="2683764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353312"/>
            <a:ext cx="26837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measuring stick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83980" y="1353312"/>
            <a:ext cx="1323594" cy="219456"/>
          </a:xfrm>
          <a:prstGeom prst="rect">
            <a:avLst/>
          </a:prstGeom>
          <a:solidFill>
            <a:srgbClr val="1F3A5F"/>
          </a:solidFill>
          <a:ln w="6350">
            <a:solidFill>
              <a:srgbClr val="1F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83980" y="1353312"/>
            <a:ext cx="13235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model + calibration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344150" y="1353312"/>
            <a:ext cx="1360170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1F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44150" y="1353312"/>
            <a:ext cx="1360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1609344"/>
            <a:ext cx="648081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645920"/>
            <a:ext cx="6480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81928" y="1865376"/>
            <a:ext cx="611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data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81928" y="2157984"/>
            <a:ext cx="611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r/Brexit posts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948297" y="1609344"/>
            <a:ext cx="648081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8297" y="1645920"/>
            <a:ext cx="6480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66585" y="1865376"/>
            <a:ext cx="611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stances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966585" y="2157984"/>
            <a:ext cx="611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to +1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632954" y="1609344"/>
            <a:ext cx="648081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2954" y="1645920"/>
            <a:ext cx="6480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51242" y="1865376"/>
            <a:ext cx="611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graph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651242" y="2157984"/>
            <a:ext cx="611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edges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317611" y="1609344"/>
            <a:ext cx="648081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17611" y="1645920"/>
            <a:ext cx="6480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35899" y="1865376"/>
            <a:ext cx="611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PINN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335899" y="2157984"/>
            <a:ext cx="611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coefficients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9002268" y="1609344"/>
            <a:ext cx="648081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02268" y="1645920"/>
            <a:ext cx="6480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20556" y="1865376"/>
            <a:ext cx="611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020556" y="2157984"/>
            <a:ext cx="611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personas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9686925" y="1609344"/>
            <a:ext cx="648081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86925" y="1645920"/>
            <a:ext cx="6480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705213" y="1865376"/>
            <a:ext cx="611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705213" y="2157984"/>
            <a:ext cx="611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checks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371582" y="1609344"/>
            <a:ext cx="648081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371582" y="1645920"/>
            <a:ext cx="6480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389870" y="1865376"/>
            <a:ext cx="611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Persuasion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389870" y="2157984"/>
            <a:ext cx="611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1056239" y="1609344"/>
            <a:ext cx="648081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056239" y="1645920"/>
            <a:ext cx="6480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1074527" y="1865376"/>
            <a:ext cx="611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1074527" y="2157984"/>
            <a:ext cx="6115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stops it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263640" y="253288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 </a:t>
            </a:r>
            <a:pPr algn="l" indent="0" marL="0">
              <a:buNone/>
            </a:pPr>
            <a:r>
              <a:rPr lang="en-US" sz="850" i="1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→ coefficient fingerprint  ·  Step 6 → audit certificate  ·  Step 7 → which tactics work  ·  Step 8 → which defenses neutralize them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63640" y="2843784"/>
            <a:ext cx="5440680" cy="868680"/>
          </a:xfrm>
          <a:prstGeom prst="rect">
            <a:avLst/>
          </a:prstGeom>
          <a:solidFill>
            <a:srgbClr val="FAFAFA"/>
          </a:solidFill>
          <a:ln w="6350">
            <a:solidFill>
              <a:srgbClr val="1F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2898648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4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COEFFICIENT FINGERPRINT (Step 4 output)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8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stubbornness  ·  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8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radius (echo-chamber tightness)  ·  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8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w_in/out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in/out-group influence ratio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8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rate  ·  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8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/ external push  ·  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8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/ extremism reinforcement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11480" y="3703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Statement &amp; FY27 Objectives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57200" y="4014216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(if successful)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57200" y="4197096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Aggregate-metric estimates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how persuasion and misinformation propagate inside echo chambers — not individual prediction.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Early-warning monitoring indicators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analysts: tightening confidence radius, growing in/out-group asymmetry.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Measured inoculation effectiveness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pre-bunking, friction injection, structural rewiring — informs counter-narrative design.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57200" y="4910328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Objectives — milestones &amp; deliverables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57200" y="5093208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Q1–Q2: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PINN on r/Brexit + r/ChangeMyView; extract 6 coefficients per community.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with 95% CIs + audit memo.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Q2–Q3: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500-agent calibrated population; verify against three independent checks.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stack agreeing with human ChangeMyView Δ-awards at ≥ 70%.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Q3–Q4: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which persuasion tactics work inside the chamber (vary training, style, network position); pair each with a defense.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of effective tactics + matched defense effectiveness.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57200" y="6126480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Accomplishments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457200" y="630936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[Add prior Group 52 publications, Seedlings, ACC awards, or related cognitive-security work — bulleted list with citations]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217920" y="37033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Proposed Cost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263640" y="4105656"/>
            <a:ext cx="1280160" cy="292608"/>
          </a:xfrm>
          <a:prstGeom prst="rect">
            <a:avLst/>
          </a:prstGeom>
          <a:solidFill>
            <a:srgbClr val="1F3A5F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63640" y="41056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($K)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543800" y="4105656"/>
            <a:ext cx="1040130" cy="292608"/>
          </a:xfrm>
          <a:prstGeom prst="rect">
            <a:avLst/>
          </a:prstGeom>
          <a:solidFill>
            <a:srgbClr val="1F3A5F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43800" y="4105656"/>
            <a:ext cx="10401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Lincoln IOE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583930" y="4105656"/>
            <a:ext cx="1040130" cy="292608"/>
          </a:xfrm>
          <a:prstGeom prst="rect">
            <a:avLst/>
          </a:prstGeom>
          <a:solidFill>
            <a:srgbClr val="1F3A5F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583930" y="4105656"/>
            <a:ext cx="10401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Lincoln OP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9624060" y="4105656"/>
            <a:ext cx="1040130" cy="292608"/>
          </a:xfrm>
          <a:prstGeom prst="rect">
            <a:avLst/>
          </a:prstGeom>
          <a:solidFill>
            <a:srgbClr val="1F3A5F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624060" y="4105656"/>
            <a:ext cx="10401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0664190" y="4105656"/>
            <a:ext cx="1040130" cy="292608"/>
          </a:xfrm>
          <a:prstGeom prst="rect">
            <a:avLst/>
          </a:prstGeom>
          <a:solidFill>
            <a:srgbClr val="1F3A5F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664190" y="4105656"/>
            <a:ext cx="10401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263640" y="4398264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55080" y="4398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543800" y="4398264"/>
            <a:ext cx="104013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543800" y="4398264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583930" y="4398264"/>
            <a:ext cx="104013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583930" y="4398264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624060" y="4398264"/>
            <a:ext cx="104013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624060" y="4398264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0664190" y="4398264"/>
            <a:ext cx="104013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664190" y="4398264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263640" y="4672584"/>
            <a:ext cx="1280160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355080" y="46725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543800" y="4672584"/>
            <a:ext cx="1040130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543800" y="4672584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583930" y="4672584"/>
            <a:ext cx="1040130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583930" y="4672584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9624060" y="4672584"/>
            <a:ext cx="1040130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624060" y="4672584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10664190" y="4672584"/>
            <a:ext cx="1040130" cy="274320"/>
          </a:xfrm>
          <a:prstGeom prst="rect">
            <a:avLst/>
          </a:prstGeom>
          <a:solidFill>
            <a:srgbClr val="FAFAFA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664190" y="4672584"/>
            <a:ext cx="104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6263640" y="5111496"/>
            <a:ext cx="128016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543800" y="5111496"/>
            <a:ext cx="138684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543800" y="5111496"/>
            <a:ext cx="138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8930640" y="5111496"/>
            <a:ext cx="138684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930640" y="5111496"/>
            <a:ext cx="138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10317480" y="5111496"/>
            <a:ext cx="138684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317480" y="5111496"/>
            <a:ext cx="138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6263640" y="5312664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355080" y="53126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7543800" y="5312664"/>
            <a:ext cx="1386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543800" y="5312664"/>
            <a:ext cx="138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8930640" y="5312664"/>
            <a:ext cx="1386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930640" y="5312664"/>
            <a:ext cx="138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10317480" y="5312664"/>
            <a:ext cx="1386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317480" y="5312664"/>
            <a:ext cx="138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6263640" y="5586984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355080" y="5586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 Line IOE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7543800" y="5586984"/>
            <a:ext cx="1386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543800" y="5586984"/>
            <a:ext cx="138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8930640" y="5586984"/>
            <a:ext cx="1386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930640" y="5586984"/>
            <a:ext cx="138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10317480" y="5586984"/>
            <a:ext cx="1386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317480" y="5586984"/>
            <a:ext cx="138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6263640" y="597103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pPr algn="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$350K</a:t>
            </a:r>
            <a:endParaRPr lang="en-US" sz="1400" dirty="0"/>
          </a:p>
        </p:txBody>
      </p:sp>
      <p:sp>
        <p:nvSpPr>
          <p:cNvPr id="121" name="Shape 119"/>
          <p:cNvSpPr/>
          <p:nvPr/>
        </p:nvSpPr>
        <p:spPr>
          <a:xfrm>
            <a:off x="6263640" y="6300216"/>
            <a:ext cx="54406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355080" y="6336792"/>
            <a:ext cx="5257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B85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assumption: </a:t>
            </a:r>
            <a:pPr indent="0" marL="0">
              <a:buNone/>
            </a:pPr>
            <a:r>
              <a:rPr lang="en-US" sz="850" i="1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open-weights local LLMs (Llama-3, Qwen, Mistral) on existing Lab GPU resources — </a:t>
            </a:r>
            <a:pPr indent="0" marL="0">
              <a:buNone/>
            </a:pPr>
            <a:r>
              <a:rPr lang="en-US" sz="85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API spend</a:t>
            </a:r>
            <a:pPr indent="0" marL="0">
              <a:buNone/>
            </a:pPr>
            <a:r>
              <a:rPr lang="en-US" sz="850" i="1" dirty="0">
                <a:solidFill>
                  <a:srgbClr val="3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Budget covers personnel + data acquisition + IRB/red-team review only.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274320" y="6601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Line/TI CFP — 1     ·     RL/OS  04/29/26</a:t>
            </a:r>
            <a:endParaRPr lang="en-US" sz="850" dirty="0"/>
          </a:p>
        </p:txBody>
      </p:sp>
      <p:sp>
        <p:nvSpPr>
          <p:cNvPr id="124" name="Text 122"/>
          <p:cNvSpPr/>
          <p:nvPr/>
        </p:nvSpPr>
        <p:spPr>
          <a:xfrm>
            <a:off x="7772400" y="66019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LINCOLN LABORATORY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CALIBER FY27 Quad Chart</dc:title>
  <dc:subject>PptxGenJS Presentation</dc:subject>
  <dc:creator>PptxGenJS</dc:creator>
  <cp:lastModifiedBy>PptxGenJS</cp:lastModifiedBy>
  <cp:revision>1</cp:revision>
  <dcterms:created xsi:type="dcterms:W3CDTF">2026-04-29T23:21:37Z</dcterms:created>
  <dcterms:modified xsi:type="dcterms:W3CDTF">2026-04-29T23:21:37Z</dcterms:modified>
</cp:coreProperties>
</file>