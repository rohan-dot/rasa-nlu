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A5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2743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0058400" y="274320"/>
            <a:ext cx="1828800" cy="5029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0" y="2743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/ TI Area</a:t>
            </a:r>
            <a:endParaRPr lang="en-US" sz="9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Security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60120" y="274320"/>
            <a:ext cx="8915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CALIBER</a:t>
            </a:r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CALibrated Agentic Behavior for Echo-Chamber Research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585216"/>
            <a:ext cx="8915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Rohan Leekha, Olga Simek — Group 52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877824"/>
            <a:ext cx="11612880" cy="0"/>
          </a:xfrm>
          <a:prstGeom prst="line">
            <a:avLst/>
          </a:prstGeom>
          <a:noFill/>
          <a:ln w="19050">
            <a:solidFill>
              <a:srgbClr val="1F3A5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80760" y="987552"/>
            <a:ext cx="0" cy="5321808"/>
          </a:xfrm>
          <a:prstGeom prst="line">
            <a:avLst/>
          </a:prstGeom>
          <a:noFill/>
          <a:ln w="12700">
            <a:solidFill>
              <a:srgbClr val="1F3A5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74320" y="3648456"/>
            <a:ext cx="11612880" cy="0"/>
          </a:xfrm>
          <a:prstGeom prst="line">
            <a:avLst/>
          </a:prstGeom>
          <a:noFill/>
          <a:ln w="12700">
            <a:solidFill>
              <a:srgbClr val="1F3A5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11480" y="104241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Concept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1353312"/>
            <a:ext cx="5532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Cognitive-warfare analysts need a controlled environment to study how persuasion moves through online echo chambers and to test mitigations before deployment. CALIBER builds a </a:t>
            </a:r>
            <a:pPr indent="0" marL="0">
              <a:buNone/>
            </a:pPr>
            <a:r>
              <a:rPr lang="en-US" sz="9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synthetic test environment</a:t>
            </a:r>
            <a:pPr indent="0" marL="0"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physics-informed (PINN) coefficients fit to real diffusion data calibrate an LLM-driven agent population, then we replicate Hackenburg et al. (Science 2025) persuasion-lever measurements </a:t>
            </a:r>
            <a:pPr indent="0" marL="0">
              <a:buNone/>
            </a:pPr>
            <a:r>
              <a:rPr lang="en-US" sz="9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calibrated chamber</a:t>
            </a:r>
            <a:pPr indent="0" marL="0"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beyond dyadic AI persuasion research.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57200" y="2176272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Novelty — What's new in our approach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7200" y="2359152"/>
            <a:ext cx="5532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Same PINN coefficients (α, ε, D, v, R)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real diffusion AND audit the agent sim. Fills the population-level validation gap that field leaders (Volkova 2026) call "totally understudied."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Echo-chamber detection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interpretable signatures (ε shrinking, in/out influence ratio rising) — not opaque embeddings. Operationally usable as monitoring indicators.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7200" y="310896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our competitors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57200" y="3291840"/>
            <a:ext cx="5532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BRIES (Volkova/Aptima 2025):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compound-AI persuasion attack/defense — audience not validated against real diffusion.</a:t>
            </a:r>
            <a:endParaRPr lang="en-US" sz="8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Generative-Agents, SALM, ElecTwit, SINN, OPINN: </a:t>
            </a:r>
            <a:pPr indent="0" marL="0">
              <a:spcAft>
                <a:spcPts val="200"/>
              </a:spcAft>
              <a:buNone/>
            </a:pPr>
            <a:r>
              <a:rPr lang="en-US" sz="8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either qualitative "believability" validation or no LLM coupling.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217920" y="1042416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Graphic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263640" y="1353312"/>
            <a:ext cx="2683764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1F3A5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63640" y="1353312"/>
            <a:ext cx="26837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measuring stick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8983980" y="1353312"/>
            <a:ext cx="1323594" cy="219456"/>
          </a:xfrm>
          <a:prstGeom prst="rect">
            <a:avLst/>
          </a:prstGeom>
          <a:solidFill>
            <a:srgbClr val="1F3A5F"/>
          </a:solidFill>
          <a:ln w="6350">
            <a:solidFill>
              <a:srgbClr val="1F3A5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983980" y="1353312"/>
            <a:ext cx="13235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model + calibration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0344150" y="1353312"/>
            <a:ext cx="1360170" cy="219456"/>
          </a:xfrm>
          <a:prstGeom prst="rect">
            <a:avLst/>
          </a:prstGeom>
          <a:solidFill>
            <a:srgbClr val="F5F5F5"/>
          </a:solidFill>
          <a:ln w="6350">
            <a:solidFill>
              <a:srgbClr val="1F3A5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344150" y="1353312"/>
            <a:ext cx="136017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3640" y="1609344"/>
            <a:ext cx="648081" cy="868680"/>
          </a:xfrm>
          <a:prstGeom prst="rect">
            <a:avLst/>
          </a:prstGeom>
          <a:solidFill>
            <a:srgbClr val="FAFA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3640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281928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data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281928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r/Brexit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6948297" y="1609344"/>
            <a:ext cx="648081" cy="868680"/>
          </a:xfrm>
          <a:prstGeom prst="rect">
            <a:avLst/>
          </a:prstGeom>
          <a:solidFill>
            <a:srgbClr val="FAFA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48297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966585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stances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6966585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RoBERTa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632954" y="1609344"/>
            <a:ext cx="648081" cy="868680"/>
          </a:xfrm>
          <a:prstGeom prst="rect">
            <a:avLst/>
          </a:prstGeom>
          <a:solidFill>
            <a:srgbClr val="FAFA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632954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651242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graph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7651242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reply edges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8317611" y="1609344"/>
            <a:ext cx="648081" cy="868680"/>
          </a:xfrm>
          <a:prstGeom prst="rect">
            <a:avLst/>
          </a:prstGeom>
          <a:solidFill>
            <a:srgbClr val="FAFA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17611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335899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PINN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8335899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FJ · HK · DCR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9002268" y="1609344"/>
            <a:ext cx="648081" cy="868680"/>
          </a:xfrm>
          <a:prstGeom prst="rect">
            <a:avLst/>
          </a:prstGeom>
          <a:solidFill>
            <a:srgbClr val="FAFA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002268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9020556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9020556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personas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9686925" y="1609344"/>
            <a:ext cx="648081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86925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9705213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9705213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layers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10371582" y="1609344"/>
            <a:ext cx="648081" cy="868680"/>
          </a:xfrm>
          <a:prstGeom prst="rect">
            <a:avLst/>
          </a:prstGeom>
          <a:solidFill>
            <a:srgbClr val="FAFA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371582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0389870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Persuasion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0389870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cells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11056239" y="1609344"/>
            <a:ext cx="648081" cy="868680"/>
          </a:xfrm>
          <a:prstGeom prst="rect">
            <a:avLst/>
          </a:prstGeom>
          <a:solidFill>
            <a:srgbClr val="FAFAFA"/>
          </a:solidFill>
          <a:ln w="12700">
            <a:solidFill>
              <a:srgbClr val="1F3A5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056239" y="1645920"/>
            <a:ext cx="64808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1074527" y="1865376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Defense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1074527" y="2157984"/>
            <a:ext cx="61150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inocs.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6263640" y="253288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850" b="1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Outputs:  </a:t>
            </a:r>
            <a:pPr algn="l" indent="0" marL="0">
              <a:buNone/>
            </a:pPr>
            <a:r>
              <a:rPr lang="en-US" sz="850" i="1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→ coefficient fingerprint  ·  Step 6 → audit certificate (CMV Δ ≥ 70%)  ·  Step 7 → lever-effect matrix  ·  Step 8 → defense effectiveness curves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263640" y="2843784"/>
            <a:ext cx="5440680" cy="868680"/>
          </a:xfrm>
          <a:prstGeom prst="rect">
            <a:avLst/>
          </a:prstGeom>
          <a:solidFill>
            <a:srgbClr val="FAFAFA"/>
          </a:solidFill>
          <a:ln w="6350">
            <a:solidFill>
              <a:srgbClr val="1F3A5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355080" y="2898648"/>
            <a:ext cx="5257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spc="4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 COEFFICIENT FINGERPRINT (Step 4 output)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stubbornness  ·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radius (echo-chamber tightness)  ·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w_in/out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in/out-group influence ratio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rate  ·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convection / external push  ·  </a:t>
            </a:r>
            <a:pPr indent="0" marL="0">
              <a:spcAft>
                <a:spcPts val="200"/>
              </a:spcAft>
              <a:buNone/>
            </a:pPr>
            <a:r>
              <a:rPr lang="en-US" sz="950" b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reaction / extremism reinforcement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11480" y="3703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Statement &amp; FY27 Objectives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457200" y="4014216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(if successful)</a:t>
            </a:r>
            <a:endParaRPr lang="en-US" sz="1050" dirty="0"/>
          </a:p>
        </p:txBody>
      </p:sp>
      <p:sp>
        <p:nvSpPr>
          <p:cNvPr id="61" name="Text 59"/>
          <p:cNvSpPr/>
          <p:nvPr/>
        </p:nvSpPr>
        <p:spPr>
          <a:xfrm>
            <a:off x="457200" y="4197096"/>
            <a:ext cx="55321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Aggregate-metric estimates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how persuasion and misinformation propagate inside echo chambers — not individual prediction.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Early-warning monitoring indicators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analysts: tightening confidence radius, growing in/out-group asymmetry.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Measured inoculation effectiveness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pre-bunking, friction injection, structural rewiring — informs counter-narrative design.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457200" y="4910328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Objectives — milestones &amp; deliverables</a:t>
            </a:r>
            <a:endParaRPr lang="en-US" sz="1050" dirty="0"/>
          </a:p>
        </p:txBody>
      </p:sp>
      <p:sp>
        <p:nvSpPr>
          <p:cNvPr id="63" name="Text 61"/>
          <p:cNvSpPr/>
          <p:nvPr/>
        </p:nvSpPr>
        <p:spPr>
          <a:xfrm>
            <a:off x="457200" y="5093208"/>
            <a:ext cx="5532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Q1–Q2: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 PINN on r/Brexit + r/ChangeMyView (FJ/HK/DCR priors).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coefficient fingerprint with 95% CIs + audit memo.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Q2–Q3: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500-agent calibrated population; three-layer validation.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stack passing ≥ 70% Δ-agreement on held-out CMV.</a:t>
            </a:r>
            <a:endParaRPr lang="en-US" sz="85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85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Q3–Q4: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160-cell persuasion sweep + 3-defense study.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Deliverable: </a:t>
            </a:r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lever-effect matrix + defense curves + transition memo.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457200" y="612648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i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Previous Accomplishments</a:t>
            </a:r>
            <a:endParaRPr lang="en-US" sz="1050" dirty="0"/>
          </a:p>
        </p:txBody>
      </p:sp>
      <p:sp>
        <p:nvSpPr>
          <p:cNvPr id="65" name="Text 63"/>
          <p:cNvSpPr/>
          <p:nvPr/>
        </p:nvSpPr>
        <p:spPr>
          <a:xfrm>
            <a:off x="457200" y="630936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8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[Add prior Group 52 publications, Seedlings, ACC awards, or related cognitive-security work — bulleted list with citations]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6217920" y="3703320"/>
            <a:ext cx="5532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Proposed Cost</a:t>
            </a:r>
            <a:endParaRPr lang="en-US" sz="1400" dirty="0"/>
          </a:p>
        </p:txBody>
      </p:sp>
      <p:sp>
        <p:nvSpPr>
          <p:cNvPr id="67" name="Shape 65"/>
          <p:cNvSpPr/>
          <p:nvPr/>
        </p:nvSpPr>
        <p:spPr>
          <a:xfrm>
            <a:off x="6263640" y="4105656"/>
            <a:ext cx="128016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263640" y="41056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($K)</a:t>
            </a:r>
            <a:endParaRPr lang="en-US" sz="950" dirty="0"/>
          </a:p>
        </p:txBody>
      </p:sp>
      <p:sp>
        <p:nvSpPr>
          <p:cNvPr id="69" name="Shape 67"/>
          <p:cNvSpPr/>
          <p:nvPr/>
        </p:nvSpPr>
        <p:spPr>
          <a:xfrm>
            <a:off x="754380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754380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Lincoln IOE</a:t>
            </a:r>
            <a:endParaRPr lang="en-US" sz="950" dirty="0"/>
          </a:p>
        </p:txBody>
      </p:sp>
      <p:sp>
        <p:nvSpPr>
          <p:cNvPr id="71" name="Shape 69"/>
          <p:cNvSpPr/>
          <p:nvPr/>
        </p:nvSpPr>
        <p:spPr>
          <a:xfrm>
            <a:off x="858393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58393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Lincoln OP</a:t>
            </a:r>
            <a:endParaRPr lang="en-US" sz="950" dirty="0"/>
          </a:p>
        </p:txBody>
      </p:sp>
      <p:sp>
        <p:nvSpPr>
          <p:cNvPr id="73" name="Shape 71"/>
          <p:cNvSpPr/>
          <p:nvPr/>
        </p:nvSpPr>
        <p:spPr>
          <a:xfrm>
            <a:off x="962406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62406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University</a:t>
            </a:r>
            <a:endParaRPr lang="en-US" sz="950" dirty="0"/>
          </a:p>
        </p:txBody>
      </p:sp>
      <p:sp>
        <p:nvSpPr>
          <p:cNvPr id="75" name="Shape 73"/>
          <p:cNvSpPr/>
          <p:nvPr/>
        </p:nvSpPr>
        <p:spPr>
          <a:xfrm>
            <a:off x="10664190" y="4105656"/>
            <a:ext cx="1040130" cy="292608"/>
          </a:xfrm>
          <a:prstGeom prst="rect">
            <a:avLst/>
          </a:prstGeom>
          <a:solidFill>
            <a:srgbClr val="1F3A5F"/>
          </a:solidFill>
          <a:ln w="9525">
            <a:solidFill>
              <a:srgbClr val="1F3A5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664190" y="4105656"/>
            <a:ext cx="104013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50" dirty="0"/>
          </a:p>
        </p:txBody>
      </p:sp>
      <p:sp>
        <p:nvSpPr>
          <p:cNvPr id="77" name="Shape 75"/>
          <p:cNvSpPr/>
          <p:nvPr/>
        </p:nvSpPr>
        <p:spPr>
          <a:xfrm>
            <a:off x="6263640" y="4398264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355080" y="4398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54380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54380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858393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58393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962406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962406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10664190" y="4398264"/>
            <a:ext cx="104013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0664190" y="439826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6263640" y="4672584"/>
            <a:ext cx="128016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6355080" y="46725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Allocated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54380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54380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858393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58393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962406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62406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10664190" y="4672584"/>
            <a:ext cx="1040130" cy="274320"/>
          </a:xfrm>
          <a:prstGeom prst="rect">
            <a:avLst/>
          </a:prstGeom>
          <a:solidFill>
            <a:srgbClr val="FAFAFA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0664190" y="4672584"/>
            <a:ext cx="104013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6263640" y="5111496"/>
            <a:ext cx="128016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543800" y="5111496"/>
            <a:ext cx="138684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543800" y="5111496"/>
            <a:ext cx="138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</a:t>
            </a:r>
            <a:endParaRPr lang="en-US" sz="850" dirty="0"/>
          </a:p>
        </p:txBody>
      </p:sp>
      <p:sp>
        <p:nvSpPr>
          <p:cNvPr id="100" name="Shape 98"/>
          <p:cNvSpPr/>
          <p:nvPr/>
        </p:nvSpPr>
        <p:spPr>
          <a:xfrm>
            <a:off x="8930640" y="5111496"/>
            <a:ext cx="138684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930640" y="5111496"/>
            <a:ext cx="138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B</a:t>
            </a:r>
            <a:endParaRPr lang="en-US" sz="850" dirty="0"/>
          </a:p>
        </p:txBody>
      </p:sp>
      <p:sp>
        <p:nvSpPr>
          <p:cNvPr id="102" name="Shape 100"/>
          <p:cNvSpPr/>
          <p:nvPr/>
        </p:nvSpPr>
        <p:spPr>
          <a:xfrm>
            <a:off x="10317480" y="5111496"/>
            <a:ext cx="1386840" cy="201168"/>
          </a:xfrm>
          <a:prstGeom prst="rect">
            <a:avLst/>
          </a:prstGeom>
          <a:solidFill>
            <a:srgbClr val="F5F5F5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0317480" y="5111496"/>
            <a:ext cx="1386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C</a:t>
            </a:r>
            <a:endParaRPr lang="en-US" sz="850" dirty="0"/>
          </a:p>
        </p:txBody>
      </p:sp>
      <p:sp>
        <p:nvSpPr>
          <p:cNvPr id="104" name="Shape 102"/>
          <p:cNvSpPr/>
          <p:nvPr/>
        </p:nvSpPr>
        <p:spPr>
          <a:xfrm>
            <a:off x="6263640" y="5312664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355080" y="53126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7543800" y="531266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7543800" y="531266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8930640" y="531266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930640" y="531266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10317480" y="531266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10317480" y="531266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2" name="Shape 110"/>
          <p:cNvSpPr/>
          <p:nvPr/>
        </p:nvSpPr>
        <p:spPr>
          <a:xfrm>
            <a:off x="6263640" y="5586984"/>
            <a:ext cx="128016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55080" y="558698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 Line IOE</a:t>
            </a:r>
            <a:endParaRPr lang="en-US" sz="1000" dirty="0"/>
          </a:p>
        </p:txBody>
      </p:sp>
      <p:sp>
        <p:nvSpPr>
          <p:cNvPr id="114" name="Shape 112"/>
          <p:cNvSpPr/>
          <p:nvPr/>
        </p:nvSpPr>
        <p:spPr>
          <a:xfrm>
            <a:off x="7543800" y="558698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7543800" y="558698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</a:t>
            </a:r>
            <a:endParaRPr lang="en-US" sz="1000" dirty="0"/>
          </a:p>
        </p:txBody>
      </p:sp>
      <p:sp>
        <p:nvSpPr>
          <p:cNvPr id="116" name="Shape 114"/>
          <p:cNvSpPr/>
          <p:nvPr/>
        </p:nvSpPr>
        <p:spPr>
          <a:xfrm>
            <a:off x="8930640" y="558698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930640" y="558698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18" name="Shape 116"/>
          <p:cNvSpPr/>
          <p:nvPr/>
        </p:nvSpPr>
        <p:spPr>
          <a:xfrm>
            <a:off x="10317480" y="5586984"/>
            <a:ext cx="138684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B8B8B8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10317480" y="5586984"/>
            <a:ext cx="1386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00" dirty="0"/>
          </a:p>
        </p:txBody>
      </p:sp>
      <p:sp>
        <p:nvSpPr>
          <p:cNvPr id="120" name="Text 118"/>
          <p:cNvSpPr/>
          <p:nvPr/>
        </p:nvSpPr>
        <p:spPr>
          <a:xfrm>
            <a:off x="6263640" y="5971032"/>
            <a:ext cx="5440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</a:t>
            </a:r>
            <a:pPr algn="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$350K</a:t>
            </a:r>
            <a:endParaRPr lang="en-US" sz="1400" dirty="0"/>
          </a:p>
        </p:txBody>
      </p:sp>
      <p:sp>
        <p:nvSpPr>
          <p:cNvPr id="121" name="Shape 119"/>
          <p:cNvSpPr/>
          <p:nvPr/>
        </p:nvSpPr>
        <p:spPr>
          <a:xfrm>
            <a:off x="6263640" y="6300216"/>
            <a:ext cx="5440680" cy="502920"/>
          </a:xfrm>
          <a:prstGeom prst="rect">
            <a:avLst/>
          </a:prstGeom>
          <a:solidFill>
            <a:srgbClr val="F5F5F5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355080" y="6336792"/>
            <a:ext cx="5257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i="1" dirty="0">
                <a:solidFill>
                  <a:srgbClr val="B85D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assumption: </a:t>
            </a:r>
            <a:pPr indent="0" marL="0">
              <a:buNone/>
            </a:pPr>
            <a:r>
              <a:rPr lang="en-US" sz="850" i="1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open-weights local LLMs (Llama-3, Qwen, Mistral) on existing Lab GPU resources — </a:t>
            </a:r>
            <a:pPr indent="0" marL="0">
              <a:buNone/>
            </a:pPr>
            <a:r>
              <a:rPr lang="en-US" sz="85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external API spend</a:t>
            </a:r>
            <a:pPr indent="0" marL="0">
              <a:buNone/>
            </a:pPr>
            <a:r>
              <a:rPr lang="en-US" sz="850" i="1" dirty="0">
                <a:solidFill>
                  <a:srgbClr val="3030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Budget covers personnel + data acquisition + IRB/red-team review only.</a:t>
            </a:r>
            <a:endParaRPr lang="en-US" sz="850" dirty="0"/>
          </a:p>
        </p:txBody>
      </p:sp>
      <p:sp>
        <p:nvSpPr>
          <p:cNvPr id="123" name="Text 121"/>
          <p:cNvSpPr/>
          <p:nvPr/>
        </p:nvSpPr>
        <p:spPr>
          <a:xfrm>
            <a:off x="274320" y="6601968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Line/TI CFP — 1     ·     RL/OS  04/29/26</a:t>
            </a:r>
            <a:endParaRPr lang="en-US" sz="850" dirty="0"/>
          </a:p>
        </p:txBody>
      </p:sp>
      <p:sp>
        <p:nvSpPr>
          <p:cNvPr id="124" name="Text 122"/>
          <p:cNvSpPr/>
          <p:nvPr/>
        </p:nvSpPr>
        <p:spPr>
          <a:xfrm>
            <a:off x="7772400" y="6601968"/>
            <a:ext cx="4114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400" kern="0" dirty="0">
                <a:solidFill>
                  <a:srgbClr val="1F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 LINCOLN LABORATORY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CALIBER FY27 Quad Chart</dc:title>
  <dc:subject>PptxGenJS Presentation</dc:subject>
  <dc:creator>PptxGenJS</dc:creator>
  <cp:lastModifiedBy>PptxGenJS</cp:lastModifiedBy>
  <cp:revision>1</cp:revision>
  <dcterms:created xsi:type="dcterms:W3CDTF">2026-04-29T23:14:24Z</dcterms:created>
  <dcterms:modified xsi:type="dcterms:W3CDTF">2026-04-29T23:14:24Z</dcterms:modified>
</cp:coreProperties>
</file>