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MITLL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058400" y="274320"/>
            <a:ext cx="18288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274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TI Area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Security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8915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Synthetic Test Environment for Echo-Chamber &amp; Persuasion Analysis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585216"/>
            <a:ext cx="8915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[Last Name] — Group XX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877824"/>
            <a:ext cx="116128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987552"/>
            <a:ext cx="0" cy="5321808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648456"/>
            <a:ext cx="1161288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4241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Concept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353312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gives us a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stick</a:t>
            </a:r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real diffusion data. LLM agents are a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model</a:t>
            </a:r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coefficients</a:t>
            </a:r>
            <a:pPr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fit real data and audit the agent sim — fills the population-level validation gap (Volkova 2026); networked replication of Hackenburg et al. (Science 2025) beyond dyadic measurement.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fingerprint — 6 coefficients fit per community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4505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⟨α⟩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stubbornness — pull to baseline (FJ)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⟨ε⟩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63347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radius — chamber tightness (HK)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8163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⟨w_in/out⟩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281635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in-group vs out-group influence ratio (FJ)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299923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rate — graph-wide spread (DCR)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18211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31821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— directional drift (DCR)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364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33649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— extremism self-reinforcement (DCR)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104241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Graphic — 8-step pipeline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1371600"/>
            <a:ext cx="2683764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371600"/>
            <a:ext cx="2683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measuring stick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83980" y="1371600"/>
            <a:ext cx="1323594" cy="237744"/>
          </a:xfrm>
          <a:prstGeom prst="rect">
            <a:avLst/>
          </a:prstGeom>
          <a:solidFill>
            <a:srgbClr val="1F3A5F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83980" y="1371600"/>
            <a:ext cx="13235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model + calibration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344150" y="1371600"/>
            <a:ext cx="136017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44150" y="1371600"/>
            <a:ext cx="13601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1645920"/>
            <a:ext cx="648081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682496"/>
            <a:ext cx="64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81928" y="1938528"/>
            <a:ext cx="6115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81928" y="2249424"/>
            <a:ext cx="611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r/Brexit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48297" y="1645920"/>
            <a:ext cx="648081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8297" y="1682496"/>
            <a:ext cx="64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66585" y="1938528"/>
            <a:ext cx="6115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stances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66585" y="2249424"/>
            <a:ext cx="611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32954" y="1645920"/>
            <a:ext cx="648081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2954" y="1682496"/>
            <a:ext cx="64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51242" y="1938528"/>
            <a:ext cx="6115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51242" y="2249424"/>
            <a:ext cx="611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edges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317611" y="1645920"/>
            <a:ext cx="648081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17611" y="1682496"/>
            <a:ext cx="64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335899" y="1938528"/>
            <a:ext cx="6115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PINN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35899" y="2249424"/>
            <a:ext cx="611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 · HK · DCR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02268" y="1645920"/>
            <a:ext cx="648081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02268" y="1682496"/>
            <a:ext cx="64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020556" y="1938528"/>
            <a:ext cx="6115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020556" y="2249424"/>
            <a:ext cx="611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personas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686925" y="1645920"/>
            <a:ext cx="648081" cy="9601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86925" y="1682496"/>
            <a:ext cx="64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705213" y="1938528"/>
            <a:ext cx="6115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705213" y="2249424"/>
            <a:ext cx="611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371582" y="1645920"/>
            <a:ext cx="648081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371582" y="1682496"/>
            <a:ext cx="64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389870" y="1938528"/>
            <a:ext cx="6115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389870" y="2249424"/>
            <a:ext cx="611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cells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1056239" y="1645920"/>
            <a:ext cx="648081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56239" y="1682496"/>
            <a:ext cx="64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074527" y="1938528"/>
            <a:ext cx="6115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074527" y="2249424"/>
            <a:ext cx="611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inocs.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63640" y="26609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 </a:t>
            </a:r>
            <a:pPr algn="l" indent="0" marL="0">
              <a:buNone/>
            </a:pPr>
            <a:r>
              <a:rPr lang="en-US" sz="850" i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→ coefficient fingerprint  ·  Step 6 → audit certificate (CMV Δ ≥ 70%)  ·  Step 7 → lever-effect matrix  ·  Step 8 → defense effectiveness curves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63640" y="2990088"/>
            <a:ext cx="2674620" cy="548640"/>
          </a:xfrm>
          <a:prstGeom prst="rect">
            <a:avLst/>
          </a:prstGeom>
          <a:solidFill>
            <a:srgbClr val="FAFAFA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36792" y="3044952"/>
            <a:ext cx="25283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4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Calibrated, auditable, uncertainty-aware experimentation environment for analysts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029700" y="2990088"/>
            <a:ext cx="2674620" cy="548640"/>
          </a:xfrm>
          <a:prstGeom prst="rect">
            <a:avLst/>
          </a:prstGeom>
          <a:solidFill>
            <a:srgbClr val="FAFAFA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02852" y="3044952"/>
            <a:ext cx="25283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400" kern="0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PRODUCT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red-team stimulus module operating inside the calibrated environment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11480" y="3703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Objectives &amp; Example Results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457200" y="4014216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must pass three layers (Step 6)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57200" y="419709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</a:t>
            </a:r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match — sim ⟨α⟩, ⟨ε⟩, D, v, R within real-data 95% CIs (real ⟨α⟩=0.42±0.04 → sim 0.39 ✓)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47141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</a:t>
            </a:r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behavioral gates — cascade timing, drop-out, sentiment trajectories, cross-topic, opinion-leader rank ρ ≥ 0.5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57200" y="4745736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</a:t>
            </a:r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ChangeMyView Δ ground truth — sim CMV-OP agents agree with human deltas at </a:t>
            </a:r>
            <a:pPr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57200" y="5020056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experimental result (Step 7, Cell #073)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57200" y="5202936"/>
            <a:ext cx="5440680" cy="731520"/>
          </a:xfrm>
          <a:prstGeom prst="rect">
            <a:avLst/>
          </a:prstGeom>
          <a:solidFill>
            <a:srgbClr val="F5F5F5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52578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info-dense + RM-trained + bridge position  →  </a:t>
            </a: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ΔAttitude +0.18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Δ-rate 14%</a:t>
            </a:r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cascade reach 38%  ·  factual accuracy </a:t>
            </a:r>
            <a:pPr indent="0" marL="0">
              <a:buNone/>
            </a:pPr>
            <a:r>
              <a:rPr lang="en-US" sz="100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 more persuasive than baseline cell — but 4× the rate of false claims. 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Hackenburg persuasion-accuracy tradeoff at network scale.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7200" y="5980176"/>
            <a:ext cx="5532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defense: </a:t>
            </a:r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pre-bunk 39% · friction 22% · combined </a:t>
            </a:r>
            <a:pPr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reduction</a:t>
            </a:r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paired offense/defense (BRIES-mirror)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57200" y="6254496"/>
            <a:ext cx="544068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6291072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caveats: </a:t>
            </a:r>
            <a:pPr indent="0" marL="0">
              <a:buNone/>
            </a:pPr>
            <a:r>
              <a:rPr lang="en-US" sz="850" i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aggregate approximations — not individual-level predictions; periodic re-tuning required; Brexit is one corpus.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217920" y="3703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Proposed Cost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6263640" y="4105656"/>
            <a:ext cx="128016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63640" y="41056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($K)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543800" y="4105656"/>
            <a:ext cx="104013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43800" y="4105656"/>
            <a:ext cx="10401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IOE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583930" y="4105656"/>
            <a:ext cx="104013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583930" y="4105656"/>
            <a:ext cx="10401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OP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9624060" y="4105656"/>
            <a:ext cx="104013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624060" y="4105656"/>
            <a:ext cx="10401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10664190" y="4105656"/>
            <a:ext cx="104013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664190" y="4105656"/>
            <a:ext cx="10401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263640" y="4398264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55080" y="4398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543800" y="4398264"/>
            <a:ext cx="104013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43800" y="439826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8583930" y="4398264"/>
            <a:ext cx="104013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583930" y="439826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9624060" y="4398264"/>
            <a:ext cx="104013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624060" y="439826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0664190" y="4398264"/>
            <a:ext cx="104013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664190" y="439826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263640" y="4672584"/>
            <a:ext cx="128016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55080" y="4672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543800" y="4672584"/>
            <a:ext cx="104013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543800" y="467258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8583930" y="4672584"/>
            <a:ext cx="104013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583930" y="467258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9624060" y="4672584"/>
            <a:ext cx="104013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624060" y="467258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0664190" y="4672584"/>
            <a:ext cx="104013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664190" y="467258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6263640" y="5111496"/>
            <a:ext cx="128016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43800" y="5111496"/>
            <a:ext cx="13868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543800" y="5111496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8930640" y="5111496"/>
            <a:ext cx="13868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930640" y="5111496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10317480" y="5111496"/>
            <a:ext cx="13868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317480" y="5111496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6263640" y="5312664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355080" y="53126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7543800" y="531266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543800" y="531266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8930640" y="531266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930640" y="531266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10317480" y="531266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317480" y="531266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6263640" y="5586984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355080" y="5586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Line IOE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7543800" y="558698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543800" y="558698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930640" y="558698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930640" y="558698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10317480" y="558698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317480" y="558698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6263640" y="59710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$350K</a:t>
            </a:r>
            <a:endParaRPr lang="en-US" sz="1400" dirty="0"/>
          </a:p>
        </p:txBody>
      </p:sp>
      <p:sp>
        <p:nvSpPr>
          <p:cNvPr id="136" name="Shape 134"/>
          <p:cNvSpPr/>
          <p:nvPr/>
        </p:nvSpPr>
        <p:spPr>
          <a:xfrm>
            <a:off x="6263640" y="6300216"/>
            <a:ext cx="54406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355080" y="6336792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assumption: </a:t>
            </a:r>
            <a:pPr indent="0" marL="0">
              <a:buNone/>
            </a:pPr>
            <a:r>
              <a:rPr lang="en-US" sz="850" i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open-weights local LLMs (Llama-3, Qwen, Mistral) on existing Lab GPU resources — </a:t>
            </a:r>
            <a:pPr indent="0" marL="0">
              <a:buNone/>
            </a:pPr>
            <a:r>
              <a:rPr lang="en-US" sz="85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spend</a:t>
            </a:r>
            <a:pPr indent="0" marL="0">
              <a:buNone/>
            </a:pPr>
            <a:r>
              <a:rPr lang="en-US" sz="850" i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Budget covers personnel + data acquisition + IRB / red-team review only. Cost numbers above are placeholders pending Group rate input.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Line/TI CFP — 1     ·     [PI Initials] [MM/DD/YY]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7772400" y="66019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LINCOLN LABORATORY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PNEC FY27 Quad Chart</dc:title>
  <dc:subject>PptxGenJS Presentation</dc:subject>
  <dc:creator>PptxGenJS</dc:creator>
  <cp:lastModifiedBy>PptxGenJS</cp:lastModifiedBy>
  <cp:revision>1</cp:revision>
  <dcterms:created xsi:type="dcterms:W3CDTF">2026-04-29T22:46:35Z</dcterms:created>
  <dcterms:modified xsi:type="dcterms:W3CDTF">2026-04-29T22:46:35Z</dcterms:modified>
</cp:coreProperties>
</file>