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MITLL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82880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/ TI Area</a:t>
            </a:r>
            <a:endParaRPr lang="en-US" sz="9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Security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74320"/>
            <a:ext cx="8915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Synthetic Test Environment for Echo-Chamber &amp; Persuasion Analysis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85216"/>
            <a:ext cx="8915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Rohan [Last Name] — Group XX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877824"/>
            <a:ext cx="11612880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80760" y="987552"/>
            <a:ext cx="0" cy="5321808"/>
          </a:xfrm>
          <a:prstGeom prst="line">
            <a:avLst/>
          </a:prstGeom>
          <a:noFill/>
          <a:ln w="12700">
            <a:solidFill>
              <a:srgbClr val="1F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648456"/>
            <a:ext cx="11612880" cy="0"/>
          </a:xfrm>
          <a:prstGeom prst="line">
            <a:avLst/>
          </a:prstGeom>
          <a:noFill/>
          <a:ln w="12700">
            <a:solidFill>
              <a:srgbClr val="1F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04241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Concept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1353312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Cognitive-warfare analysts need a </a:t>
            </a:r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environment</a:t>
            </a:r>
            <a:pPr indent="0" marL="0"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study how persuasion moves through online echo chambers and to test mitigations before deployment. We build a </a:t>
            </a:r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synthetic test environment</a:t>
            </a:r>
            <a:pPr indent="0" marL="0"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physics-informed coefficients fit to real diffusion data calibrate an LLM-driven agent population.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2039112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24028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coefficients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calibration &amp; audit fingerprint for agentic populations — fills a population-level validation gap (Volkova, 2026)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6060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Echo-chamber detection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interpretable signatures; networked replication of Hackenburg et al. (Science, 2025) beyond dyadic measurement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97180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competitors: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BRIES (Volkova), Generative-Agents, SALM lack population calibration; SINN/OPINN lack LLM coupling.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" y="324612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Statement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Aggregate-metric estimates </a:t>
            </a:r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persuasion propagation; early-warning signatures; inoculation effectiveness.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217920" y="104241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Graphic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1353312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pipeline. Stage 4 (calibrate) is the gate that turns the agent population into a validated test environment.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09360" y="1764792"/>
            <a:ext cx="1011326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819656"/>
            <a:ext cx="10113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5936" y="2057400"/>
            <a:ext cx="938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/ G45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5936" y="2331720"/>
            <a:ext cx="9381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u_i(t), graph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284110" y="2121408"/>
            <a:ext cx="146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93838" y="1764792"/>
            <a:ext cx="1011326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93838" y="1819656"/>
            <a:ext cx="10113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Fit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30414" y="2057400"/>
            <a:ext cx="938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α, ε, D, v, 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430414" y="2331720"/>
            <a:ext cx="9381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Coeff. fingerprint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368589" y="2121408"/>
            <a:ext cx="146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478317" y="1764792"/>
            <a:ext cx="1011326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78317" y="1819656"/>
            <a:ext cx="10113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Pop.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14893" y="2057400"/>
            <a:ext cx="938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personas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514893" y="2331720"/>
            <a:ext cx="9381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Networked sim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453067" y="2121408"/>
            <a:ext cx="146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562795" y="1764792"/>
            <a:ext cx="1011326" cy="10058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562795" y="1819656"/>
            <a:ext cx="10113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599371" y="2057400"/>
            <a:ext cx="938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gate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599371" y="2331720"/>
            <a:ext cx="9381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certificate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537546" y="2121408"/>
            <a:ext cx="146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0647274" y="1764792"/>
            <a:ext cx="1011326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47274" y="1819656"/>
            <a:ext cx="10113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683850" y="2057400"/>
            <a:ext cx="938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Persuade ↔ Defend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683850" y="2331720"/>
            <a:ext cx="9381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&amp; inoc.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309360" y="2953512"/>
            <a:ext cx="2628900" cy="557784"/>
          </a:xfrm>
          <a:prstGeom prst="rect">
            <a:avLst/>
          </a:prstGeom>
          <a:solidFill>
            <a:srgbClr val="FAFAFA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3008376"/>
            <a:ext cx="24460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4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PRODUCT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auditable, uncertainty-aware experimentation environment for analysts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029700" y="2953512"/>
            <a:ext cx="2628900" cy="557784"/>
          </a:xfrm>
          <a:prstGeom prst="rect">
            <a:avLst/>
          </a:prstGeom>
          <a:solidFill>
            <a:srgbClr val="FAFAFA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21140" y="3008376"/>
            <a:ext cx="24460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400" kern="0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PRODUCT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red-team stimulus module operating inside the calibrated environment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1480" y="3703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Objectives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4014216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coefficients on r/Brexit surrogate; bootstrap CIs across 3 priors.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M: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stable fingerprint + audit memo.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57200" y="4343400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Q2–Q3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agent population; 3-layer validation.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M: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≥70% Δ-agreement on held-out CMV cases.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672584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Q3–Q4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Persuasion + paired inoculation experiments; pilot on G45 data.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M: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lever-effect matrix + defense curves.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056632"/>
            <a:ext cx="5440680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093208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caveats: </a:t>
            </a:r>
            <a:pPr indent="0" marL="0">
              <a:buNone/>
            </a:pPr>
            <a:r>
              <a:rPr lang="en-US" sz="850" i="1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are aggregate approximations — not individual-level predictions; periodic re-tuning required; Brexit is one corpus.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57200" y="5477256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Accomplishments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567842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prior publications, Seedlings, ACC, or related Group work here] 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217920" y="3703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Proposed Cost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263640" y="4105656"/>
            <a:ext cx="128016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63640" y="41056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($K)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754380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4380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Lincoln IOE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58393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58393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Lincoln OP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962406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62406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066419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66419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6263640" y="4398264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4398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4380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54380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58393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58393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62406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2406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66419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6419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263640" y="4672584"/>
            <a:ext cx="128016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355080" y="4672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54380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54380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858393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58393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962406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62406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66419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66419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263640" y="5111496"/>
            <a:ext cx="128016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543800" y="5111496"/>
            <a:ext cx="138684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543800" y="5111496"/>
            <a:ext cx="138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8930640" y="5111496"/>
            <a:ext cx="138684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930640" y="5111496"/>
            <a:ext cx="138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0317480" y="5111496"/>
            <a:ext cx="138684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0317480" y="5111496"/>
            <a:ext cx="138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6263640" y="5312664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355080" y="53126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543800" y="531266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543800" y="531266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930640" y="531266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930640" y="531266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0317480" y="531266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17480" y="531266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6263640" y="5586984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355080" y="55869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 Line IOE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7543800" y="558698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543800" y="558698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930640" y="558698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930640" y="558698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10317480" y="558698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0317480" y="558698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263640" y="597103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</a:t>
            </a:r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$350K</a:t>
            </a:r>
            <a:endParaRPr lang="en-US" sz="1400" dirty="0"/>
          </a:p>
        </p:txBody>
      </p:sp>
      <p:sp>
        <p:nvSpPr>
          <p:cNvPr id="112" name="Shape 110"/>
          <p:cNvSpPr/>
          <p:nvPr/>
        </p:nvSpPr>
        <p:spPr>
          <a:xfrm>
            <a:off x="6263640" y="6300216"/>
            <a:ext cx="544068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55080" y="6336792"/>
            <a:ext cx="5257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assumption: </a:t>
            </a:r>
            <a:pPr indent="0" marL="0">
              <a:buNone/>
            </a:pPr>
            <a:r>
              <a:rPr lang="en-US" sz="850" i="1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open-weights local LLMs (Llama-3, Qwen, Mistral) on existing Lab GPU resources — </a:t>
            </a:r>
            <a:pPr indent="0" marL="0">
              <a:buNone/>
            </a:pPr>
            <a:r>
              <a:rPr lang="en-US" sz="85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API spend</a:t>
            </a:r>
            <a:pPr indent="0" marL="0">
              <a:buNone/>
            </a:pPr>
            <a:r>
              <a:rPr lang="en-US" sz="850" i="1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Budget covers personnel + data acquisition + IRB / red-team review only. Cost numbers above are placeholders pending Group rate input.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274320" y="6601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Line/TI CFP — 1     ·     [PI Initials] [MM/DD/YY]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7772400" y="660196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LINCOLN LABORATORY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Persuasion in Networked Echo Chambers — FY27 Quad Chart</dc:title>
  <dc:subject>PptxGenJS Presentation</dc:subject>
  <dc:creator>PptxGenJS</dc:creator>
  <cp:lastModifiedBy>PptxGenJS</cp:lastModifiedBy>
  <cp:revision>1</cp:revision>
  <dcterms:created xsi:type="dcterms:W3CDTF">2026-04-29T21:35:00Z</dcterms:created>
  <dcterms:modified xsi:type="dcterms:W3CDTF">2026-04-29T21:35:00Z</dcterms:modified>
</cp:coreProperties>
</file>