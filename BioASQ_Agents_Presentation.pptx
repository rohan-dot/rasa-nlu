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Paper reframes biomedical QA from a pipeline problem into a question about evidence labor and accountability.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up the stakes: scale is not the only challenge — synonymy, abbreviations, entity exactness, changing evidence.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gap between these two columns is what the agentic loop is trying to close.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claims map onto Findings, Systems Compared, and Discussion respectively.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Emphasise: the four columns in the results table are four different epistemic regimes, which is why we never collapse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loop left to right. The dashed amber arrow is the sufficiency loop — the part static RAG has no equivalent of.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 that the DSPy baselines use this identical substrate — the retrieval stack is held constant.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Verify, list review, and consensus follow: they exist to reduce unsupported fluency rather than to add content.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Pre-empt the obvious reviewer objection by naming the asymmetry before anyone asks.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the zero-shot row and the yes/no column early — it sets up the moral compression argument two slides later.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Pattern four is the bridge into the discussion section.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Reframe: the evidence trajectory, not the answer string, is the unit of design and evaluation.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Users should see not only yes or no, but the evidence trail, the rejected alternative, and any insufficiency flags.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reframing: agents are worth building when they expose evidence labor, hazardous when they compress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023360" cy="6858000"/>
          </a:xfrm>
          <a:prstGeom prst="rect">
            <a:avLst/>
          </a:prstGeom>
          <a:solidFill>
            <a:srgbClr val="21295C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737360"/>
            <a:ext cx="32918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BIOMEDICAL</a:t>
            </a:r>
            <a:endParaRPr lang="en-US" sz="44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QA</a:t>
            </a:r>
            <a:endParaRPr lang="en-US" sz="44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4663440" y="187452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Evidence Mediators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663440" y="2377440"/>
            <a:ext cx="70408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Retrieval, DSPy Baselines,</a:t>
            </a:r>
            <a:endParaRPr lang="en-US" sz="30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the Moral Cost of Binary Answers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663440" y="4343400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Rohan Leekha  ·  Daniel Gwon  ·  Leslie Shing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663440" y="4681728"/>
            <a:ext cx="7040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Lincoln Laboratory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663440" y="598932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E9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STATEMENT A. Approved for public release. Distribution is unlimited.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Biomedical QA is evidence labor, not a pipeline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66751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00"/>
              </a:lnSpc>
              <a:spcAft>
                <a:spcPts val="1200"/>
              </a:spcAft>
              <a:buSzPct val="100000"/>
              <a:buChar char="■"/>
            </a:pPr>
            <a:r>
              <a:rPr lang="en-US" sz="1600" dirty="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standard framing: retrieve from PubMed → prompt an LLM → score the answer</a:t>
            </a:r>
            <a:endParaRPr lang="en-US" sz="1600" dirty="0"/>
          </a:p>
          <a:p>
            <a:pPr marL="342900" indent="-342900">
              <a:lnSpc>
                <a:spcPts val="2400"/>
              </a:lnSpc>
              <a:spcAft>
                <a:spcPts val="1200"/>
              </a:spcAft>
              <a:buSzPct val="100000"/>
              <a:buChar char="■"/>
            </a:pPr>
            <a:r>
              <a:rPr lang="en-US" sz="1600" dirty="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framing misses the central problem — biomedical QA is evidence labor performed under time pressure</a:t>
            </a:r>
            <a:endParaRPr lang="en-US" sz="1600" dirty="0"/>
          </a:p>
          <a:p>
            <a:pPr marL="342900" indent="-342900">
              <a:lnSpc>
                <a:spcPts val="2400"/>
              </a:lnSpc>
              <a:spcAft>
                <a:spcPts val="1200"/>
              </a:spcAft>
              <a:buSzPct val="100000"/>
              <a:buChar char="■"/>
            </a:pPr>
            <a:r>
              <a:rPr lang="en-US" sz="1600" dirty="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choices, missing items, and premature yes/no closures shape what clinicians and researchers may notice</a:t>
            </a:r>
            <a:endParaRPr lang="en-US" sz="1600" dirty="0"/>
          </a:p>
          <a:p>
            <a:pPr marL="342900" indent="-342900">
              <a:lnSpc>
                <a:spcPts val="2400"/>
              </a:lnSpc>
              <a:spcAft>
                <a:spcPts val="1200"/>
              </a:spcAft>
              <a:buSzPct val="100000"/>
              <a:buChar char="■"/>
            </a:pPr>
            <a:r>
              <a:rPr lang="en-US" sz="1600" dirty="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work on clinical information seeking: frequent questions, real barriers of time, access, and search skill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635240" y="1737360"/>
            <a:ext cx="3977640" cy="1737360"/>
          </a:xfrm>
          <a:prstGeom prst="roundRect">
            <a:avLst>
              <a:gd name="adj" fmla="val 4737"/>
            </a:avLst>
          </a:prstGeom>
          <a:solidFill>
            <a:srgbClr val="EAF1F5"/>
          </a:solidFill>
          <a:ln w="12700">
            <a:solidFill>
              <a:srgbClr val="EAF1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35240" y="1874520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30M+</a:t>
            </a:r>
            <a:endParaRPr lang="en-US" sz="6000" dirty="0"/>
          </a:p>
        </p:txBody>
      </p:sp>
      <p:sp>
        <p:nvSpPr>
          <p:cNvPr id="7" name="Text 5"/>
          <p:cNvSpPr/>
          <p:nvPr/>
        </p:nvSpPr>
        <p:spPr>
          <a:xfrm>
            <a:off x="7635240" y="278892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biomedical citations in PubMed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635240" y="3749040"/>
            <a:ext cx="3977640" cy="1737360"/>
          </a:xfrm>
          <a:prstGeom prst="roundRect">
            <a:avLst>
              <a:gd name="adj" fmla="val 4737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635240" y="3886200"/>
            <a:ext cx="3977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~28M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7635240" y="480060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9C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abstract-only documents in our index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Retrieve once, generate once — a poor model of expert search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3977640"/>
          </a:xfrm>
          <a:prstGeom prst="roundRect">
            <a:avLst>
              <a:gd name="adj" fmla="val 2069"/>
            </a:avLst>
          </a:prstGeom>
          <a:solidFill>
            <a:srgbClr val="EAF1F5"/>
          </a:solidFill>
          <a:ln w="12700">
            <a:solidFill>
              <a:srgbClr val="EAF1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03911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RAG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560320"/>
            <a:ext cx="4754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00"/>
              </a:lnSpc>
              <a:spcAft>
                <a:spcPts val="1200"/>
              </a:spcAft>
              <a:buSzPct val="100000"/>
              <a:buChar char="■"/>
            </a:pPr>
            <a:r>
              <a:rPr lang="en-US" sz="1500" dirty="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retrieval pass, one generation</a:t>
            </a:r>
            <a:endParaRPr lang="en-US" sz="1500" dirty="0"/>
          </a:p>
          <a:p>
            <a:pPr marL="342900" indent="-342900">
              <a:lnSpc>
                <a:spcPts val="2400"/>
              </a:lnSpc>
              <a:spcAft>
                <a:spcPts val="1200"/>
              </a:spcAft>
              <a:buSzPct val="100000"/>
              <a:buChar char="■"/>
            </a:pPr>
            <a:r>
              <a:rPr lang="en-US" sz="1500" dirty="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and cheap</a:t>
            </a:r>
            <a:endParaRPr lang="en-US" sz="1500" dirty="0"/>
          </a:p>
          <a:p>
            <a:pPr marL="342900" indent="-342900">
              <a:lnSpc>
                <a:spcPts val="2400"/>
              </a:lnSpc>
              <a:spcAft>
                <a:spcPts val="1200"/>
              </a:spcAft>
              <a:buSzPct val="100000"/>
              <a:buChar char="■"/>
            </a:pPr>
            <a:r>
              <a:rPr lang="en-US" sz="1500" dirty="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Top-k cutoff hides everything else</a:t>
            </a:r>
            <a:endParaRPr lang="en-US" sz="1500" dirty="0"/>
          </a:p>
          <a:p>
            <a:pPr marL="342900" indent="-342900">
              <a:lnSpc>
                <a:spcPts val="2400"/>
              </a:lnSpc>
              <a:spcAft>
                <a:spcPts val="1200"/>
              </a:spcAft>
              <a:buSzPct val="100000"/>
              <a:buChar char="■"/>
            </a:pPr>
            <a:r>
              <a:rPr lang="en-US" sz="1500" dirty="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fail silently: plausible documents, fluent answer, no signal that evidence was incomplete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309360" y="1783080"/>
            <a:ext cx="5349240" cy="3977640"/>
          </a:xfrm>
          <a:prstGeom prst="roundRect">
            <a:avLst>
              <a:gd name="adj" fmla="val 2069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29400" y="203911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 EVIDENCE SEEKING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629400" y="2560320"/>
            <a:ext cx="4754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00"/>
              </a:lnSpc>
              <a:spcAft>
                <a:spcPts val="1200"/>
              </a:spcAft>
              <a:buSzPct val="100000"/>
              <a:buChar char="■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Tries several query formulations</a:t>
            </a:r>
            <a:endParaRPr lang="en-US" sz="1500" dirty="0"/>
          </a:p>
          <a:p>
            <a:pPr marL="342900" indent="-342900">
              <a:lnSpc>
                <a:spcPts val="2400"/>
              </a:lnSpc>
              <a:spcAft>
                <a:spcPts val="1200"/>
              </a:spcAft>
              <a:buSzPct val="100000"/>
              <a:buChar char="■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whether evidence is sufficient</a:t>
            </a:r>
            <a:endParaRPr lang="en-US" sz="1500" dirty="0"/>
          </a:p>
          <a:p>
            <a:pPr marL="342900" indent="-342900">
              <a:lnSpc>
                <a:spcPts val="2400"/>
              </a:lnSpc>
              <a:spcAft>
                <a:spcPts val="1200"/>
              </a:spcAft>
              <a:buSzPct val="100000"/>
              <a:buChar char="■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Separates exact entity extraction from narrative synthesis</a:t>
            </a:r>
            <a:endParaRPr lang="en-US" sz="1500" dirty="0"/>
          </a:p>
          <a:p>
            <a:pPr marL="342900" indent="-342900">
              <a:lnSpc>
                <a:spcPts val="2400"/>
              </a:lnSpc>
              <a:spcAft>
                <a:spcPts val="1200"/>
              </a:spcAft>
              <a:buSzPct val="100000"/>
              <a:buChar char="■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Revises conclusions when contradictions appear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paper claims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109960" cy="1298448"/>
          </a:xfrm>
          <a:prstGeom prst="roundRect">
            <a:avLst>
              <a:gd name="adj" fmla="val 6338"/>
            </a:avLst>
          </a:prstGeom>
          <a:solidFill>
            <a:srgbClr val="F5F8FA"/>
          </a:solidFill>
          <a:ln w="12700">
            <a:solidFill>
              <a:srgbClr val="F5F8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221992"/>
            <a:ext cx="420624" cy="42062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2219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508760" y="196596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beats optimization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08760" y="2359152"/>
            <a:ext cx="9784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3A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BioASQ-style QA, run-time control over the evidence trajectory matters more than prompt optimization for list and factoid questions.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3227832"/>
            <a:ext cx="11109960" cy="1298448"/>
          </a:xfrm>
          <a:prstGeom prst="roundRect">
            <a:avLst>
              <a:gd name="adj" fmla="val 6338"/>
            </a:avLst>
          </a:prstGeom>
          <a:solidFill>
            <a:srgbClr val="F5F8FA"/>
          </a:solidFill>
          <a:ln w="12700">
            <a:solidFill>
              <a:srgbClr val="F5F8F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3666744"/>
            <a:ext cx="420624" cy="42062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6667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508760" y="3410712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all agents are equal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508760" y="3803904"/>
            <a:ext cx="9784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3A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generic ReAct loop differs materially from a domain-governed agent with explicit sufficiency checks, answer-type policies, verification, and list-recall passes.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672584"/>
            <a:ext cx="11109960" cy="1298448"/>
          </a:xfrm>
          <a:prstGeom prst="roundRect">
            <a:avLst>
              <a:gd name="adj" fmla="val 6338"/>
            </a:avLst>
          </a:prstGeom>
          <a:solidFill>
            <a:srgbClr val="EAF1F5"/>
          </a:solidFill>
          <a:ln w="12700">
            <a:solidFill>
              <a:srgbClr val="EAF1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5111496"/>
            <a:ext cx="420624" cy="420624"/>
          </a:xfrm>
          <a:prstGeom prst="ellipse">
            <a:avLst/>
          </a:prstGeom>
          <a:solidFill>
            <a:srgbClr val="D9822B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51114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08760" y="4855464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contribution is sociotechnical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508760" y="5248656"/>
            <a:ext cx="9784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3A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are worth building when they expose and improve evidence labor — and morally hazardous when they compress uncertain evidence into unexamined yes/no outputs.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TASK, DATA, EVALUATION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BioASQ Task 13b — four epistemic regimes, not one task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88336" cy="1463040"/>
          </a:xfrm>
          <a:prstGeom prst="roundRect">
            <a:avLst>
              <a:gd name="adj" fmla="val 5625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965960"/>
            <a:ext cx="2688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YES / NO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2395728"/>
            <a:ext cx="2688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A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closure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355848" y="1737360"/>
            <a:ext cx="2688336" cy="1463040"/>
          </a:xfrm>
          <a:prstGeom prst="roundRect">
            <a:avLst>
              <a:gd name="adj" fmla="val 5625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355848" y="1965960"/>
            <a:ext cx="2688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FACTOID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355848" y="2395728"/>
            <a:ext cx="2688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A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ranking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63056" y="1737360"/>
            <a:ext cx="2688336" cy="1463040"/>
          </a:xfrm>
          <a:prstGeom prst="roundRect">
            <a:avLst>
              <a:gd name="adj" fmla="val 5625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63056" y="1965960"/>
            <a:ext cx="2688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163056" y="2395728"/>
            <a:ext cx="2688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A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 set completion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970264" y="1737360"/>
            <a:ext cx="2688336" cy="1463040"/>
          </a:xfrm>
          <a:prstGeom prst="roundRect">
            <a:avLst>
              <a:gd name="adj" fmla="val 5625"/>
            </a:avLst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70264" y="1965960"/>
            <a:ext cx="2688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8970264" y="2395728"/>
            <a:ext cx="26883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A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 synthesis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520440"/>
            <a:ext cx="111099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00"/>
              </a:lnSpc>
              <a:spcAft>
                <a:spcPts val="1200"/>
              </a:spcAft>
              <a:buSzPct val="100000"/>
              <a:buChar char="■"/>
            </a:pPr>
            <a:r>
              <a:rPr lang="en-US" sz="1500" dirty="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Factoid and list require exact entities — BioASQ explicitly discourages submitting synonyms</a:t>
            </a:r>
            <a:endParaRPr lang="en-US" sz="1500" dirty="0"/>
          </a:p>
          <a:p>
            <a:pPr marL="342900" indent="-342900">
              <a:lnSpc>
                <a:spcPts val="2400"/>
              </a:lnSpc>
              <a:spcAft>
                <a:spcPts val="1200"/>
              </a:spcAft>
              <a:buSzPct val="100000"/>
              <a:buChar char="■"/>
            </a:pPr>
            <a:r>
              <a:rPr lang="en-US" sz="1500" dirty="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Yes/no demands a binary exact answer even when the evidence behind it is conditional</a:t>
            </a:r>
            <a:endParaRPr lang="en-US" sz="1500" dirty="0"/>
          </a:p>
          <a:p>
            <a:pPr marL="342900" indent="-342900">
              <a:lnSpc>
                <a:spcPts val="2400"/>
              </a:lnSpc>
              <a:spcAft>
                <a:spcPts val="1200"/>
              </a:spcAft>
              <a:buSzPct val="100000"/>
              <a:buChar char="■"/>
            </a:pPr>
            <a:r>
              <a:rPr lang="en-US" sz="1500" dirty="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 may do well in one regime and fail in another — so we report type-level results, never overall accuracy alone</a:t>
            </a:r>
            <a:endParaRPr lang="en-US" sz="1500" dirty="0"/>
          </a:p>
          <a:p>
            <a:pPr marL="342900" indent="-342900">
              <a:lnSpc>
                <a:spcPts val="2400"/>
              </a:lnSpc>
              <a:spcAft>
                <a:spcPts val="1200"/>
              </a:spcAft>
              <a:buSzPct val="100000"/>
              <a:buChar char="■"/>
            </a:pPr>
            <a:r>
              <a:rPr lang="en-US" sz="1500" dirty="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corpus: 5,389 questions with gold evidence; retrieval over the 2025 PubMed abstract-only baseline</a:t>
            </a:r>
            <a:endParaRPr lang="en-US" sz="1500" dirty="0"/>
          </a:p>
          <a:p>
            <a:pPr marL="342900" indent="-342900">
              <a:lnSpc>
                <a:spcPts val="2400"/>
              </a:lnSpc>
              <a:spcAft>
                <a:spcPts val="1200"/>
              </a:spcAft>
              <a:buSzPct val="100000"/>
              <a:buChar char="■"/>
            </a:pPr>
            <a:r>
              <a:rPr lang="en-US" sz="1500" dirty="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Metrics: yes/no macro-F1 · factoid accuracy · list F1 · ideal-answer Semantic F1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bounded eight-stage evidence-seeking loop</a:t>
            </a:r>
            <a:endParaRPr lang="en-US" sz="3200" dirty="0"/>
          </a:p>
        </p:txBody>
      </p:sp>
      <p:pic>
        <p:nvPicPr>
          <p:cNvPr id="4" name="Image 0" descr="/home/claude/agent_lo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0040" y="1234440"/>
            <a:ext cx="11548872" cy="48920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236208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 4 31B-IT controller  ·  retrieval bounded to four iterations  ·  every decision left as an inspectable artifact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SUBSTRATE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Hybrid retrieval: broad recall at scale, precise judgment on a small pool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109960" cy="1051560"/>
          </a:xfrm>
          <a:prstGeom prst="roundRect">
            <a:avLst>
              <a:gd name="adj" fmla="val 7826"/>
            </a:avLst>
          </a:prstGeom>
          <a:solidFill>
            <a:srgbClr val="F5F8FA"/>
          </a:solidFill>
          <a:ln w="12700">
            <a:solidFill>
              <a:srgbClr val="F5F8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45920"/>
            <a:ext cx="1965960" cy="1051560"/>
          </a:xfrm>
          <a:prstGeom prst="roundRect">
            <a:avLst>
              <a:gd name="adj" fmla="val 7826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645920"/>
            <a:ext cx="1965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2743200" y="1755648"/>
            <a:ext cx="8686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NeuML PubMedBERT embeddings, 768-dim · FAISS IVF-Flat over the PubMed 2025 baseline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2798064"/>
            <a:ext cx="11109960" cy="1051560"/>
          </a:xfrm>
          <a:prstGeom prst="roundRect">
            <a:avLst>
              <a:gd name="adj" fmla="val 7826"/>
            </a:avLst>
          </a:prstGeom>
          <a:solidFill>
            <a:srgbClr val="F5F8FA"/>
          </a:solidFill>
          <a:ln w="12700">
            <a:solidFill>
              <a:srgbClr val="F5F8F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798064"/>
            <a:ext cx="1965960" cy="1051560"/>
          </a:xfrm>
          <a:prstGeom prst="roundRect">
            <a:avLst>
              <a:gd name="adj" fmla="val 7826"/>
            </a:avLst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798064"/>
            <a:ext cx="1965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743200" y="2907792"/>
            <a:ext cx="8686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— retained because gene symbols, drug names, and variants are exact tokens that embedding similarity softens away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3950208"/>
            <a:ext cx="11109960" cy="1051560"/>
          </a:xfrm>
          <a:prstGeom prst="roundRect">
            <a:avLst>
              <a:gd name="adj" fmla="val 7826"/>
            </a:avLst>
          </a:prstGeom>
          <a:solidFill>
            <a:srgbClr val="F5F8FA"/>
          </a:solidFill>
          <a:ln w="12700">
            <a:solidFill>
              <a:srgbClr val="F5F8F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950208"/>
            <a:ext cx="1965960" cy="1051560"/>
          </a:xfrm>
          <a:prstGeom prst="roundRect">
            <a:avLst>
              <a:gd name="adj" fmla="val 7826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950208"/>
            <a:ext cx="1965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743200" y="4059936"/>
            <a:ext cx="8686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Reciprocal rank fusion at 0.6 dense / 0.4 sparse — conceptual recall plus lexical precision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548640" y="5102352"/>
            <a:ext cx="11109960" cy="1051560"/>
          </a:xfrm>
          <a:prstGeom prst="roundRect">
            <a:avLst>
              <a:gd name="adj" fmla="val 7826"/>
            </a:avLst>
          </a:prstGeom>
          <a:solidFill>
            <a:srgbClr val="F5F8FA"/>
          </a:solidFill>
          <a:ln w="12700">
            <a:solidFill>
              <a:srgbClr val="F5F8F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5102352"/>
            <a:ext cx="1965960" cy="1051560"/>
          </a:xfrm>
          <a:prstGeom prst="roundRect">
            <a:avLst>
              <a:gd name="adj" fmla="val 7826"/>
            </a:avLst>
          </a:prstGeom>
          <a:solidFill>
            <a:srgbClr val="D9822B"/>
          </a:solidFill>
          <a:ln w="12700">
            <a:solidFill>
              <a:srgbClr val="D982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5102352"/>
            <a:ext cx="1965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RERANK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743200" y="5212080"/>
            <a:ext cx="86868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450" dirty="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NeuML biomedbert cross-encoder scores query and passage jointly with full cross-attention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548640" y="6309360"/>
            <a:ext cx="11109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Division of labor is deliberate: FAISS and BM25 buy recall across 28M documents; the cross-encoder buys precision over a few hundred.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GENERATION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prompt per answer type, not one prompt for all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F5F8FA"/>
          </a:solidFill>
          <a:ln w="12700">
            <a:solidFill>
              <a:srgbClr val="F5F8F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029968"/>
            <a:ext cx="310896" cy="31089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1325880" y="1993392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FACTOID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868680" y="2514600"/>
            <a:ext cx="4709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3A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the exact biomedical entity from the evidence; do not paraphrase. Avoids the semantically-related-but-uncountable failure.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309360" y="173736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F5F8FA"/>
          </a:solidFill>
          <a:ln w="12700">
            <a:solidFill>
              <a:srgbClr val="F5F8F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629400" y="2029968"/>
            <a:ext cx="310896" cy="310896"/>
          </a:xfrm>
          <a:prstGeom prst="ellipse">
            <a:avLst/>
          </a:prstGeom>
          <a:solidFill>
            <a:srgbClr val="D9822B"/>
          </a:solidFill>
          <a:ln/>
        </p:spPr>
      </p:sp>
      <p:sp>
        <p:nvSpPr>
          <p:cNvPr id="10" name="Text 8"/>
          <p:cNvSpPr/>
          <p:nvPr/>
        </p:nvSpPr>
        <p:spPr>
          <a:xfrm>
            <a:off x="7086600" y="1993392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YES / NO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629400" y="2514600"/>
            <a:ext cx="4709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3A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Adversarial: find evidence for both the affirmative and the negative, then state why one side is better supported.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97764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F5F8FA"/>
          </a:solidFill>
          <a:ln w="12700">
            <a:solidFill>
              <a:srgbClr val="F5F8F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8680" y="4270248"/>
            <a:ext cx="310896" cy="31089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1325880" y="4233672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868680" y="4754880"/>
            <a:ext cx="4709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3A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Proceed passage by passage, extract all candidate items, then normalize duplicates.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309360" y="3977640"/>
            <a:ext cx="5349240" cy="1965960"/>
          </a:xfrm>
          <a:prstGeom prst="roundRect">
            <a:avLst>
              <a:gd name="adj" fmla="val 4186"/>
            </a:avLst>
          </a:prstGeom>
          <a:solidFill>
            <a:srgbClr val="F5F8FA"/>
          </a:solidFill>
          <a:ln w="12700">
            <a:solidFill>
              <a:srgbClr val="F5F8F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629400" y="4270248"/>
            <a:ext cx="310896" cy="310896"/>
          </a:xfrm>
          <a:prstGeom prst="ellipse">
            <a:avLst/>
          </a:prstGeom>
          <a:solidFill>
            <a:srgbClr val="21295C"/>
          </a:solidFill>
          <a:ln/>
        </p:spPr>
      </p:sp>
      <p:sp>
        <p:nvSpPr>
          <p:cNvPr id="18" name="Text 16"/>
          <p:cNvSpPr/>
          <p:nvPr/>
        </p:nvSpPr>
        <p:spPr>
          <a:xfrm>
            <a:off x="7086600" y="4233672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6629400" y="4754880"/>
            <a:ext cx="4709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3A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concise ideal answer grounded in retrieved snippets, not a free-form biomedical explanation.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48640" y="6172200"/>
            <a:ext cx="11109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adversarial yes/no prompt is both a fix for one-sided retrieval bias and the technical hinge of the paper's moral argument.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DESIGN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DSPy baselines: a strong alternative view of the same problem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109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00"/>
              </a:lnSpc>
              <a:spcAft>
                <a:spcPts val="1200"/>
              </a:spcAft>
              <a:buSzPct val="100000"/>
              <a:buChar char="■"/>
            </a:pPr>
            <a:r>
              <a:rPr lang="en-US" sz="1550" dirty="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Rather than handcrafting prompts, DSPy builds modular LM programs and optimizes their instructions and demonstrations</a:t>
            </a:r>
            <a:endParaRPr lang="en-US" sz="1550" dirty="0"/>
          </a:p>
          <a:p>
            <a:pPr marL="342900" indent="-342900">
              <a:lnSpc>
                <a:spcPts val="2400"/>
              </a:lnSpc>
              <a:spcAft>
                <a:spcPts val="1200"/>
              </a:spcAft>
              <a:buSzPct val="100000"/>
              <a:buChar char="■"/>
            </a:pPr>
            <a:r>
              <a:rPr lang="en-US" sz="1550" dirty="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baselines: zero-shot, RAG, MultiHop RAG, ReAct RAG — each with and without MIPROv2 optimization</a:t>
            </a:r>
            <a:endParaRPr lang="en-US" sz="1550" dirty="0"/>
          </a:p>
          <a:p>
            <a:pPr marL="342900" indent="-342900">
              <a:lnSpc>
                <a:spcPts val="2400"/>
              </a:lnSpc>
              <a:spcAft>
                <a:spcPts val="1200"/>
              </a:spcAft>
              <a:buSzPct val="100000"/>
              <a:buChar char="■"/>
            </a:pPr>
            <a:r>
              <a:rPr lang="en-US" sz="1550" dirty="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MultiHop performs four hops; ReAct exposes retrieval as a tool with up to 20 iterations</a:t>
            </a:r>
            <a:endParaRPr lang="en-US" sz="1550" dirty="0"/>
          </a:p>
          <a:p>
            <a:pPr marL="342900" indent="-342900">
              <a:lnSpc>
                <a:spcPts val="2400"/>
              </a:lnSpc>
              <a:spcAft>
                <a:spcPts val="1200"/>
              </a:spcAft>
              <a:buSzPct val="100000"/>
              <a:buChar char="■"/>
            </a:pPr>
            <a:r>
              <a:rPr lang="en-US" sz="1550" dirty="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baselines use the same retrieval substrate: PubMedBERT dense, BM25 sparse, RRF fusion, FAISS IVF-Flat, biomedical reranker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4251960"/>
            <a:ext cx="11109960" cy="1874520"/>
          </a:xfrm>
          <a:prstGeom prst="roundRect">
            <a:avLst>
              <a:gd name="adj" fmla="val 4390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4480560"/>
            <a:ext cx="10424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STATED UP FRONT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4828032"/>
            <a:ext cx="10424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DSPy programs run gpt-oss-120b; our agent runs Gemma 4 31B-IT. This is not a model-controlled head-to-head. What we compare is control-policy regimes — a domain-governed loop with sufficiency checks and answer-type obligations, against generic or prompt-optimized programs.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BioASQ-style validation results</a:t>
            </a:r>
            <a:endParaRPr lang="en-US" sz="3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7635240" cy="914400"/>
        </p:xfrm>
        <a:graphic>
          <a:graphicData uri="http://schemas.openxmlformats.org/drawingml/2006/table">
            <a:tbl>
              <a:tblPr/>
              <a:tblGrid>
                <a:gridCol w="3063240"/>
                <a:gridCol w="914400"/>
                <a:gridCol w="914400"/>
                <a:gridCol w="914400"/>
                <a:gridCol w="914400"/>
                <a:gridCol w="91440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Y/N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SemF1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Ovr.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295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Zero-shot Gemma 4 31B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41.6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35.9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Agentic SQLite FTS5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71.5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Agentic hybrid FAISS+BM25+IVF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51.0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Agentic SQLite FTS5, CoT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62.75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DSPy RAG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36.75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DSPy RAG + MIPROv2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DSPy MultiHop RAG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34.25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DSPy MultiHop RAG + MIPROv2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DSPy ReAct RAG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34.75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DSPy ReAct RAG + MIPROv2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22B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C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6F9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458200" y="1691640"/>
            <a:ext cx="3200400" cy="1481328"/>
          </a:xfrm>
          <a:prstGeom prst="roundRect">
            <a:avLst>
              <a:gd name="adj" fmla="val 5556"/>
            </a:avLst>
          </a:prstGeom>
          <a:solidFill>
            <a:srgbClr val="F5F8FA"/>
          </a:solidFill>
          <a:ln w="12700">
            <a:solidFill>
              <a:srgbClr val="F5F8F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458200" y="1819656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+40.3</a:t>
            </a:r>
            <a:endParaRPr lang="en-US" sz="3600" dirty="0"/>
          </a:p>
        </p:txBody>
      </p:sp>
      <p:sp>
        <p:nvSpPr>
          <p:cNvPr id="7" name="Text 4"/>
          <p:cNvSpPr/>
          <p:nvPr/>
        </p:nvSpPr>
        <p:spPr>
          <a:xfrm>
            <a:off x="8641080" y="2496312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overall over zero-shot,</a:t>
            </a:r>
            <a:endParaRPr lang="en-US" sz="11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Gemma backbone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8458200" y="3246120"/>
            <a:ext cx="3200400" cy="1481328"/>
          </a:xfrm>
          <a:prstGeom prst="roundRect">
            <a:avLst>
              <a:gd name="adj" fmla="val 5556"/>
            </a:avLst>
          </a:prstGeom>
          <a:solidFill>
            <a:srgbClr val="EAF1F5"/>
          </a:solidFill>
          <a:ln w="12700">
            <a:solidFill>
              <a:srgbClr val="EAF1F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458200" y="3374136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D982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96.0</a:t>
            </a:r>
            <a:endParaRPr lang="en-US" sz="3600" dirty="0"/>
          </a:p>
        </p:txBody>
      </p:sp>
      <p:sp>
        <p:nvSpPr>
          <p:cNvPr id="10" name="Text 7"/>
          <p:cNvSpPr/>
          <p:nvPr/>
        </p:nvSpPr>
        <p:spPr>
          <a:xfrm>
            <a:off x="8641080" y="4050792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F1 — every DSPy variant</a:t>
            </a:r>
            <a:endParaRPr lang="en-US" sz="11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scores between 0.0 and 13.0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8458200" y="4800600"/>
            <a:ext cx="3200400" cy="1481328"/>
          </a:xfrm>
          <a:prstGeom prst="roundRect">
            <a:avLst>
              <a:gd name="adj" fmla="val 5556"/>
            </a:avLst>
          </a:prstGeom>
          <a:solidFill>
            <a:srgbClr val="F5F8FA"/>
          </a:solidFill>
          <a:ln w="12700">
            <a:solidFill>
              <a:srgbClr val="F5F8F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458200" y="4928616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76.0</a:t>
            </a:r>
            <a:endParaRPr lang="en-US" sz="3600" dirty="0"/>
          </a:p>
        </p:txBody>
      </p:sp>
      <p:sp>
        <p:nvSpPr>
          <p:cNvPr id="13" name="Text 10"/>
          <p:cNvSpPr/>
          <p:nvPr/>
        </p:nvSpPr>
        <p:spPr>
          <a:xfrm>
            <a:off x="8641080" y="5605272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overall, against 45.5 for the</a:t>
            </a:r>
            <a:endParaRPr lang="en-US" sz="11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5A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DSPy baseline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patterns in the table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892808"/>
            <a:ext cx="420624" cy="42062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92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88720" y="170992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Control policy, not model class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188720" y="2103120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3A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same Gemma backbone the agentic loop adds 40.3 points overall, 35.7 → 76.0. The cross-row gap over DSPy is consistent with this but cannot be cleanly attributed.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063240"/>
            <a:ext cx="420624" cy="42062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0632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288036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Gains sit in recall-sensitive regimes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188720" y="3273552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3A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 96.0 and factoid 69.0. Ablating dense retrieval and the reranker gives 62.0 / 87.0; further removing type-specific generation gives 50.0 / 70.0.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4233672"/>
            <a:ext cx="420624" cy="420624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2336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88720" y="405079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Optimization aligns style, not evidence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1188720" y="4443984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3A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MIPROv2 lifts factoid 12 → 27 and yes/no 82 → 94, yet optimized ReAct list F1 stays at 0.0. It reaches the regimes it can reach without retrieving the evidence behind them.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548640" y="5404104"/>
            <a:ext cx="420624" cy="420624"/>
          </a:xfrm>
          <a:prstGeom prst="ellipse">
            <a:avLst/>
          </a:prstGeom>
          <a:solidFill>
            <a:srgbClr val="D9822B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54041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188720" y="5221224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Yes/no and summary mislead on their own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1188720" y="5614416"/>
            <a:ext cx="10424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3A4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Zero-shot Gemma with no retrieval at all reaches 94.0 yes/no and 41.6 SemF1 — while scoring 8.0 factoid and 0.0 list.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Agents earn their place by making evidence labor inspectable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11099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400"/>
              </a:lnSpc>
              <a:spcAft>
                <a:spcPts val="1200"/>
              </a:spcAft>
              <a:buSzPct val="100000"/>
              <a:buChar char="■"/>
            </a:pPr>
            <a:r>
              <a:rPr lang="en-US" sz="1550" dirty="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Biomedical search is invisible labor: translating vague questions into queries, recalling synonyms, deciding which abstracts are worth opening, judging sufficiency</a:t>
            </a:r>
            <a:endParaRPr lang="en-US" sz="1550" dirty="0"/>
          </a:p>
          <a:p>
            <a:pPr marL="342900" indent="-342900">
              <a:lnSpc>
                <a:spcPts val="2400"/>
              </a:lnSpc>
              <a:spcAft>
                <a:spcPts val="1200"/>
              </a:spcAft>
              <a:buSzPct val="100000"/>
              <a:buChar char="■"/>
            </a:pPr>
            <a:r>
              <a:rPr lang="en-US" sz="1550" dirty="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RAG automates one slice of that labor and hides the rest inside an initial query and a top-k cutoff</a:t>
            </a:r>
            <a:endParaRPr lang="en-US" sz="1550" dirty="0"/>
          </a:p>
          <a:p>
            <a:pPr marL="342900" indent="-342900">
              <a:lnSpc>
                <a:spcPts val="2400"/>
              </a:lnSpc>
              <a:spcAft>
                <a:spcPts val="1200"/>
              </a:spcAft>
              <a:buSzPct val="100000"/>
              <a:buChar char="■"/>
            </a:pPr>
            <a:r>
              <a:rPr lang="en-US" sz="1550" dirty="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agentic retriever turns subqueries, failed searches, sufficiency judgments, reranker decisions, verification edits, and recovery passes into inspectable artifacts</a:t>
            </a:r>
            <a:endParaRPr lang="en-US" sz="1550" dirty="0"/>
          </a:p>
          <a:p>
            <a:pPr marL="342900" indent="-342900">
              <a:lnSpc>
                <a:spcPts val="2400"/>
              </a:lnSpc>
              <a:spcAft>
                <a:spcPts val="1200"/>
              </a:spcAft>
              <a:buSzPct val="100000"/>
              <a:buChar char="■"/>
            </a:pPr>
            <a:r>
              <a:rPr lang="en-US" sz="1550" dirty="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trace also exposes failure: if second-round searches return nothing, the insufficiency signal stays visible rather than being absorbed into a premature answer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48640" y="4663440"/>
            <a:ext cx="11109960" cy="1508760"/>
          </a:xfrm>
          <a:prstGeom prst="roundRect">
            <a:avLst>
              <a:gd name="adj" fmla="val 5455"/>
            </a:avLst>
          </a:prstGeom>
          <a:solidFill>
            <a:srgbClr val="EAF1F5"/>
          </a:solidFill>
          <a:ln w="12700">
            <a:solidFill>
              <a:srgbClr val="EAF1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493776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00"/>
              </a:lnSpc>
              <a:buNone/>
            </a:pPr>
            <a:r>
              <a:rPr lang="en-US" sz="1800" i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argument is not for greater autonomy — it is for governed agency: explicit procedural commitments about how biomedical evidence should be searched, checked, revised, and represented.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II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moral cost of yes/no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48640" y="1645920"/>
            <a:ext cx="11109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2100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binary answer collapses evidence quality, population heterogeneity, clinical context, and uncertainty into a single token.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548640" y="2514600"/>
            <a:ext cx="5349240" cy="2286000"/>
          </a:xfrm>
          <a:prstGeom prst="roundRect">
            <a:avLst>
              <a:gd name="adj" fmla="val 3600"/>
            </a:avLst>
          </a:prstGeom>
          <a:solidFill>
            <a:srgbClr val="21295C"/>
          </a:solidFill>
          <a:ln w="12700">
            <a:solidFill>
              <a:srgbClr val="2129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697480"/>
            <a:ext cx="5349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94.0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822960" y="3493008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B9C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yes/no — from a system that performs</a:t>
            </a:r>
            <a:endParaRPr lang="en-US" sz="1300" dirty="0"/>
          </a:p>
          <a:p>
            <a:pPr algn="ctr"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B9CB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retrieval whatsoever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4114800"/>
            <a:ext cx="4800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8.0 factoid    ·    0.0 list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309360" y="2514600"/>
            <a:ext cx="5349240" cy="2286000"/>
          </a:xfrm>
          <a:prstGeom prst="roundRect">
            <a:avLst>
              <a:gd name="adj" fmla="val 3600"/>
            </a:avLst>
          </a:prstGeom>
          <a:solidFill>
            <a:srgbClr val="F5F8FA"/>
          </a:solidFill>
          <a:ln w="12700">
            <a:solidFill>
              <a:srgbClr val="F5F8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29400" y="2743200"/>
            <a:ext cx="4709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■"/>
            </a:pPr>
            <a:r>
              <a:rPr lang="en-US" sz="1450" dirty="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yes/no column cannot distinguish a system that has read the literature from one that has read nothing.</a:t>
            </a:r>
            <a:endParaRPr lang="en-US" sz="145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■"/>
            </a:pPr>
            <a:r>
              <a:rPr lang="en-US" sz="1450" dirty="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channel is too narrow to carry the difference — moral compression in arithmetic form.</a:t>
            </a:r>
            <a:endParaRPr lang="en-US" sz="145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■"/>
            </a:pPr>
            <a:r>
              <a:rPr lang="en-US" sz="1450" dirty="0">
                <a:solidFill>
                  <a:srgbClr val="222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Risks: automation bias in clinical decision support, and Elish's moral crumple zone.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548640" y="5074920"/>
            <a:ext cx="11109960" cy="1143000"/>
          </a:xfrm>
          <a:prstGeom prst="roundRect">
            <a:avLst>
              <a:gd name="adj" fmla="val 7200"/>
            </a:avLst>
          </a:prstGeom>
          <a:solidFill>
            <a:srgbClr val="EAF1F5"/>
          </a:solidFill>
          <a:ln w="12700">
            <a:solidFill>
              <a:srgbClr val="EAF1F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5285232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i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adversarial procedure does not make the system morally safe. It changes binary closure from a generation habit into an accountable step.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943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881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Evidence mediators, not medical authorities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881360" cy="987552"/>
          </a:xfrm>
          <a:prstGeom prst="roundRect">
            <a:avLst>
              <a:gd name="adj" fmla="val 7407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07568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finding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60120" y="2386584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domain-governed agentic loop improves recall-sensitive and exact-answer regimes over static and generic agentic baselines.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3063240"/>
            <a:ext cx="10881360" cy="987552"/>
          </a:xfrm>
          <a:prstGeom prst="roundRect">
            <a:avLst>
              <a:gd name="adj" fmla="val 7407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317296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Computational social science finding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3483864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value of agents lies in making evidence labor visible and governable, not in raising a benchmark number.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4160520"/>
            <a:ext cx="10881360" cy="987552"/>
          </a:xfrm>
          <a:prstGeom prst="roundRect">
            <a:avLst>
              <a:gd name="adj" fmla="val 7407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427024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60120" y="4581144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Accountable hand-off, not human replacement: provenance for retrieved documents, a recorded search path, exposed sufficiency decisions, calibrated abstention.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5257800"/>
            <a:ext cx="10881360" cy="987552"/>
          </a:xfrm>
          <a:prstGeom prst="roundRect">
            <a:avLst>
              <a:gd name="adj" fmla="val 7407"/>
            </a:avLst>
          </a:prstGeom>
          <a:solidFill>
            <a:srgbClr val="2C3670"/>
          </a:solidFill>
          <a:ln w="12700">
            <a:solidFill>
              <a:srgbClr val="2C367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5367528"/>
            <a:ext cx="10241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limitation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5678424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backbones across systems, so the table reads as a comparison of control-policy regimes. Future work must test whether traces actually improve human judgment.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635508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DA3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Rohan Leekha · Daniel Gwon · Leslie Shing   ·   MIT Lincoln Laboratory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2026-07-20T17:19:27Z</dcterms:created>
  <dcterms:modified xsi:type="dcterms:W3CDTF">2026-07-20T17:19:27Z</dcterms:modified>
</cp:coreProperties>
</file>