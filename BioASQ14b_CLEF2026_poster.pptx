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27432000"/>
  <p:notesSz cx="274320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2222"/>
                </a:solidFill>
                <a:latin typeface="Arial"/>
              </a:rPr>
              <a:t>The phase gap on ossllm: same generator, gold vs. self-retrieved evidence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 A+ (batch 2, self-retrieved evidence)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Yes/No Acc.</c:v>
                  </c:pt>
                  <c:pt idx="1">
                    <c:v>Factoid Strict</c:v>
                  </c:pt>
                  <c:pt idx="2">
                    <c:v>List F1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0.762</c:v>
                </c:pt>
                <c:pt idx="1">
                  <c:v>0.15</c:v>
                </c:pt>
                <c:pt idx="2">
                  <c:v>0.095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B (batch 1, gold snippets)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Yes/No Acc.</c:v>
                  </c:pt>
                  <c:pt idx="1">
                    <c:v>Factoid Strict</c:v>
                  </c:pt>
                  <c:pt idx="2">
                    <c:v>List F1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0.941</c:v>
                </c:pt>
                <c:pt idx="1">
                  <c:v>0.304</c:v>
                </c:pt>
                <c:pt idx="2">
                  <c:v>0.317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22222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eft_panel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744200" cy="27432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1371600"/>
            <a:ext cx="9372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CLEF 2026</a:t>
            </a:r>
            <a:endParaRPr lang="en-US" sz="4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BioASQ Lab  ·  Task 14b</a:t>
            </a:r>
            <a:endParaRPr lang="en-US" sz="4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Jena, Germany  ·  21–24 September 2026</a:t>
            </a:r>
            <a:endParaRPr lang="en-US" sz="46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4754880"/>
            <a:ext cx="93726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RAG with Open-Weight LLMs for Biomedical QA (BioASQ Task 14b)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9646920"/>
            <a:ext cx="9372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Rohan Leekha, Daniel Gwon, and Leslie Shing – MIT Lincoln Laboratory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1338560"/>
            <a:ext cx="9372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/ KEY FEATURES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2161520"/>
            <a:ext cx="93726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open-weight agentic RAG systems submitted to all four BioASQ Task 14b batches: ossllm (Gemma 3 27B + live NCBI E-utilities) and Finalcorrected (Gemma 4 31B Dense + local SQLite FTS5 mirror of PubMed) [6]</a:t>
            </a:r>
            <a:endParaRPr lang="en-US" sz="2350" dirty="0"/>
          </a:p>
          <a:p>
            <a:pPr marL="279400" indent="-279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LLM plays both controller and generator: it issues PubMed queries, inspects the evidence pool, and chooses search / sufficient / stop under a hard cap of N = 5 iterations</a:t>
            </a:r>
            <a:endParaRPr lang="en-US" sz="2350" dirty="0"/>
          </a:p>
          <a:p>
            <a:pPr marL="279400" indent="-279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retrieval: PubMedBERT dense embeddings + BM25 sparse ranking fused with Reciprocal Rank Fusion (k = 60) [3]</a:t>
            </a:r>
            <a:endParaRPr lang="en-US" sz="2350" dirty="0"/>
          </a:p>
          <a:p>
            <a:pPr marL="279400" indent="-279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Type-specific prompts for yes/no, factoid, list, and summary questions plus a deterministic format-hygiene filter for BioASQ’s strict scorer</a:t>
            </a:r>
            <a:endParaRPr lang="en-US" sz="2350" dirty="0"/>
          </a:p>
          <a:p>
            <a:pPr marL="279400" indent="-279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domain fine-tuning: 0.941 yes/no accuracy on Phase B batch 1 (upper-middle quartile of the field); Phase A+ results bounded by retrieval recall</a:t>
            </a:r>
            <a:endParaRPr lang="en-US" sz="23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9202400"/>
            <a:ext cx="9372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SYSTEMS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888200"/>
          <a:ext cx="937260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3474720"/>
                <a:gridCol w="34747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ossllm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Finalcorrected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3 27B IT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Gemma 4 31B Dense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PubMed access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NCBI E-utilities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SQLite FTS5 mirror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Re-ranking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PMB + BM25 + RRF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PMB + FTS5 + RRF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Few-shot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training exemplars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training exemplars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Batches (A+ / B)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 3, 4  /  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 /  3, 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A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85800" y="24231600"/>
            <a:ext cx="9372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rohan.leekha@ll.mit.edu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 available on request from the authors  ·  CLEF 2026 Working Notes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1521440" y="21945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11521440" y="2926080"/>
            <a:ext cx="9052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BioASQ Task 14b [1] asks systems to retrieve PubMed evidence (Phase A), answer yes/no, factoid, list, and summary questions from gold snippets (Phase B), and do both end-to-end (Phase A+), where retrieval errors propagate straight into the answer. We test how far a stripped-down, single-model, open-weight agentic RAG system can go with no domain fine-tuning — and which component of the pipeline is the binding constraint.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11521440" y="640080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3600" dirty="0"/>
          </a:p>
        </p:txBody>
      </p:sp>
      <p:sp>
        <p:nvSpPr>
          <p:cNvPr id="14" name="Text 10"/>
          <p:cNvSpPr txBox="1"/>
          <p:nvPr/>
        </p:nvSpPr>
        <p:spPr>
          <a:xfrm>
            <a:off x="11521440" y="7178040"/>
            <a:ext cx="905256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Phase A+ every retrieval miss is an answer miss: a gold entity that never enters the evidence pool cannot be listed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Instruction-tuned LLMs are sycophantic — the base Gemma 3 prompt answered “yes” to ~70% of training yes/no questions regardless of evidence polarity [5]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BioASQ’s exact-match scorer rejects full-sentence factoids, under-recalled lists, and chain-of-thought debris that leaks into the JSON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naive agentic controller paraphrase-cycles one query and talks itself into stopping before the evidence pool is complete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rerankers and fine-tuned generators dominate the 13b leaderboard [2]; we omit them deliberately to isolate what an agentic loop plus format hygiene can do alone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21214080" y="2194560"/>
            <a:ext cx="1207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23134320" y="306324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Q, type 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yes/no  ·  factoid  ·  list  ·  summary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3134320" y="411480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2E75B6"/>
          </a:solidFill>
          <a:ln w="15875">
            <a:solidFill>
              <a:srgbClr val="1F4E79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controller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 /  sufficient  /  stop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23134320" y="539496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5875">
            <a:solidFill>
              <a:srgbClr val="8C8C8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&amp; embed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 (dense) + BM25 (sparse)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23134320" y="667512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5875">
            <a:solidFill>
              <a:srgbClr val="8C8C8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 fusion (k = 60)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23134320" y="768096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2E75B6"/>
          </a:solidFill>
          <a:ln w="15875">
            <a:solidFill>
              <a:srgbClr val="1F4E79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generator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type-specific prompts + 3 few-shot exemplars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23134320" y="89611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2CC"/>
          </a:solidFill>
          <a:ln w="15875">
            <a:solidFill>
              <a:srgbClr val="BF900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Format-hygiene filter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strips CoT debris &amp; markdown; enforces BioASQ JSON shape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23134320" y="1014984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JSON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answer + ideal answer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29626560" y="39776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5875">
            <a:solidFill>
              <a:srgbClr val="8C8C8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NCBI E-utilities (ossllm) or local SQLite FTS5 mirror (Finalcorrected)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25786080" y="3794760"/>
            <a:ext cx="0" cy="32004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25786080" y="6355080"/>
            <a:ext cx="0" cy="32004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25786080" y="7360920"/>
            <a:ext cx="0" cy="32004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25786080" y="8641080"/>
            <a:ext cx="0" cy="32004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25786080" y="9829800"/>
            <a:ext cx="0" cy="32004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28437840" y="4590288"/>
            <a:ext cx="118872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0" name="Text 26"/>
          <p:cNvSpPr txBox="1"/>
          <p:nvPr/>
        </p:nvSpPr>
        <p:spPr>
          <a:xfrm>
            <a:off x="28437840" y="42611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31272480" y="5212080"/>
            <a:ext cx="0" cy="658368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 flipH="1">
            <a:off x="28437840" y="5870448"/>
            <a:ext cx="28346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33" name="Text 29"/>
          <p:cNvSpPr txBox="1"/>
          <p:nvPr/>
        </p:nvSpPr>
        <p:spPr>
          <a:xfrm>
            <a:off x="28529280" y="5925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abstracts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 flipH="1">
            <a:off x="21945600" y="7018020"/>
            <a:ext cx="1188720" cy="0"/>
          </a:xfrm>
          <a:prstGeom prst="line">
            <a:avLst/>
          </a:prstGeom>
          <a:noFill/>
          <a:ln w="19050">
            <a:solidFill>
              <a:srgbClr val="3F51B5"/>
            </a:solidFill>
            <a:prstDash val="dash"/>
          </a:ln>
        </p:spPr>
      </p:sp>
      <p:sp>
        <p:nvSpPr>
          <p:cNvPr id="35" name="Shape 31"/>
          <p:cNvSpPr/>
          <p:nvPr/>
        </p:nvSpPr>
        <p:spPr>
          <a:xfrm flipV="1">
            <a:off x="21945600" y="4590288"/>
            <a:ext cx="0" cy="2427732"/>
          </a:xfrm>
          <a:prstGeom prst="line">
            <a:avLst/>
          </a:prstGeom>
          <a:noFill/>
          <a:ln w="19050">
            <a:solidFill>
              <a:srgbClr val="3F51B5"/>
            </a:solidFill>
            <a:prstDash val="dash"/>
          </a:ln>
        </p:spPr>
      </p:sp>
      <p:sp>
        <p:nvSpPr>
          <p:cNvPr id="36" name="Shape 32"/>
          <p:cNvSpPr/>
          <p:nvPr/>
        </p:nvSpPr>
        <p:spPr>
          <a:xfrm>
            <a:off x="21945600" y="4590288"/>
            <a:ext cx="1188720" cy="0"/>
          </a:xfrm>
          <a:prstGeom prst="line">
            <a:avLst/>
          </a:prstGeom>
          <a:noFill/>
          <a:ln w="19050">
            <a:solidFill>
              <a:srgbClr val="3F51B5"/>
            </a:solidFill>
            <a:prstDash val="dash"/>
            <a:tailEnd type="triangle"/>
          </a:ln>
        </p:spPr>
      </p:sp>
      <p:sp>
        <p:nvSpPr>
          <p:cNvPr id="37" name="Text 33"/>
          <p:cNvSpPr txBox="1"/>
          <p:nvPr/>
        </p:nvSpPr>
        <p:spPr>
          <a:xfrm rot="16200000">
            <a:off x="20756880" y="5641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pool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28529280" y="7616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 / stop, or i = N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21351240" y="3840480"/>
            <a:ext cx="11841480" cy="3703320"/>
          </a:xfrm>
          <a:prstGeom prst="roundRect">
            <a:avLst>
              <a:gd name="adj" fmla="val 3704"/>
            </a:avLst>
          </a:prstGeom>
          <a:ln w="12700">
            <a:solidFill>
              <a:srgbClr val="3F51B5"/>
            </a:solidFill>
            <a:prstDash val="sysDash"/>
          </a:ln>
        </p:spPr>
      </p:sp>
      <p:sp>
        <p:nvSpPr>
          <p:cNvPr id="40" name="Text 36"/>
          <p:cNvSpPr txBox="1"/>
          <p:nvPr/>
        </p:nvSpPr>
        <p:spPr>
          <a:xfrm>
            <a:off x="29260800" y="7178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loop (≤ N = 5 iterations)</a:t>
            </a:r>
            <a:endParaRPr lang="en-US" sz="1300" dirty="0"/>
          </a:p>
        </p:txBody>
      </p:sp>
      <p:sp>
        <p:nvSpPr>
          <p:cNvPr id="41" name="Text 37"/>
          <p:cNvSpPr txBox="1"/>
          <p:nvPr/>
        </p:nvSpPr>
        <p:spPr>
          <a:xfrm>
            <a:off x="21214080" y="11109960"/>
            <a:ext cx="12070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Gemma instance is both controller (choose the next PubMed query, or declare the evidence pool sufficient) and generator, in the spirit of ReAct [4]. PubMed is a data tool only: ranking, RRF fusion, deduplication, and chunk selection run client-side, so the LLM steers retrieval purely through its query reformulations. The loop ends on sufficient / stop or after N = 5 iterations; termination triggers type-specific generation and the deterministic format-hygiene pass.</a:t>
            </a:r>
            <a:endParaRPr lang="en-US" sz="1800" dirty="0"/>
          </a:p>
        </p:txBody>
      </p:sp>
      <p:sp>
        <p:nvSpPr>
          <p:cNvPr id="42" name="Text 38"/>
          <p:cNvSpPr txBox="1"/>
          <p:nvPr/>
        </p:nvSpPr>
        <p:spPr>
          <a:xfrm>
            <a:off x="33924240" y="219456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43" name="Text 39"/>
          <p:cNvSpPr txBox="1"/>
          <p:nvPr/>
        </p:nvSpPr>
        <p:spPr>
          <a:xfrm>
            <a:off x="33924240" y="2926080"/>
            <a:ext cx="9509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0.941 yes/no accuracy</a:t>
            </a: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Phase B batch 1 with no domain fine-tuning — upper-middle quartile of the field (leader 1.000; ~20 systems tied at 0.941)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recall binds end-to-end quality: </a:t>
            </a: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Phase A+ batch 4, swapping Gemma 3 27B → Gemma 4 31B Dense and live E-utilities → a local PubMed mirror left all five metrics unchanged to three decimals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hygiene pays: </a:t>
            </a: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deterministic filter recovered ~20–30 list answers that the strict scorer would otherwise have rejected as malformed</a:t>
            </a:r>
            <a:endParaRPr lang="en-US" sz="22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924240" y="6263640"/>
          <a:ext cx="95097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188720"/>
                <a:gridCol w="13716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 (best batch)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B yes/no accuracy (b1)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Upper-middle quartile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B list F-measure (b3)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~0.50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 of field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B factoid strict (b3)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~0.53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 of field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B ideal-answer ROUGE-2 F1 (b1)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~0.25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Middle of field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A+ yes/no accuracy (b4)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Lower-middle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A+ list F-measure (b4)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~0.58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Lower-middle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Text 40"/>
          <p:cNvSpPr txBox="1"/>
          <p:nvPr/>
        </p:nvSpPr>
        <p:spPr>
          <a:xfrm>
            <a:off x="33924240" y="900684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Field-leader numbers are approximate, read from the public leaderboard [2] at the time of writing.</a:t>
            </a:r>
            <a:endParaRPr lang="en-US" sz="1250" dirty="0"/>
          </a:p>
        </p:txBody>
      </p:sp>
      <p:sp>
        <p:nvSpPr>
          <p:cNvPr id="46" name="Text 41"/>
          <p:cNvSpPr txBox="1"/>
          <p:nvPr/>
        </p:nvSpPr>
        <p:spPr>
          <a:xfrm>
            <a:off x="33924240" y="94183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3600" dirty="0"/>
          </a:p>
        </p:txBody>
      </p:sp>
      <p:sp>
        <p:nvSpPr>
          <p:cNvPr id="47" name="Text 42"/>
          <p:cNvSpPr txBox="1"/>
          <p:nvPr/>
        </p:nvSpPr>
        <p:spPr>
          <a:xfrm>
            <a:off x="33924240" y="10149840"/>
            <a:ext cx="9509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cross-encoder reranker on BioASQ relevance judgments — the single highest-leverage change for Phase A+ recall</a:t>
            </a:r>
            <a:endParaRPr lang="en-US" sz="2000" dirty="0"/>
          </a:p>
          <a:p>
            <a:pPr marL="279400" indent="-279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term expansion and biomedical entity normalization on outgoing queries</a:t>
            </a:r>
            <a:endParaRPr lang="en-US" sz="2000" dirty="0"/>
          </a:p>
          <a:p>
            <a:pPr marL="279400" indent="-279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Per-type prompt re-tuning with explicit word caps when swapping backbones (closes the ROUGE-2 gap)</a:t>
            </a:r>
            <a:endParaRPr lang="en-US" sz="2000" dirty="0"/>
          </a:p>
          <a:p>
            <a:pPr marL="279400" indent="-279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ablations of the iteration cap, sufficiency check, and format-hygiene filter; generation-time ensembles</a:t>
            </a:r>
            <a:endParaRPr lang="en-US" sz="2000" dirty="0"/>
          </a:p>
        </p:txBody>
      </p:sp>
      <p:sp>
        <p:nvSpPr>
          <p:cNvPr id="48" name="Shape 43"/>
          <p:cNvSpPr/>
          <p:nvPr/>
        </p:nvSpPr>
        <p:spPr>
          <a:xfrm>
            <a:off x="11521440" y="13075920"/>
            <a:ext cx="3191256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9580840" y="13350240"/>
            <a:ext cx="0" cy="877824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11521440" y="13258800"/>
            <a:ext cx="1764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CONTROL LOOP &amp; TYPE-SPECIFIC GENERATION</a:t>
            </a:r>
            <a:endParaRPr lang="en-US" sz="3600" dirty="0"/>
          </a:p>
        </p:txBody>
      </p:sp>
      <p:sp>
        <p:nvSpPr>
          <p:cNvPr id="51" name="Text 46"/>
          <p:cNvSpPr txBox="1"/>
          <p:nvPr/>
        </p:nvSpPr>
        <p:spPr>
          <a:xfrm>
            <a:off x="11521440" y="13990320"/>
            <a:ext cx="17647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controller sees: </a:t>
            </a: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question, its type, and the evidence pool — but not its own query history. It must ask “does what I have answer this?” rather than “have I searched enough?”, which also defuses paraphrase-cycling (NF1 glioblastoma → glioblastoma NF1 loss → neurofibromin in GBM …)</a:t>
            </a:r>
            <a:endParaRPr lang="en-US" sz="2000" dirty="0"/>
          </a:p>
          <a:p>
            <a:pPr marL="279400" indent="-279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decides to stop: </a:t>
            </a: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choosing search or sufficient it writes a hidden checklist of the claims the answer must support and checks the pool against each one — compound questions earn extra queries, simple lookups exit after one round</a:t>
            </a:r>
            <a:endParaRPr lang="en-US" sz="2000" dirty="0"/>
          </a:p>
        </p:txBody>
      </p:sp>
      <p:sp>
        <p:nvSpPr>
          <p:cNvPr id="52" name="Text 47"/>
          <p:cNvSpPr txBox="1"/>
          <p:nvPr/>
        </p:nvSpPr>
        <p:spPr>
          <a:xfrm>
            <a:off x="14401800" y="160020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Q, type T</a:t>
            </a:r>
            <a:endParaRPr lang="en-US" sz="1350" dirty="0"/>
          </a:p>
        </p:txBody>
      </p:sp>
      <p:sp>
        <p:nvSpPr>
          <p:cNvPr id="53" name="Text 48"/>
          <p:cNvSpPr txBox="1"/>
          <p:nvPr/>
        </p:nvSpPr>
        <p:spPr>
          <a:xfrm>
            <a:off x="14401800" y="166878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 w="15875">
            <a:solidFill>
              <a:srgbClr val="8C8C8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Initialise  E = ∅,  i = 0</a:t>
            </a:r>
            <a:endParaRPr lang="en-US" sz="1350" dirty="0"/>
          </a:p>
        </p:txBody>
      </p:sp>
      <p:sp>
        <p:nvSpPr>
          <p:cNvPr id="54" name="Text 49"/>
          <p:cNvSpPr txBox="1"/>
          <p:nvPr/>
        </p:nvSpPr>
        <p:spPr>
          <a:xfrm>
            <a:off x="14767560" y="17350740"/>
            <a:ext cx="2194560" cy="914400"/>
          </a:xfrm>
          <a:prstGeom prst="diamond">
            <a:avLst/>
          </a:prstGeom>
          <a:solidFill>
            <a:srgbClr val="FFF9DB"/>
          </a:solidFill>
          <a:ln w="15875">
            <a:solidFill>
              <a:srgbClr val="BF9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&lt; N ?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5)</a:t>
            </a:r>
            <a:endParaRPr lang="en-US" sz="1250" dirty="0"/>
          </a:p>
        </p:txBody>
      </p:sp>
      <p:sp>
        <p:nvSpPr>
          <p:cNvPr id="55" name="Text 50"/>
          <p:cNvSpPr txBox="1"/>
          <p:nvPr/>
        </p:nvSpPr>
        <p:spPr>
          <a:xfrm>
            <a:off x="14401800" y="1851660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2E75B6"/>
          </a:solidFill>
          <a:ln w="15875">
            <a:solidFill>
              <a:srgbClr val="1F4E79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controller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← controller_step(Q, T, E)</a:t>
            </a:r>
            <a:endParaRPr lang="en-US" sz="1350" dirty="0"/>
          </a:p>
        </p:txBody>
      </p:sp>
      <p:sp>
        <p:nvSpPr>
          <p:cNvPr id="56" name="Text 51"/>
          <p:cNvSpPr txBox="1"/>
          <p:nvPr/>
        </p:nvSpPr>
        <p:spPr>
          <a:xfrm>
            <a:off x="14996160" y="19568160"/>
            <a:ext cx="1737360" cy="868680"/>
          </a:xfrm>
          <a:prstGeom prst="diamond">
            <a:avLst/>
          </a:prstGeom>
          <a:solidFill>
            <a:srgbClr val="FFF9DB"/>
          </a:solidFill>
          <a:ln w="15875">
            <a:solidFill>
              <a:srgbClr val="BF9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action?</a:t>
            </a:r>
            <a:endParaRPr lang="en-US" sz="1300" dirty="0"/>
          </a:p>
        </p:txBody>
      </p:sp>
      <p:sp>
        <p:nvSpPr>
          <p:cNvPr id="57" name="Text 52"/>
          <p:cNvSpPr txBox="1"/>
          <p:nvPr/>
        </p:nvSpPr>
        <p:spPr>
          <a:xfrm>
            <a:off x="11521440" y="19659600"/>
            <a:ext cx="26060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5875">
            <a:solidFill>
              <a:srgbClr val="8C8C8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retrieve_and_rerank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RRF-fused, dedup by PMID</a:t>
            </a:r>
            <a:endParaRPr lang="en-US" sz="1250" dirty="0"/>
          </a:p>
        </p:txBody>
      </p:sp>
      <p:sp>
        <p:nvSpPr>
          <p:cNvPr id="58" name="Text 53"/>
          <p:cNvSpPr txBox="1"/>
          <p:nvPr/>
        </p:nvSpPr>
        <p:spPr>
          <a:xfrm>
            <a:off x="11521440" y="1819656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 w="15875">
            <a:solidFill>
              <a:srgbClr val="8C8C8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← E ∪ top-k(hits)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← i + 1</a:t>
            </a:r>
            <a:endParaRPr lang="en-US" sz="1250" dirty="0"/>
          </a:p>
        </p:txBody>
      </p:sp>
      <p:sp>
        <p:nvSpPr>
          <p:cNvPr id="59" name="Text 54"/>
          <p:cNvSpPr txBox="1"/>
          <p:nvPr/>
        </p:nvSpPr>
        <p:spPr>
          <a:xfrm>
            <a:off x="17602200" y="196138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2E75B6"/>
          </a:solidFill>
          <a:ln w="15875">
            <a:solidFill>
              <a:srgbClr val="1F4E79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generator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 ← generate(Q, T, E)</a:t>
            </a:r>
            <a:endParaRPr lang="en-US" sz="1350" dirty="0"/>
          </a:p>
        </p:txBody>
      </p:sp>
      <p:sp>
        <p:nvSpPr>
          <p:cNvPr id="60" name="Text 55"/>
          <p:cNvSpPr txBox="1"/>
          <p:nvPr/>
        </p:nvSpPr>
        <p:spPr>
          <a:xfrm>
            <a:off x="17602200" y="2089404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FFF2CC"/>
          </a:solidFill>
          <a:ln w="15875">
            <a:solidFill>
              <a:srgbClr val="BF900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Format-hygiene filter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+ JSON shape</a:t>
            </a:r>
            <a:endParaRPr lang="en-US" sz="1250" dirty="0"/>
          </a:p>
        </p:txBody>
      </p:sp>
      <p:sp>
        <p:nvSpPr>
          <p:cNvPr id="61" name="Text 56"/>
          <p:cNvSpPr txBox="1"/>
          <p:nvPr/>
        </p:nvSpPr>
        <p:spPr>
          <a:xfrm>
            <a:off x="17602200" y="21808440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JSON</a:t>
            </a:r>
            <a:endParaRPr lang="en-US" sz="1350" dirty="0"/>
          </a:p>
        </p:txBody>
      </p:sp>
      <p:sp>
        <p:nvSpPr>
          <p:cNvPr id="62" name="Shape 57"/>
          <p:cNvSpPr/>
          <p:nvPr/>
        </p:nvSpPr>
        <p:spPr>
          <a:xfrm>
            <a:off x="15864840" y="16459200"/>
            <a:ext cx="0" cy="22860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63" name="Shape 58"/>
          <p:cNvSpPr/>
          <p:nvPr/>
        </p:nvSpPr>
        <p:spPr>
          <a:xfrm>
            <a:off x="15864840" y="17145000"/>
            <a:ext cx="0" cy="20574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64" name="Shape 59"/>
          <p:cNvSpPr/>
          <p:nvPr/>
        </p:nvSpPr>
        <p:spPr>
          <a:xfrm>
            <a:off x="15864840" y="18265140"/>
            <a:ext cx="0" cy="25146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65" name="Text 60"/>
          <p:cNvSpPr txBox="1"/>
          <p:nvPr/>
        </p:nvSpPr>
        <p:spPr>
          <a:xfrm>
            <a:off x="15937992" y="182239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50" dirty="0"/>
          </a:p>
        </p:txBody>
      </p:sp>
      <p:sp>
        <p:nvSpPr>
          <p:cNvPr id="66" name="Shape 61"/>
          <p:cNvSpPr/>
          <p:nvPr/>
        </p:nvSpPr>
        <p:spPr>
          <a:xfrm>
            <a:off x="15864840" y="19293840"/>
            <a:ext cx="0" cy="27432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67" name="Shape 62"/>
          <p:cNvSpPr/>
          <p:nvPr/>
        </p:nvSpPr>
        <p:spPr>
          <a:xfrm flipH="1">
            <a:off x="14127480" y="20002500"/>
            <a:ext cx="86868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68" name="Text 63"/>
          <p:cNvSpPr txBox="1"/>
          <p:nvPr/>
        </p:nvSpPr>
        <p:spPr>
          <a:xfrm>
            <a:off x="14127480" y="196870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250" dirty="0"/>
          </a:p>
        </p:txBody>
      </p:sp>
      <p:sp>
        <p:nvSpPr>
          <p:cNvPr id="69" name="Shape 64"/>
          <p:cNvSpPr/>
          <p:nvPr/>
        </p:nvSpPr>
        <p:spPr>
          <a:xfrm>
            <a:off x="16733520" y="20002500"/>
            <a:ext cx="86868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0" name="Text 65"/>
          <p:cNvSpPr txBox="1"/>
          <p:nvPr/>
        </p:nvSpPr>
        <p:spPr>
          <a:xfrm>
            <a:off x="16733520" y="196870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</a:t>
            </a:r>
            <a:endParaRPr lang="en-US" sz="1250" dirty="0"/>
          </a:p>
        </p:txBody>
      </p:sp>
      <p:sp>
        <p:nvSpPr>
          <p:cNvPr id="71" name="Shape 66"/>
          <p:cNvSpPr/>
          <p:nvPr/>
        </p:nvSpPr>
        <p:spPr>
          <a:xfrm>
            <a:off x="15864840" y="20436840"/>
            <a:ext cx="0" cy="77724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15864840" y="21214080"/>
            <a:ext cx="173736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3" name="Text 68"/>
          <p:cNvSpPr txBox="1"/>
          <p:nvPr/>
        </p:nvSpPr>
        <p:spPr>
          <a:xfrm>
            <a:off x="15937992" y="20500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250" dirty="0"/>
          </a:p>
        </p:txBody>
      </p:sp>
      <p:sp>
        <p:nvSpPr>
          <p:cNvPr id="74" name="Shape 69"/>
          <p:cNvSpPr/>
          <p:nvPr/>
        </p:nvSpPr>
        <p:spPr>
          <a:xfrm>
            <a:off x="16962120" y="17807940"/>
            <a:ext cx="1805940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18768060" y="17807940"/>
            <a:ext cx="0" cy="180594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6" name="Text 71"/>
          <p:cNvSpPr txBox="1"/>
          <p:nvPr/>
        </p:nvSpPr>
        <p:spPr>
          <a:xfrm>
            <a:off x="17007840" y="17492472"/>
            <a:ext cx="1668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 (i = N)</a:t>
            </a:r>
            <a:endParaRPr lang="en-US" sz="1250" dirty="0"/>
          </a:p>
        </p:txBody>
      </p:sp>
      <p:sp>
        <p:nvSpPr>
          <p:cNvPr id="77" name="Shape 72"/>
          <p:cNvSpPr/>
          <p:nvPr/>
        </p:nvSpPr>
        <p:spPr>
          <a:xfrm flipV="1">
            <a:off x="12824460" y="18836640"/>
            <a:ext cx="0" cy="82296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78" name="Shape 73"/>
          <p:cNvSpPr/>
          <p:nvPr/>
        </p:nvSpPr>
        <p:spPr>
          <a:xfrm flipV="1">
            <a:off x="12824460" y="17807940"/>
            <a:ext cx="0" cy="388620"/>
          </a:xfrm>
          <a:prstGeom prst="line">
            <a:avLst/>
          </a:prstGeom>
          <a:noFill/>
          <a:ln w="19050">
            <a:solidFill>
              <a:srgbClr val="3F51B5"/>
            </a:solidFill>
            <a:prstDash val="dash"/>
          </a:ln>
        </p:spPr>
      </p:sp>
      <p:sp>
        <p:nvSpPr>
          <p:cNvPr id="79" name="Shape 74"/>
          <p:cNvSpPr/>
          <p:nvPr/>
        </p:nvSpPr>
        <p:spPr>
          <a:xfrm>
            <a:off x="12824460" y="17807940"/>
            <a:ext cx="1943100" cy="0"/>
          </a:xfrm>
          <a:prstGeom prst="line">
            <a:avLst/>
          </a:prstGeom>
          <a:noFill/>
          <a:ln w="19050">
            <a:solidFill>
              <a:srgbClr val="3F51B5"/>
            </a:solidFill>
            <a:prstDash val="dash"/>
            <a:tailEnd type="triangle"/>
          </a:ln>
        </p:spPr>
      </p:sp>
      <p:sp>
        <p:nvSpPr>
          <p:cNvPr id="80" name="Shape 75"/>
          <p:cNvSpPr/>
          <p:nvPr/>
        </p:nvSpPr>
        <p:spPr>
          <a:xfrm>
            <a:off x="18768060" y="20391120"/>
            <a:ext cx="0" cy="50292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1" name="Shape 76"/>
          <p:cNvSpPr/>
          <p:nvPr/>
        </p:nvSpPr>
        <p:spPr>
          <a:xfrm>
            <a:off x="18768060" y="21534120"/>
            <a:ext cx="0" cy="27432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82" name="Shape 77"/>
          <p:cNvSpPr/>
          <p:nvPr/>
        </p:nvSpPr>
        <p:spPr>
          <a:xfrm>
            <a:off x="11430000" y="17282160"/>
            <a:ext cx="5852160" cy="3291840"/>
          </a:xfrm>
          <a:prstGeom prst="roundRect">
            <a:avLst>
              <a:gd name="adj" fmla="val 3333"/>
            </a:avLst>
          </a:prstGeom>
          <a:ln w="12700">
            <a:solidFill>
              <a:srgbClr val="3F51B5"/>
            </a:solidFill>
            <a:prstDash val="sysDash"/>
          </a:ln>
        </p:spPr>
      </p:sp>
      <p:sp>
        <p:nvSpPr>
          <p:cNvPr id="83" name="Text 78"/>
          <p:cNvSpPr txBox="1"/>
          <p:nvPr/>
        </p:nvSpPr>
        <p:spPr>
          <a:xfrm>
            <a:off x="11521440" y="17327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loop (≤ N = 5 iterations)</a:t>
            </a:r>
            <a:endParaRPr lang="en-US" sz="1150" dirty="0"/>
          </a:p>
        </p:txBody>
      </p:sp>
      <p:sp>
        <p:nvSpPr>
          <p:cNvPr id="84" name="Shape 79"/>
          <p:cNvSpPr/>
          <p:nvPr/>
        </p:nvSpPr>
        <p:spPr>
          <a:xfrm>
            <a:off x="20299680" y="15910560"/>
            <a:ext cx="4480560" cy="6309360"/>
          </a:xfrm>
          <a:prstGeom prst="roundRect">
            <a:avLst>
              <a:gd name="adj" fmla="val 2449"/>
            </a:avLst>
          </a:prstGeom>
          <a:solidFill>
            <a:srgbClr val="F4F7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5" name="Text 80"/>
          <p:cNvSpPr txBox="1"/>
          <p:nvPr/>
        </p:nvSpPr>
        <p:spPr>
          <a:xfrm>
            <a:off x="20482560" y="16047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Sufficiency checklist in action</a:t>
            </a:r>
            <a:endParaRPr lang="en-US" sz="1750" dirty="0"/>
          </a:p>
        </p:txBody>
      </p:sp>
      <p:sp>
        <p:nvSpPr>
          <p:cNvPr id="86" name="Text 81"/>
          <p:cNvSpPr txBox="1"/>
          <p:nvPr/>
        </p:nvSpPr>
        <p:spPr>
          <a:xfrm>
            <a:off x="20482560" y="16596360"/>
            <a:ext cx="41148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(factoid): </a:t>
            </a:r>
            <a:r>
              <a:rPr lang="en-US" sz="15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 GBM, which cell state is associated with loss of NF1?”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1 · query </a:t>
            </a:r>
            <a:r>
              <a:rPr lang="en-US" sz="15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NF1 loss glioblastoma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pool covers NF1’s role in GBM, not the cell-state taxonomy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GBM cell-state taxonomy ✗ unsupported   2) state tied to NF1 loss ✓ supported  →  </a:t>
            </a:r>
            <a:r>
              <a:rPr lang="en-US" sz="15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2 · query </a:t>
            </a:r>
            <a:r>
              <a:rPr lang="en-US" sz="15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glioblastoma cell-state taxonomy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both claims supported  →  </a:t>
            </a:r>
            <a:r>
              <a:rPr lang="en-US" sz="15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(factoid prompt) → exact answer: </a:t>
            </a: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mesenchymal</a:t>
            </a:r>
            <a:endParaRPr lang="en-US" sz="1500" dirty="0"/>
          </a:p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lookup (“What is the indication for Brineura?”) satisfies every claim on the first round and exits after one iteration — search budget goes to the questions that are genuinely compound.</a:t>
            </a:r>
            <a:endParaRPr lang="en-US" sz="1500" dirty="0"/>
          </a:p>
        </p:txBody>
      </p:sp>
      <p:sp>
        <p:nvSpPr>
          <p:cNvPr id="87" name="Shape 82"/>
          <p:cNvSpPr/>
          <p:nvPr/>
        </p:nvSpPr>
        <p:spPr>
          <a:xfrm>
            <a:off x="25054560" y="15910560"/>
            <a:ext cx="4114800" cy="6309360"/>
          </a:xfrm>
          <a:prstGeom prst="roundRect">
            <a:avLst>
              <a:gd name="adj" fmla="val 2667"/>
            </a:avLst>
          </a:prstGeom>
          <a:solidFill>
            <a:srgbClr val="F4F7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25237440" y="16047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Type-specific prompts + format-hygiene filter</a:t>
            </a:r>
            <a:endParaRPr lang="en-US" sz="1750" dirty="0"/>
          </a:p>
        </p:txBody>
      </p:sp>
      <p:sp>
        <p:nvSpPr>
          <p:cNvPr id="89" name="Text 84"/>
          <p:cNvSpPr txBox="1"/>
          <p:nvPr/>
        </p:nvSpPr>
        <p:spPr>
          <a:xfrm>
            <a:off x="25237440" y="16824960"/>
            <a:ext cx="37490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Yes/no: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 evidence against, then for, then commit — counters the ~70% “yes” bias; the prompt states “no” is right about half the time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Factoid: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only; post-processor truncates to the first noun phrase (1–5 tokens), up to 3 ranked candidates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exhaustive extraction over every passage, then normalized case-insensitive dedup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named entities and numbers over generic phrasing; no exact_answer field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</a:t>
            </a: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strips CoT debris and markdown, unwraps prefixes, and enforces the BioASQ ≥5 JSON shape (≤5 factoid, ≤100 list entries)</a:t>
            </a:r>
            <a:endParaRPr lang="en-US" sz="1500" dirty="0"/>
          </a:p>
        </p:txBody>
      </p:sp>
      <p:sp>
        <p:nvSpPr>
          <p:cNvPr id="90" name="Text 85"/>
          <p:cNvSpPr txBox="1"/>
          <p:nvPr/>
        </p:nvSpPr>
        <p:spPr>
          <a:xfrm>
            <a:off x="29992320" y="13258800"/>
            <a:ext cx="1344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F4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3600" dirty="0"/>
          </a:p>
        </p:txBody>
      </p:sp>
      <p:sp>
        <p:nvSpPr>
          <p:cNvPr id="91" name="Text 86"/>
          <p:cNvSpPr txBox="1"/>
          <p:nvPr/>
        </p:nvSpPr>
        <p:spPr>
          <a:xfrm>
            <a:off x="29992320" y="13990320"/>
            <a:ext cx="1344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 — answering from gold snippets (exact answers + ROUGE-2 F1 on ideal answers)</a:t>
            </a:r>
            <a:endParaRPr lang="en-US" sz="16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992320" y="14356080"/>
          <a:ext cx="134416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1463040"/>
                <a:gridCol w="1828800"/>
                <a:gridCol w="1737360"/>
                <a:gridCol w="1737360"/>
                <a:gridCol w="146304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Y/N Acc.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Y/N Macro-F1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Factoid Strict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Factoid MRR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F1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Ideal R-2 F1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ossllm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Finalcorrected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Finalcorrected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3" name="Text 87"/>
          <p:cNvSpPr txBox="1"/>
          <p:nvPr/>
        </p:nvSpPr>
        <p:spPr>
          <a:xfrm>
            <a:off x="29992320" y="16184880"/>
            <a:ext cx="1344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A+ — end-to-end: retrieve, then answer</a:t>
            </a:r>
            <a:endParaRPr lang="en-US" sz="16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992320" y="16550640"/>
          <a:ext cx="13441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1737360"/>
                <a:gridCol w="2103120"/>
                <a:gridCol w="2011680"/>
                <a:gridCol w="201168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Y/N Acc.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Y/N Macro-F1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Factoid Strict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Factoid MRR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4E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F1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ossllm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ossllm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ossllm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Finalcorrected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5" name="Text 88"/>
          <p:cNvSpPr txBox="1"/>
          <p:nvPr/>
        </p:nvSpPr>
        <p:spPr>
          <a:xfrm>
            <a:off x="29992320" y="18516600"/>
            <a:ext cx="1344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“—” = not scored on that batch. ossllm and asmalltrialsystem (identical pipeline, without few-shot exemplars) returned identical scores on every shared batch.</a:t>
            </a:r>
            <a:endParaRPr lang="en-US" sz="1150" dirty="0"/>
          </a:p>
        </p:txBody>
      </p:sp>
      <p:graphicFrame>
        <p:nvGraphicFramePr>
          <p:cNvPr id="96" name="Chart 0" descr=""/>
          <p:cNvGraphicFramePr/>
          <p:nvPr/>
        </p:nvGraphicFramePr>
        <p:xfrm>
          <a:off x="29992320" y="18790920"/>
          <a:ext cx="73152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7" name="Text 89"/>
          <p:cNvSpPr txBox="1"/>
          <p:nvPr/>
        </p:nvSpPr>
        <p:spPr>
          <a:xfrm>
            <a:off x="37581840" y="18882360"/>
            <a:ext cx="58521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generator, gold snippets vs. self-retrieved evidence: the gap grows from yes/no → factoid → list, ordered by how recall-sensitive the metric is</a:t>
            </a:r>
            <a:endParaRPr lang="en-US" sz="17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Finalcorrected on batch 4: 0.813 / 0.364 / 0.365 (Phase B) vs. 0.750 / 0.273 / 0.255 (Phase A+) — a 6-, 9-, and 11-point gap</a:t>
            </a:r>
            <a:endParaRPr lang="en-US" sz="17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Batch-to-batch ROUGE-2 swings (0.158 → 0.087) come from verbosity calibration, not retrieval: Gemma 4 writes longer summaries than Gemma 3</a:t>
            </a:r>
            <a:endParaRPr lang="en-US" sz="1700" dirty="0"/>
          </a:p>
        </p:txBody>
      </p:sp>
      <p:sp>
        <p:nvSpPr>
          <p:cNvPr id="98" name="Text 90"/>
          <p:cNvSpPr txBox="1"/>
          <p:nvPr/>
        </p:nvSpPr>
        <p:spPr>
          <a:xfrm>
            <a:off x="11521440" y="22585680"/>
            <a:ext cx="1563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A. Nentidis, G. Katsimpras, A. Krithara, G. Paliouras. BioASQ at CLEF 2026: the fourteenth edition of the large-scale biomedical semantic indexing and question answering challenge. ECIR 2026.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BioASQ. Large-scale biomedical semantic indexing and question answering, https://www.bioasq.org/ (leaderboard accessed 2026-05-27); R. A. A. Jonker et al. BIT.UA at BioASQ 13b. CLEF 2025 Working Notes.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G. V. Cormack, C. L. A. Clarke, S. Buettcher. Reciprocal rank fusion outperforms Condorcet and individual rank learning methods. SIGIR 2009.</a:t>
            </a:r>
            <a:endParaRPr lang="en-US" sz="1300" dirty="0"/>
          </a:p>
        </p:txBody>
      </p:sp>
      <p:sp>
        <p:nvSpPr>
          <p:cNvPr id="99" name="Text 91"/>
          <p:cNvSpPr txBox="1"/>
          <p:nvPr/>
        </p:nvSpPr>
        <p:spPr>
          <a:xfrm>
            <a:off x="27523440" y="22585680"/>
            <a:ext cx="1591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S. Yao et al. ReAct: synergizing reasoning and acting in language models. ICLR 2023.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M. Sharma, M. Tong, T. Korbak et al. Towards understanding sycophancy in language models. ICLR 2024.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Gemma Team. Gemma 3 technical report. arXiv:2503.19786 (2025); D. Chou, C. Chang. Gemma 4: byte for byte, the most capable open models. Google, 2026.</a:t>
            </a:r>
            <a:endParaRPr lang="en-US" sz="1300" dirty="0"/>
          </a:p>
        </p:txBody>
      </p:sp>
      <p:sp>
        <p:nvSpPr>
          <p:cNvPr id="100" name="Text 92"/>
          <p:cNvSpPr txBox="1"/>
          <p:nvPr/>
        </p:nvSpPr>
        <p:spPr>
          <a:xfrm>
            <a:off x="11521440" y="24871680"/>
            <a:ext cx="2240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STATEMENT A. Approved for public release. Distribution is unlimited. This material is based upon work supported by the Department of the Air Force under Air Force Contract No. FA8702-15-D-0001 or FA8702-25-D-B002. Any opinions, findings, conclusions or recommendations expressed in this material are those of the author(s) and do not necessarily reflect the views of the Department of the Air Force. © 2026 Massachusetts Institute of Technology. Delivered to the U.S. Government with Unlimited Rights, as defined in DFARS Part 252.227-7013 or 7014 (Feb 2014). Notwithstanding any copyright notice, U.S. Government rights in this work are defined by DFARS 252.227-7013 or DFARS 252.227-7014 as detailed above. Use of this work other than as specifically authorized by the U.S. Government may violate any copyrights that exist in this work.</a:t>
            </a:r>
            <a:endParaRPr lang="en-US" sz="1050" dirty="0"/>
          </a:p>
        </p:txBody>
      </p:sp>
      <p:sp>
        <p:nvSpPr>
          <p:cNvPr id="101" name="Text 93"/>
          <p:cNvSpPr txBox="1"/>
          <p:nvPr/>
        </p:nvSpPr>
        <p:spPr>
          <a:xfrm>
            <a:off x="35204400" y="24871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LINCOLN LABORATORY</a:t>
            </a:r>
            <a:endParaRPr lang="en-US" sz="28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MASSACHUSETTS INSTITUTE OF TECHNOLOGY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RAG with Open-Weight LLMs for Biomedical QA (BioASQ Task 14b) - CLEF 2026 poster</dc:title>
  <dc:subject>PptxGenJS Presentation</dc:subject>
  <dc:creator>MIT Lincoln Laboratory</dc:creator>
  <cp:lastModifiedBy>MIT Lincoln Laboratory</cp:lastModifiedBy>
  <cp:revision>1</cp:revision>
  <dcterms:created xsi:type="dcterms:W3CDTF">2026-09-08T17:10:18Z</dcterms:created>
  <dcterms:modified xsi:type="dcterms:W3CDTF">2026-09-08T17:10:18Z</dcterms:modified>
</cp:coreProperties>
</file>